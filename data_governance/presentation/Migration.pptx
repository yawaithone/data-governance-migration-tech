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8" r:id="rId2"/>
    <p:sldId id="281" r:id="rId3"/>
    <p:sldId id="286" r:id="rId4"/>
    <p:sldId id="287" r:id="rId5"/>
    <p:sldId id="284" r:id="rId6"/>
    <p:sldId id="298" r:id="rId7"/>
    <p:sldId id="307" r:id="rId8"/>
    <p:sldId id="306" r:id="rId9"/>
    <p:sldId id="257" r:id="rId10"/>
    <p:sldId id="269" r:id="rId11"/>
    <p:sldId id="272" r:id="rId12"/>
    <p:sldId id="271" r:id="rId13"/>
    <p:sldId id="270" r:id="rId14"/>
    <p:sldId id="259" r:id="rId15"/>
    <p:sldId id="302" r:id="rId16"/>
    <p:sldId id="305" r:id="rId17"/>
    <p:sldId id="304" r:id="rId18"/>
    <p:sldId id="2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D1D1D1"/>
    <a:srgbClr val="EA9696"/>
    <a:srgbClr val="84E2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DD7D92-5162-8E06-267A-A21CC871DB48}" v="95" dt="2025-11-07T00:09:29.282"/>
    <p1510:client id="{0BA26290-C342-16A9-C77D-129D24EEE437}" v="420" dt="2025-11-06T23:57:39.428"/>
    <p1510:client id="{352FD5E2-4E45-A2B5-63E8-5526CAFC37F7}" v="2" dt="2025-11-06T11:37:19.961"/>
    <p1510:client id="{37939860-A18F-A21E-232E-D9957172CD4F}" v="149" dt="2025-11-07T01:09:35.300"/>
    <p1510:client id="{394567E8-705C-B568-F367-7F76A57261F8}" v="30" dt="2025-11-06T11:50:30.262"/>
    <p1510:client id="{3F916C54-D4F4-DBE3-FAAD-F1DACA5401EA}" v="628" dt="2025-11-05T23:46:29.285"/>
    <p1510:client id="{43C8D5C6-F870-D146-F1CD-49DB78D0F8D7}" v="114" dt="2025-11-05T13:49:41.858"/>
    <p1510:client id="{5749563B-91D6-3274-7A06-46777D6B55ED}" v="2" dt="2025-11-06T10:43:55.076"/>
    <p1510:client id="{842F4BBD-5B20-7B6A-8579-27C5EB9C99CF}" v="224" dt="2025-11-05T17:20:03.288"/>
    <p1510:client id="{8DBAC06B-D693-C79D-082C-404A5944453C}" v="540" dt="2025-11-06T15:48:04.480"/>
    <p1510:client id="{9056A8BB-E349-7450-3433-D30944F6DAE5}" v="2" dt="2025-11-07T00:01:55.465"/>
    <p1510:client id="{908F85AA-2712-AA31-F4AF-8BE46229D376}" v="17" dt="2025-11-05T14:07:51.765"/>
    <p1510:client id="{C9E8F8C7-A84A-FAA0-02DC-C5AB45B8FCFD}" v="4" dt="2025-11-05T23:20:46.381"/>
    <p1510:client id="{D0BFE01A-9A92-2D81-0B7E-861A2F520676}" v="47" dt="2025-11-06T12:01:01.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188095-6D15-4640-956E-7D25C761D5A2}" type="doc">
      <dgm:prSet loTypeId="urn:microsoft.com/office/officeart/2005/8/layout/cycle4" loCatId="cycle" qsTypeId="urn:microsoft.com/office/officeart/2005/8/quickstyle/simple3" qsCatId="simple" csTypeId="urn:microsoft.com/office/officeart/2005/8/colors/accent1_2" csCatId="accent1" phldr="1"/>
      <dgm:spPr/>
      <dgm:t>
        <a:bodyPr/>
        <a:lstStyle/>
        <a:p>
          <a:endParaRPr lang="en-US"/>
        </a:p>
      </dgm:t>
    </dgm:pt>
    <dgm:pt modelId="{43740591-FF5A-4103-AECF-EDDBE99B036F}">
      <dgm:prSet phldrT="[Text]"/>
      <dgm:spPr>
        <a:solidFill>
          <a:srgbClr val="0070C0"/>
        </a:solidFill>
      </dgm:spPr>
      <dgm:t>
        <a:bodyPr/>
        <a:lstStyle/>
        <a:p>
          <a:r>
            <a:rPr lang="en-US" b="0">
              <a:solidFill>
                <a:schemeClr val="bg1"/>
              </a:solidFill>
              <a:latin typeface="Aptos"/>
            </a:rPr>
            <a:t>Governance of Biometrics</a:t>
          </a:r>
        </a:p>
      </dgm:t>
    </dgm:pt>
    <dgm:pt modelId="{247070D5-2B43-43ED-9983-8BD8BC5C120E}" type="parTrans" cxnId="{E2B3CBA7-96C7-4CB2-B204-5026B115CBC7}">
      <dgm:prSet/>
      <dgm:spPr/>
      <dgm:t>
        <a:bodyPr/>
        <a:lstStyle/>
        <a:p>
          <a:endParaRPr lang="en-US"/>
        </a:p>
      </dgm:t>
    </dgm:pt>
    <dgm:pt modelId="{EB88F03F-E1D2-4063-96B9-E92106AC7BB4}" type="sibTrans" cxnId="{E2B3CBA7-96C7-4CB2-B204-5026B115CBC7}">
      <dgm:prSet/>
      <dgm:spPr/>
      <dgm:t>
        <a:bodyPr/>
        <a:lstStyle/>
        <a:p>
          <a:endParaRPr lang="en-US"/>
        </a:p>
      </dgm:t>
    </dgm:pt>
    <dgm:pt modelId="{C4E63EC7-0627-41CC-85B9-0F94FA797C22}">
      <dgm:prSet phldrT="[Text]" custT="1"/>
      <dgm:spPr>
        <a:solidFill>
          <a:schemeClr val="tx2">
            <a:lumMod val="10000"/>
            <a:lumOff val="90000"/>
            <a:alpha val="90000"/>
          </a:schemeClr>
        </a:solidFill>
      </dgm:spPr>
      <dgm:t>
        <a:bodyPr/>
        <a:lstStyle/>
        <a:p>
          <a:endParaRPr lang="en-US" sz="1600" b="0">
            <a:solidFill>
              <a:schemeClr val="bg1"/>
            </a:solidFill>
            <a:latin typeface="Aptos"/>
          </a:endParaRPr>
        </a:p>
      </dgm:t>
    </dgm:pt>
    <dgm:pt modelId="{4D1AFEDB-49E0-4924-AE95-363B7D4CA7C8}" type="parTrans" cxnId="{A06DC03A-A36B-4573-80E9-8266C681DDC3}">
      <dgm:prSet/>
      <dgm:spPr/>
      <dgm:t>
        <a:bodyPr/>
        <a:lstStyle/>
        <a:p>
          <a:endParaRPr lang="en-US"/>
        </a:p>
      </dgm:t>
    </dgm:pt>
    <dgm:pt modelId="{6D5718DE-9820-48BE-B659-6CFAF109A8F0}" type="sibTrans" cxnId="{A06DC03A-A36B-4573-80E9-8266C681DDC3}">
      <dgm:prSet/>
      <dgm:spPr/>
      <dgm:t>
        <a:bodyPr/>
        <a:lstStyle/>
        <a:p>
          <a:endParaRPr lang="en-US"/>
        </a:p>
      </dgm:t>
    </dgm:pt>
    <dgm:pt modelId="{86A0F946-E681-4813-9FCC-379C2D610879}">
      <dgm:prSet phldrT="[Text]"/>
      <dgm:spPr>
        <a:solidFill>
          <a:srgbClr val="0070C0"/>
        </a:solidFill>
      </dgm:spPr>
      <dgm:t>
        <a:bodyPr/>
        <a:lstStyle/>
        <a:p>
          <a:r>
            <a:rPr lang="en-US" b="0">
              <a:solidFill>
                <a:schemeClr val="bg1"/>
              </a:solidFill>
              <a:latin typeface="Aptos"/>
            </a:rPr>
            <a:t>Stakeholder Involvement</a:t>
          </a:r>
        </a:p>
      </dgm:t>
    </dgm:pt>
    <dgm:pt modelId="{C5CAA12B-E143-4CC0-94EC-194461740773}" type="parTrans" cxnId="{27234ECF-A572-43A3-9199-5EFC100E1197}">
      <dgm:prSet/>
      <dgm:spPr/>
      <dgm:t>
        <a:bodyPr/>
        <a:lstStyle/>
        <a:p>
          <a:endParaRPr lang="en-US"/>
        </a:p>
      </dgm:t>
    </dgm:pt>
    <dgm:pt modelId="{90BD9A01-BD02-4299-A848-E45787B71B16}" type="sibTrans" cxnId="{27234ECF-A572-43A3-9199-5EFC100E1197}">
      <dgm:prSet/>
      <dgm:spPr/>
      <dgm:t>
        <a:bodyPr/>
        <a:lstStyle/>
        <a:p>
          <a:endParaRPr lang="en-US"/>
        </a:p>
      </dgm:t>
    </dgm:pt>
    <dgm:pt modelId="{FDCD1E13-BEE6-459B-9934-DE60EA7A73D5}">
      <dgm:prSet phldrT="[Text]" custT="1"/>
      <dgm:spPr>
        <a:solidFill>
          <a:schemeClr val="tx2">
            <a:lumMod val="10000"/>
            <a:lumOff val="90000"/>
            <a:alpha val="90000"/>
          </a:schemeClr>
        </a:solidFill>
      </dgm:spPr>
      <dgm:t>
        <a:bodyPr/>
        <a:lstStyle/>
        <a:p>
          <a:endParaRPr lang="en-US" sz="1400" b="0">
            <a:solidFill>
              <a:schemeClr val="bg1"/>
            </a:solidFill>
            <a:latin typeface="Aptos"/>
          </a:endParaRPr>
        </a:p>
      </dgm:t>
    </dgm:pt>
    <dgm:pt modelId="{235BBC1A-AACE-4047-9AD5-6DC95870A217}" type="parTrans" cxnId="{58F2F41A-B0C5-4FEF-81DE-C7226ECF4A73}">
      <dgm:prSet/>
      <dgm:spPr/>
      <dgm:t>
        <a:bodyPr/>
        <a:lstStyle/>
        <a:p>
          <a:endParaRPr lang="en-US"/>
        </a:p>
      </dgm:t>
    </dgm:pt>
    <dgm:pt modelId="{BC87E5F4-DF3B-45B4-8E4E-98AB62F26D64}" type="sibTrans" cxnId="{58F2F41A-B0C5-4FEF-81DE-C7226ECF4A73}">
      <dgm:prSet/>
      <dgm:spPr/>
      <dgm:t>
        <a:bodyPr/>
        <a:lstStyle/>
        <a:p>
          <a:endParaRPr lang="en-US"/>
        </a:p>
      </dgm:t>
    </dgm:pt>
    <dgm:pt modelId="{6ED4A699-ECF2-4DF3-A86C-4D0862381C12}">
      <dgm:prSet phldrT="[Text]"/>
      <dgm:spPr>
        <a:solidFill>
          <a:srgbClr val="0070C0"/>
        </a:solidFill>
      </dgm:spPr>
      <dgm:t>
        <a:bodyPr/>
        <a:lstStyle/>
        <a:p>
          <a:r>
            <a:rPr lang="en-US" b="0">
              <a:solidFill>
                <a:schemeClr val="bg1"/>
              </a:solidFill>
              <a:latin typeface="Aptos"/>
            </a:rPr>
            <a:t>Ethics at each step</a:t>
          </a:r>
        </a:p>
      </dgm:t>
    </dgm:pt>
    <dgm:pt modelId="{2031D0B2-7816-4116-9F84-4322EF11BDEE}" type="parTrans" cxnId="{29F1428A-8A7E-482F-83E4-F91159B37575}">
      <dgm:prSet/>
      <dgm:spPr/>
      <dgm:t>
        <a:bodyPr/>
        <a:lstStyle/>
        <a:p>
          <a:endParaRPr lang="en-US"/>
        </a:p>
      </dgm:t>
    </dgm:pt>
    <dgm:pt modelId="{022EACE4-F009-4EE9-A132-FD99DB75A07C}" type="sibTrans" cxnId="{29F1428A-8A7E-482F-83E4-F91159B37575}">
      <dgm:prSet/>
      <dgm:spPr/>
      <dgm:t>
        <a:bodyPr/>
        <a:lstStyle/>
        <a:p>
          <a:endParaRPr lang="en-US"/>
        </a:p>
      </dgm:t>
    </dgm:pt>
    <dgm:pt modelId="{4EB10DD7-E0A9-4F0E-BA42-3F3407709CF0}">
      <dgm:prSet phldrT="[Text]" custT="1"/>
      <dgm:spPr>
        <a:solidFill>
          <a:schemeClr val="tx2">
            <a:lumMod val="10000"/>
            <a:lumOff val="90000"/>
            <a:alpha val="90000"/>
          </a:schemeClr>
        </a:solidFill>
      </dgm:spPr>
      <dgm:t>
        <a:bodyPr/>
        <a:lstStyle/>
        <a:p>
          <a:endParaRPr lang="en-US" sz="1100" b="0">
            <a:solidFill>
              <a:schemeClr val="bg1"/>
            </a:solidFill>
            <a:latin typeface="Aptos"/>
          </a:endParaRPr>
        </a:p>
      </dgm:t>
    </dgm:pt>
    <dgm:pt modelId="{2C4DF610-9624-42E4-A4F4-3DC33AE1FDFE}" type="parTrans" cxnId="{1C12F8CA-AB34-428B-AE8F-D96ECE3110A7}">
      <dgm:prSet/>
      <dgm:spPr/>
      <dgm:t>
        <a:bodyPr/>
        <a:lstStyle/>
        <a:p>
          <a:endParaRPr lang="en-US"/>
        </a:p>
      </dgm:t>
    </dgm:pt>
    <dgm:pt modelId="{6C441AF6-315C-43A8-8F7F-943FD548A9B3}" type="sibTrans" cxnId="{1C12F8CA-AB34-428B-AE8F-D96ECE3110A7}">
      <dgm:prSet/>
      <dgm:spPr/>
      <dgm:t>
        <a:bodyPr/>
        <a:lstStyle/>
        <a:p>
          <a:endParaRPr lang="en-US"/>
        </a:p>
      </dgm:t>
    </dgm:pt>
    <dgm:pt modelId="{60BB9420-8016-48EF-9D09-AB75960FD4DA}">
      <dgm:prSet phldrT="[Text]"/>
      <dgm:spPr>
        <a:solidFill>
          <a:srgbClr val="0070C0"/>
        </a:solidFill>
      </dgm:spPr>
      <dgm:t>
        <a:bodyPr/>
        <a:lstStyle/>
        <a:p>
          <a:r>
            <a:rPr lang="en-US" b="0">
              <a:solidFill>
                <a:schemeClr val="bg1"/>
              </a:solidFill>
              <a:latin typeface="Aptos"/>
            </a:rPr>
            <a:t>Structured Stewardship</a:t>
          </a:r>
        </a:p>
      </dgm:t>
    </dgm:pt>
    <dgm:pt modelId="{3BD744AA-8967-43EE-BD8F-EA99F9E1AE39}" type="parTrans" cxnId="{89A574BA-C603-4AF2-9EC2-562E472FB4B5}">
      <dgm:prSet/>
      <dgm:spPr/>
      <dgm:t>
        <a:bodyPr/>
        <a:lstStyle/>
        <a:p>
          <a:endParaRPr lang="en-US"/>
        </a:p>
      </dgm:t>
    </dgm:pt>
    <dgm:pt modelId="{39502D19-6251-41C0-928D-EF67187704CA}" type="sibTrans" cxnId="{89A574BA-C603-4AF2-9EC2-562E472FB4B5}">
      <dgm:prSet/>
      <dgm:spPr/>
      <dgm:t>
        <a:bodyPr/>
        <a:lstStyle/>
        <a:p>
          <a:endParaRPr lang="en-US"/>
        </a:p>
      </dgm:t>
    </dgm:pt>
    <dgm:pt modelId="{3DCC1430-3B03-43B0-A20D-7F3ED1D2BE0B}">
      <dgm:prSet phldrT="[Text]" custT="1"/>
      <dgm:spPr>
        <a:solidFill>
          <a:schemeClr val="tx2">
            <a:lumMod val="10000"/>
            <a:lumOff val="90000"/>
            <a:alpha val="90000"/>
          </a:schemeClr>
        </a:solidFill>
      </dgm:spPr>
      <dgm:t>
        <a:bodyPr/>
        <a:lstStyle/>
        <a:p>
          <a:endParaRPr lang="en-US" sz="1000" b="0">
            <a:solidFill>
              <a:schemeClr val="bg1"/>
            </a:solidFill>
            <a:latin typeface="Aptos"/>
          </a:endParaRPr>
        </a:p>
      </dgm:t>
    </dgm:pt>
    <dgm:pt modelId="{C9FA93E6-DD6A-4EF0-B355-3824773CA42D}" type="parTrans" cxnId="{1901276D-DBDC-4B8E-A2CA-E3E9669B8B35}">
      <dgm:prSet/>
      <dgm:spPr/>
      <dgm:t>
        <a:bodyPr/>
        <a:lstStyle/>
        <a:p>
          <a:endParaRPr lang="en-US"/>
        </a:p>
      </dgm:t>
    </dgm:pt>
    <dgm:pt modelId="{C43ACCB9-9E3B-43CA-8355-3042955C77A6}" type="sibTrans" cxnId="{1901276D-DBDC-4B8E-A2CA-E3E9669B8B35}">
      <dgm:prSet/>
      <dgm:spPr/>
      <dgm:t>
        <a:bodyPr/>
        <a:lstStyle/>
        <a:p>
          <a:endParaRPr lang="en-US"/>
        </a:p>
      </dgm:t>
    </dgm:pt>
    <dgm:pt modelId="{F805E1BF-CDE0-4FDF-A6B3-6FB45C153BBE}" type="pres">
      <dgm:prSet presAssocID="{68188095-6D15-4640-956E-7D25C761D5A2}" presName="cycleMatrixDiagram" presStyleCnt="0">
        <dgm:presLayoutVars>
          <dgm:chMax val="1"/>
          <dgm:dir/>
          <dgm:animLvl val="lvl"/>
          <dgm:resizeHandles val="exact"/>
        </dgm:presLayoutVars>
      </dgm:prSet>
      <dgm:spPr/>
    </dgm:pt>
    <dgm:pt modelId="{8E207202-9469-4668-8C78-EDFC005F1414}" type="pres">
      <dgm:prSet presAssocID="{68188095-6D15-4640-956E-7D25C761D5A2}" presName="children" presStyleCnt="0"/>
      <dgm:spPr/>
    </dgm:pt>
    <dgm:pt modelId="{7E1018EA-828D-4EA6-8BE6-C6D505936210}" type="pres">
      <dgm:prSet presAssocID="{68188095-6D15-4640-956E-7D25C761D5A2}" presName="child1group" presStyleCnt="0"/>
      <dgm:spPr/>
    </dgm:pt>
    <dgm:pt modelId="{922A03CF-F608-4CDF-8F14-1FD9C57FD19E}" type="pres">
      <dgm:prSet presAssocID="{68188095-6D15-4640-956E-7D25C761D5A2}" presName="child1" presStyleLbl="bgAcc1" presStyleIdx="0" presStyleCnt="4" custScaleX="144743" custScaleY="128434" custLinFactNeighborX="-83561" custLinFactNeighborY="32886"/>
      <dgm:spPr/>
    </dgm:pt>
    <dgm:pt modelId="{AC0124C3-A4FA-4900-AD53-F19D3A2C41D9}" type="pres">
      <dgm:prSet presAssocID="{68188095-6D15-4640-956E-7D25C761D5A2}" presName="child1Text" presStyleLbl="bgAcc1" presStyleIdx="0" presStyleCnt="4">
        <dgm:presLayoutVars>
          <dgm:bulletEnabled val="1"/>
        </dgm:presLayoutVars>
      </dgm:prSet>
      <dgm:spPr/>
    </dgm:pt>
    <dgm:pt modelId="{F8DFD143-1869-435C-9BD9-54D9C387A718}" type="pres">
      <dgm:prSet presAssocID="{68188095-6D15-4640-956E-7D25C761D5A2}" presName="child2group" presStyleCnt="0"/>
      <dgm:spPr/>
    </dgm:pt>
    <dgm:pt modelId="{CAE243EF-68D4-4494-AC33-8676CD52A7CA}" type="pres">
      <dgm:prSet presAssocID="{68188095-6D15-4640-956E-7D25C761D5A2}" presName="child2" presStyleLbl="bgAcc1" presStyleIdx="1" presStyleCnt="4" custScaleX="158218" custScaleY="158906" custLinFactX="2009" custLinFactNeighborX="100000" custLinFactNeighborY="42009"/>
      <dgm:spPr/>
    </dgm:pt>
    <dgm:pt modelId="{A76A6E6A-5987-4FF1-8F4A-D5E176307F7E}" type="pres">
      <dgm:prSet presAssocID="{68188095-6D15-4640-956E-7D25C761D5A2}" presName="child2Text" presStyleLbl="bgAcc1" presStyleIdx="1" presStyleCnt="4">
        <dgm:presLayoutVars>
          <dgm:bulletEnabled val="1"/>
        </dgm:presLayoutVars>
      </dgm:prSet>
      <dgm:spPr/>
    </dgm:pt>
    <dgm:pt modelId="{C9453352-5B4B-4639-A141-5B8CCC953DA0}" type="pres">
      <dgm:prSet presAssocID="{68188095-6D15-4640-956E-7D25C761D5A2}" presName="child3group" presStyleCnt="0"/>
      <dgm:spPr/>
    </dgm:pt>
    <dgm:pt modelId="{8A09C920-E56D-4B9C-B8BC-4D36F2A9A633}" type="pres">
      <dgm:prSet presAssocID="{68188095-6D15-4640-956E-7D25C761D5A2}" presName="child3" presStyleLbl="bgAcc1" presStyleIdx="2" presStyleCnt="4" custScaleX="160501" custScaleY="158025" custLinFactNeighborX="95074" custLinFactNeighborY="1605"/>
      <dgm:spPr/>
    </dgm:pt>
    <dgm:pt modelId="{FC8F6C02-D784-4E58-A68F-C67CC89EBEC7}" type="pres">
      <dgm:prSet presAssocID="{68188095-6D15-4640-956E-7D25C761D5A2}" presName="child3Text" presStyleLbl="bgAcc1" presStyleIdx="2" presStyleCnt="4">
        <dgm:presLayoutVars>
          <dgm:bulletEnabled val="1"/>
        </dgm:presLayoutVars>
      </dgm:prSet>
      <dgm:spPr/>
    </dgm:pt>
    <dgm:pt modelId="{A18A7377-6477-44DD-BFF4-BF33403D2B41}" type="pres">
      <dgm:prSet presAssocID="{68188095-6D15-4640-956E-7D25C761D5A2}" presName="child4group" presStyleCnt="0"/>
      <dgm:spPr/>
    </dgm:pt>
    <dgm:pt modelId="{DE69FC97-BB0C-49DB-8170-ECEA1BF418E9}" type="pres">
      <dgm:prSet presAssocID="{68188095-6D15-4640-956E-7D25C761D5A2}" presName="child4" presStyleLbl="bgAcc1" presStyleIdx="3" presStyleCnt="4" custScaleX="145127" custScaleY="175505" custLinFactNeighborX="-82706" custLinFactNeighborY="21742"/>
      <dgm:spPr/>
    </dgm:pt>
    <dgm:pt modelId="{9B05D31E-3415-4E23-AEBB-5B0BAA9ECED4}" type="pres">
      <dgm:prSet presAssocID="{68188095-6D15-4640-956E-7D25C761D5A2}" presName="child4Text" presStyleLbl="bgAcc1" presStyleIdx="3" presStyleCnt="4">
        <dgm:presLayoutVars>
          <dgm:bulletEnabled val="1"/>
        </dgm:presLayoutVars>
      </dgm:prSet>
      <dgm:spPr/>
    </dgm:pt>
    <dgm:pt modelId="{D4FF8E33-EAAF-4A5C-9E11-F915FECD022D}" type="pres">
      <dgm:prSet presAssocID="{68188095-6D15-4640-956E-7D25C761D5A2}" presName="childPlaceholder" presStyleCnt="0"/>
      <dgm:spPr/>
    </dgm:pt>
    <dgm:pt modelId="{F3CEC035-9277-4C9E-9687-DD57D08AF22A}" type="pres">
      <dgm:prSet presAssocID="{68188095-6D15-4640-956E-7D25C761D5A2}" presName="circle" presStyleCnt="0"/>
      <dgm:spPr/>
    </dgm:pt>
    <dgm:pt modelId="{DACF8A05-C82A-4E0A-84F4-4D83A6454631}" type="pres">
      <dgm:prSet presAssocID="{68188095-6D15-4640-956E-7D25C761D5A2}" presName="quadrant1" presStyleLbl="node1" presStyleIdx="0" presStyleCnt="4">
        <dgm:presLayoutVars>
          <dgm:chMax val="1"/>
          <dgm:bulletEnabled val="1"/>
        </dgm:presLayoutVars>
      </dgm:prSet>
      <dgm:spPr/>
    </dgm:pt>
    <dgm:pt modelId="{6E4388D3-4C67-4EC8-B430-1FD7054C6BED}" type="pres">
      <dgm:prSet presAssocID="{68188095-6D15-4640-956E-7D25C761D5A2}" presName="quadrant2" presStyleLbl="node1" presStyleIdx="1" presStyleCnt="4">
        <dgm:presLayoutVars>
          <dgm:chMax val="1"/>
          <dgm:bulletEnabled val="1"/>
        </dgm:presLayoutVars>
      </dgm:prSet>
      <dgm:spPr/>
    </dgm:pt>
    <dgm:pt modelId="{34DE15AD-332E-450C-8F76-9FCD5EBE21CD}" type="pres">
      <dgm:prSet presAssocID="{68188095-6D15-4640-956E-7D25C761D5A2}" presName="quadrant3" presStyleLbl="node1" presStyleIdx="2" presStyleCnt="4">
        <dgm:presLayoutVars>
          <dgm:chMax val="1"/>
          <dgm:bulletEnabled val="1"/>
        </dgm:presLayoutVars>
      </dgm:prSet>
      <dgm:spPr/>
    </dgm:pt>
    <dgm:pt modelId="{BFE0EC86-C09F-47F5-A519-B645283727CF}" type="pres">
      <dgm:prSet presAssocID="{68188095-6D15-4640-956E-7D25C761D5A2}" presName="quadrant4" presStyleLbl="node1" presStyleIdx="3" presStyleCnt="4">
        <dgm:presLayoutVars>
          <dgm:chMax val="1"/>
          <dgm:bulletEnabled val="1"/>
        </dgm:presLayoutVars>
      </dgm:prSet>
      <dgm:spPr/>
    </dgm:pt>
    <dgm:pt modelId="{18ADDE34-A3B3-4CE6-B4E9-8AF59BB25A3C}" type="pres">
      <dgm:prSet presAssocID="{68188095-6D15-4640-956E-7D25C761D5A2}" presName="quadrantPlaceholder" presStyleCnt="0"/>
      <dgm:spPr/>
    </dgm:pt>
    <dgm:pt modelId="{C040540B-B5D2-418C-A8B9-167A1B68BE0B}" type="pres">
      <dgm:prSet presAssocID="{68188095-6D15-4640-956E-7D25C761D5A2}" presName="center1" presStyleLbl="fgShp" presStyleIdx="0" presStyleCnt="2"/>
      <dgm:spPr/>
    </dgm:pt>
    <dgm:pt modelId="{C9401591-A47C-473B-9901-AB4CCDB866F5}" type="pres">
      <dgm:prSet presAssocID="{68188095-6D15-4640-956E-7D25C761D5A2}" presName="center2" presStyleLbl="fgShp" presStyleIdx="1" presStyleCnt="2"/>
      <dgm:spPr/>
    </dgm:pt>
  </dgm:ptLst>
  <dgm:cxnLst>
    <dgm:cxn modelId="{30E85C01-189C-49CB-A4D0-3EB7E74868BA}" type="presOf" srcId="{4EB10DD7-E0A9-4F0E-BA42-3F3407709CF0}" destId="{FC8F6C02-D784-4E58-A68F-C67CC89EBEC7}" srcOrd="1" destOrd="0" presId="urn:microsoft.com/office/officeart/2005/8/layout/cycle4"/>
    <dgm:cxn modelId="{47EB780B-1290-4A4C-8C0E-2C769340DF6C}" type="presOf" srcId="{FDCD1E13-BEE6-459B-9934-DE60EA7A73D5}" destId="{CAE243EF-68D4-4494-AC33-8676CD52A7CA}" srcOrd="0" destOrd="0" presId="urn:microsoft.com/office/officeart/2005/8/layout/cycle4"/>
    <dgm:cxn modelId="{58F2F41A-B0C5-4FEF-81DE-C7226ECF4A73}" srcId="{86A0F946-E681-4813-9FCC-379C2D610879}" destId="{FDCD1E13-BEE6-459B-9934-DE60EA7A73D5}" srcOrd="0" destOrd="0" parTransId="{235BBC1A-AACE-4047-9AD5-6DC95870A217}" sibTransId="{BC87E5F4-DF3B-45B4-8E4E-98AB62F26D64}"/>
    <dgm:cxn modelId="{CFBE8027-6FC9-4171-8ED9-3C557FFBDD61}" type="presOf" srcId="{C4E63EC7-0627-41CC-85B9-0F94FA797C22}" destId="{AC0124C3-A4FA-4900-AD53-F19D3A2C41D9}" srcOrd="1" destOrd="0" presId="urn:microsoft.com/office/officeart/2005/8/layout/cycle4"/>
    <dgm:cxn modelId="{39AE6F2B-C10E-4772-9943-D4C54D4DB756}" type="presOf" srcId="{FDCD1E13-BEE6-459B-9934-DE60EA7A73D5}" destId="{A76A6E6A-5987-4FF1-8F4A-D5E176307F7E}" srcOrd="1" destOrd="0" presId="urn:microsoft.com/office/officeart/2005/8/layout/cycle4"/>
    <dgm:cxn modelId="{452C1937-9587-401E-8C32-AFF76AD72131}" type="presOf" srcId="{C4E63EC7-0627-41CC-85B9-0F94FA797C22}" destId="{922A03CF-F608-4CDF-8F14-1FD9C57FD19E}" srcOrd="0" destOrd="0" presId="urn:microsoft.com/office/officeart/2005/8/layout/cycle4"/>
    <dgm:cxn modelId="{A06DC03A-A36B-4573-80E9-8266C681DDC3}" srcId="{43740591-FF5A-4103-AECF-EDDBE99B036F}" destId="{C4E63EC7-0627-41CC-85B9-0F94FA797C22}" srcOrd="0" destOrd="0" parTransId="{4D1AFEDB-49E0-4924-AE95-363B7D4CA7C8}" sibTransId="{6D5718DE-9820-48BE-B659-6CFAF109A8F0}"/>
    <dgm:cxn modelId="{F005803C-CC90-49E9-9015-9434FF0C6B8E}" type="presOf" srcId="{3DCC1430-3B03-43B0-A20D-7F3ED1D2BE0B}" destId="{9B05D31E-3415-4E23-AEBB-5B0BAA9ECED4}" srcOrd="1" destOrd="0" presId="urn:microsoft.com/office/officeart/2005/8/layout/cycle4"/>
    <dgm:cxn modelId="{7B478947-04C9-49E4-9569-F261B8D1DDD3}" type="presOf" srcId="{86A0F946-E681-4813-9FCC-379C2D610879}" destId="{6E4388D3-4C67-4EC8-B430-1FD7054C6BED}" srcOrd="0" destOrd="0" presId="urn:microsoft.com/office/officeart/2005/8/layout/cycle4"/>
    <dgm:cxn modelId="{F7830268-8BBB-414C-9D89-04700D4130BB}" type="presOf" srcId="{6ED4A699-ECF2-4DF3-A86C-4D0862381C12}" destId="{34DE15AD-332E-450C-8F76-9FCD5EBE21CD}" srcOrd="0" destOrd="0" presId="urn:microsoft.com/office/officeart/2005/8/layout/cycle4"/>
    <dgm:cxn modelId="{4F6D044C-2D48-4587-8525-815CC703BBAF}" type="presOf" srcId="{68188095-6D15-4640-956E-7D25C761D5A2}" destId="{F805E1BF-CDE0-4FDF-A6B3-6FB45C153BBE}" srcOrd="0" destOrd="0" presId="urn:microsoft.com/office/officeart/2005/8/layout/cycle4"/>
    <dgm:cxn modelId="{1901276D-DBDC-4B8E-A2CA-E3E9669B8B35}" srcId="{60BB9420-8016-48EF-9D09-AB75960FD4DA}" destId="{3DCC1430-3B03-43B0-A20D-7F3ED1D2BE0B}" srcOrd="0" destOrd="0" parTransId="{C9FA93E6-DD6A-4EF0-B355-3824773CA42D}" sibTransId="{C43ACCB9-9E3B-43CA-8355-3042955C77A6}"/>
    <dgm:cxn modelId="{359C2482-F8D0-45D2-A24E-CC5A143FC825}" type="presOf" srcId="{4EB10DD7-E0A9-4F0E-BA42-3F3407709CF0}" destId="{8A09C920-E56D-4B9C-B8BC-4D36F2A9A633}" srcOrd="0" destOrd="0" presId="urn:microsoft.com/office/officeart/2005/8/layout/cycle4"/>
    <dgm:cxn modelId="{29F1428A-8A7E-482F-83E4-F91159B37575}" srcId="{68188095-6D15-4640-956E-7D25C761D5A2}" destId="{6ED4A699-ECF2-4DF3-A86C-4D0862381C12}" srcOrd="2" destOrd="0" parTransId="{2031D0B2-7816-4116-9F84-4322EF11BDEE}" sibTransId="{022EACE4-F009-4EE9-A132-FD99DB75A07C}"/>
    <dgm:cxn modelId="{D6794490-6DD5-44A6-8F49-DDFE82F38EE8}" type="presOf" srcId="{60BB9420-8016-48EF-9D09-AB75960FD4DA}" destId="{BFE0EC86-C09F-47F5-A519-B645283727CF}" srcOrd="0" destOrd="0" presId="urn:microsoft.com/office/officeart/2005/8/layout/cycle4"/>
    <dgm:cxn modelId="{C46AAD9F-FA6F-4A19-8C8B-B87A18BCC87C}" type="presOf" srcId="{43740591-FF5A-4103-AECF-EDDBE99B036F}" destId="{DACF8A05-C82A-4E0A-84F4-4D83A6454631}" srcOrd="0" destOrd="0" presId="urn:microsoft.com/office/officeart/2005/8/layout/cycle4"/>
    <dgm:cxn modelId="{E2B3CBA7-96C7-4CB2-B204-5026B115CBC7}" srcId="{68188095-6D15-4640-956E-7D25C761D5A2}" destId="{43740591-FF5A-4103-AECF-EDDBE99B036F}" srcOrd="0" destOrd="0" parTransId="{247070D5-2B43-43ED-9983-8BD8BC5C120E}" sibTransId="{EB88F03F-E1D2-4063-96B9-E92106AC7BB4}"/>
    <dgm:cxn modelId="{89A574BA-C603-4AF2-9EC2-562E472FB4B5}" srcId="{68188095-6D15-4640-956E-7D25C761D5A2}" destId="{60BB9420-8016-48EF-9D09-AB75960FD4DA}" srcOrd="3" destOrd="0" parTransId="{3BD744AA-8967-43EE-BD8F-EA99F9E1AE39}" sibTransId="{39502D19-6251-41C0-928D-EF67187704CA}"/>
    <dgm:cxn modelId="{4CA243BC-6109-4115-AC53-EA3FD222382A}" type="presOf" srcId="{3DCC1430-3B03-43B0-A20D-7F3ED1D2BE0B}" destId="{DE69FC97-BB0C-49DB-8170-ECEA1BF418E9}" srcOrd="0" destOrd="0" presId="urn:microsoft.com/office/officeart/2005/8/layout/cycle4"/>
    <dgm:cxn modelId="{1C12F8CA-AB34-428B-AE8F-D96ECE3110A7}" srcId="{6ED4A699-ECF2-4DF3-A86C-4D0862381C12}" destId="{4EB10DD7-E0A9-4F0E-BA42-3F3407709CF0}" srcOrd="0" destOrd="0" parTransId="{2C4DF610-9624-42E4-A4F4-3DC33AE1FDFE}" sibTransId="{6C441AF6-315C-43A8-8F7F-943FD548A9B3}"/>
    <dgm:cxn modelId="{27234ECF-A572-43A3-9199-5EFC100E1197}" srcId="{68188095-6D15-4640-956E-7D25C761D5A2}" destId="{86A0F946-E681-4813-9FCC-379C2D610879}" srcOrd="1" destOrd="0" parTransId="{C5CAA12B-E143-4CC0-94EC-194461740773}" sibTransId="{90BD9A01-BD02-4299-A848-E45787B71B16}"/>
    <dgm:cxn modelId="{B730DA0B-4417-4389-BCAE-AE9A9B4AD599}" type="presParOf" srcId="{F805E1BF-CDE0-4FDF-A6B3-6FB45C153BBE}" destId="{8E207202-9469-4668-8C78-EDFC005F1414}" srcOrd="0" destOrd="0" presId="urn:microsoft.com/office/officeart/2005/8/layout/cycle4"/>
    <dgm:cxn modelId="{02E440E4-431F-4C07-BEA9-BFF9F054DC49}" type="presParOf" srcId="{8E207202-9469-4668-8C78-EDFC005F1414}" destId="{7E1018EA-828D-4EA6-8BE6-C6D505936210}" srcOrd="0" destOrd="0" presId="urn:microsoft.com/office/officeart/2005/8/layout/cycle4"/>
    <dgm:cxn modelId="{36ADBD8F-383A-4E49-852C-2118BAAEA96B}" type="presParOf" srcId="{7E1018EA-828D-4EA6-8BE6-C6D505936210}" destId="{922A03CF-F608-4CDF-8F14-1FD9C57FD19E}" srcOrd="0" destOrd="0" presId="urn:microsoft.com/office/officeart/2005/8/layout/cycle4"/>
    <dgm:cxn modelId="{53B2386B-AA23-457B-B908-7E2F567BF5BC}" type="presParOf" srcId="{7E1018EA-828D-4EA6-8BE6-C6D505936210}" destId="{AC0124C3-A4FA-4900-AD53-F19D3A2C41D9}" srcOrd="1" destOrd="0" presId="urn:microsoft.com/office/officeart/2005/8/layout/cycle4"/>
    <dgm:cxn modelId="{0C824920-1496-408C-9E8F-268479275FC5}" type="presParOf" srcId="{8E207202-9469-4668-8C78-EDFC005F1414}" destId="{F8DFD143-1869-435C-9BD9-54D9C387A718}" srcOrd="1" destOrd="0" presId="urn:microsoft.com/office/officeart/2005/8/layout/cycle4"/>
    <dgm:cxn modelId="{2FCEC710-5A3A-4AF6-9179-DE8643FD1D2F}" type="presParOf" srcId="{F8DFD143-1869-435C-9BD9-54D9C387A718}" destId="{CAE243EF-68D4-4494-AC33-8676CD52A7CA}" srcOrd="0" destOrd="0" presId="urn:microsoft.com/office/officeart/2005/8/layout/cycle4"/>
    <dgm:cxn modelId="{83F33785-E5D2-4685-B28C-827D2B2DFC6E}" type="presParOf" srcId="{F8DFD143-1869-435C-9BD9-54D9C387A718}" destId="{A76A6E6A-5987-4FF1-8F4A-D5E176307F7E}" srcOrd="1" destOrd="0" presId="urn:microsoft.com/office/officeart/2005/8/layout/cycle4"/>
    <dgm:cxn modelId="{053F2E22-7D01-41EA-A5BC-DA826D6C9F8E}" type="presParOf" srcId="{8E207202-9469-4668-8C78-EDFC005F1414}" destId="{C9453352-5B4B-4639-A141-5B8CCC953DA0}" srcOrd="2" destOrd="0" presId="urn:microsoft.com/office/officeart/2005/8/layout/cycle4"/>
    <dgm:cxn modelId="{D04098C6-BA26-46A9-B62B-3E8B3BD5DBE8}" type="presParOf" srcId="{C9453352-5B4B-4639-A141-5B8CCC953DA0}" destId="{8A09C920-E56D-4B9C-B8BC-4D36F2A9A633}" srcOrd="0" destOrd="0" presId="urn:microsoft.com/office/officeart/2005/8/layout/cycle4"/>
    <dgm:cxn modelId="{E71A3912-DC99-462D-9AFB-995943DAC4C2}" type="presParOf" srcId="{C9453352-5B4B-4639-A141-5B8CCC953DA0}" destId="{FC8F6C02-D784-4E58-A68F-C67CC89EBEC7}" srcOrd="1" destOrd="0" presId="urn:microsoft.com/office/officeart/2005/8/layout/cycle4"/>
    <dgm:cxn modelId="{DAE1FC7D-1222-411F-B1F0-5BBCE92B919C}" type="presParOf" srcId="{8E207202-9469-4668-8C78-EDFC005F1414}" destId="{A18A7377-6477-44DD-BFF4-BF33403D2B41}" srcOrd="3" destOrd="0" presId="urn:microsoft.com/office/officeart/2005/8/layout/cycle4"/>
    <dgm:cxn modelId="{780FBFFC-CA52-4E09-8D52-721B28D629A0}" type="presParOf" srcId="{A18A7377-6477-44DD-BFF4-BF33403D2B41}" destId="{DE69FC97-BB0C-49DB-8170-ECEA1BF418E9}" srcOrd="0" destOrd="0" presId="urn:microsoft.com/office/officeart/2005/8/layout/cycle4"/>
    <dgm:cxn modelId="{F79BDF69-01D4-4AE1-A732-CFE596661254}" type="presParOf" srcId="{A18A7377-6477-44DD-BFF4-BF33403D2B41}" destId="{9B05D31E-3415-4E23-AEBB-5B0BAA9ECED4}" srcOrd="1" destOrd="0" presId="urn:microsoft.com/office/officeart/2005/8/layout/cycle4"/>
    <dgm:cxn modelId="{D9C2C990-A516-4DE6-9058-F0D575020B9A}" type="presParOf" srcId="{8E207202-9469-4668-8C78-EDFC005F1414}" destId="{D4FF8E33-EAAF-4A5C-9E11-F915FECD022D}" srcOrd="4" destOrd="0" presId="urn:microsoft.com/office/officeart/2005/8/layout/cycle4"/>
    <dgm:cxn modelId="{8970F9F9-090E-403C-98D4-72D91E10D3DC}" type="presParOf" srcId="{F805E1BF-CDE0-4FDF-A6B3-6FB45C153BBE}" destId="{F3CEC035-9277-4C9E-9687-DD57D08AF22A}" srcOrd="1" destOrd="0" presId="urn:microsoft.com/office/officeart/2005/8/layout/cycle4"/>
    <dgm:cxn modelId="{21A3854D-E7B8-45A7-8FC1-F4442A907820}" type="presParOf" srcId="{F3CEC035-9277-4C9E-9687-DD57D08AF22A}" destId="{DACF8A05-C82A-4E0A-84F4-4D83A6454631}" srcOrd="0" destOrd="0" presId="urn:microsoft.com/office/officeart/2005/8/layout/cycle4"/>
    <dgm:cxn modelId="{E8232712-65F4-4E7E-9778-0BCD31A5FDFE}" type="presParOf" srcId="{F3CEC035-9277-4C9E-9687-DD57D08AF22A}" destId="{6E4388D3-4C67-4EC8-B430-1FD7054C6BED}" srcOrd="1" destOrd="0" presId="urn:microsoft.com/office/officeart/2005/8/layout/cycle4"/>
    <dgm:cxn modelId="{97DBC01D-A8A0-4E3F-A15A-D218E3F3FE9D}" type="presParOf" srcId="{F3CEC035-9277-4C9E-9687-DD57D08AF22A}" destId="{34DE15AD-332E-450C-8F76-9FCD5EBE21CD}" srcOrd="2" destOrd="0" presId="urn:microsoft.com/office/officeart/2005/8/layout/cycle4"/>
    <dgm:cxn modelId="{E7F99D5D-5007-483C-9757-5313DE52CC5A}" type="presParOf" srcId="{F3CEC035-9277-4C9E-9687-DD57D08AF22A}" destId="{BFE0EC86-C09F-47F5-A519-B645283727CF}" srcOrd="3" destOrd="0" presId="urn:microsoft.com/office/officeart/2005/8/layout/cycle4"/>
    <dgm:cxn modelId="{5CA6B8E9-8574-4B06-B94B-FA9C2DC3ABC8}" type="presParOf" srcId="{F3CEC035-9277-4C9E-9687-DD57D08AF22A}" destId="{18ADDE34-A3B3-4CE6-B4E9-8AF59BB25A3C}" srcOrd="4" destOrd="0" presId="urn:microsoft.com/office/officeart/2005/8/layout/cycle4"/>
    <dgm:cxn modelId="{10C58FD2-2BCC-47A5-98F1-39239CA2A9DD}" type="presParOf" srcId="{F805E1BF-CDE0-4FDF-A6B3-6FB45C153BBE}" destId="{C040540B-B5D2-418C-A8B9-167A1B68BE0B}" srcOrd="2" destOrd="0" presId="urn:microsoft.com/office/officeart/2005/8/layout/cycle4"/>
    <dgm:cxn modelId="{F8B73679-37F1-4C52-933D-4ED3509B766C}" type="presParOf" srcId="{F805E1BF-CDE0-4FDF-A6B3-6FB45C153BBE}" destId="{C9401591-A47C-473B-9901-AB4CCDB866F5}"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09C920-E56D-4B9C-B8BC-4D36F2A9A633}">
      <dsp:nvSpPr>
        <dsp:cNvPr id="0" name=""/>
        <dsp:cNvSpPr/>
      </dsp:nvSpPr>
      <dsp:spPr>
        <a:xfrm>
          <a:off x="7389472" y="2527967"/>
          <a:ext cx="3452698" cy="2202062"/>
        </a:xfrm>
        <a:prstGeom prst="roundRect">
          <a:avLst>
            <a:gd name="adj" fmla="val 10000"/>
          </a:avLst>
        </a:prstGeom>
        <a:solidFill>
          <a:schemeClr val="tx2">
            <a:lumMod val="10000"/>
            <a:lumOff val="90000"/>
            <a:alpha val="9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endParaRPr lang="en-US" sz="1100" b="0" kern="1200">
            <a:solidFill>
              <a:schemeClr val="bg1"/>
            </a:solidFill>
            <a:latin typeface="Aptos"/>
          </a:endParaRPr>
        </a:p>
      </dsp:txBody>
      <dsp:txXfrm>
        <a:off x="8473654" y="3126854"/>
        <a:ext cx="2320144" cy="1554803"/>
      </dsp:txXfrm>
    </dsp:sp>
    <dsp:sp modelId="{DE69FC97-BB0C-49DB-8170-ECEA1BF418E9}">
      <dsp:nvSpPr>
        <dsp:cNvPr id="0" name=""/>
        <dsp:cNvSpPr/>
      </dsp:nvSpPr>
      <dsp:spPr>
        <a:xfrm>
          <a:off x="243319" y="2406175"/>
          <a:ext cx="3121972" cy="2445644"/>
        </a:xfrm>
        <a:prstGeom prst="roundRect">
          <a:avLst>
            <a:gd name="adj" fmla="val 10000"/>
          </a:avLst>
        </a:prstGeom>
        <a:solidFill>
          <a:schemeClr val="tx2">
            <a:lumMod val="10000"/>
            <a:lumOff val="90000"/>
            <a:alpha val="9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a:lnSpc>
              <a:spcPct val="90000"/>
            </a:lnSpc>
            <a:spcBef>
              <a:spcPct val="0"/>
            </a:spcBef>
            <a:spcAft>
              <a:spcPct val="15000"/>
            </a:spcAft>
            <a:buChar char="•"/>
          </a:pPr>
          <a:endParaRPr lang="en-US" sz="1000" b="0" kern="1200">
            <a:solidFill>
              <a:schemeClr val="bg1"/>
            </a:solidFill>
            <a:latin typeface="Aptos"/>
          </a:endParaRPr>
        </a:p>
      </dsp:txBody>
      <dsp:txXfrm>
        <a:off x="297042" y="3071310"/>
        <a:ext cx="2077934" cy="1726787"/>
      </dsp:txXfrm>
    </dsp:sp>
    <dsp:sp modelId="{CAE243EF-68D4-4494-AC33-8676CD52A7CA}">
      <dsp:nvSpPr>
        <dsp:cNvPr id="0" name=""/>
        <dsp:cNvSpPr/>
      </dsp:nvSpPr>
      <dsp:spPr>
        <a:xfrm>
          <a:off x="7438584" y="146053"/>
          <a:ext cx="3403586" cy="2214339"/>
        </a:xfrm>
        <a:prstGeom prst="roundRect">
          <a:avLst>
            <a:gd name="adj" fmla="val 10000"/>
          </a:avLst>
        </a:prstGeom>
        <a:solidFill>
          <a:schemeClr val="tx2">
            <a:lumMod val="10000"/>
            <a:lumOff val="90000"/>
            <a:alpha val="9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endParaRPr lang="en-US" sz="1400" b="0" kern="1200">
            <a:solidFill>
              <a:schemeClr val="bg1"/>
            </a:solidFill>
            <a:latin typeface="Aptos"/>
          </a:endParaRPr>
        </a:p>
      </dsp:txBody>
      <dsp:txXfrm>
        <a:off x="8508302" y="194695"/>
        <a:ext cx="2285226" cy="1563470"/>
      </dsp:txXfrm>
    </dsp:sp>
    <dsp:sp modelId="{922A03CF-F608-4CDF-8F14-1FD9C57FD19E}">
      <dsp:nvSpPr>
        <dsp:cNvPr id="0" name=""/>
        <dsp:cNvSpPr/>
      </dsp:nvSpPr>
      <dsp:spPr>
        <a:xfrm>
          <a:off x="229056" y="231237"/>
          <a:ext cx="3113711" cy="1789715"/>
        </a:xfrm>
        <a:prstGeom prst="roundRect">
          <a:avLst>
            <a:gd name="adj" fmla="val 10000"/>
          </a:avLst>
        </a:prstGeom>
        <a:solidFill>
          <a:schemeClr val="tx2">
            <a:lumMod val="10000"/>
            <a:lumOff val="90000"/>
            <a:alpha val="9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endParaRPr lang="en-US" sz="1600" b="0" kern="1200">
            <a:solidFill>
              <a:schemeClr val="bg1"/>
            </a:solidFill>
            <a:latin typeface="Aptos"/>
          </a:endParaRPr>
        </a:p>
      </dsp:txBody>
      <dsp:txXfrm>
        <a:off x="268370" y="270551"/>
        <a:ext cx="2100970" cy="1263658"/>
      </dsp:txXfrm>
    </dsp:sp>
    <dsp:sp modelId="{DACF8A05-C82A-4E0A-84F4-4D83A6454631}">
      <dsp:nvSpPr>
        <dsp:cNvPr id="0" name=""/>
        <dsp:cNvSpPr/>
      </dsp:nvSpPr>
      <dsp:spPr>
        <a:xfrm>
          <a:off x="3491972" y="277128"/>
          <a:ext cx="1885566" cy="1885566"/>
        </a:xfrm>
        <a:prstGeom prst="pieWedge">
          <a:avLst/>
        </a:prstGeom>
        <a:solidFill>
          <a:srgbClr val="0070C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kern="1200">
              <a:solidFill>
                <a:schemeClr val="bg1"/>
              </a:solidFill>
              <a:latin typeface="Aptos"/>
            </a:rPr>
            <a:t>Governance of Biometrics</a:t>
          </a:r>
        </a:p>
      </dsp:txBody>
      <dsp:txXfrm>
        <a:off x="4044241" y="829397"/>
        <a:ext cx="1333297" cy="1333297"/>
      </dsp:txXfrm>
    </dsp:sp>
    <dsp:sp modelId="{6E4388D3-4C67-4EC8-B430-1FD7054C6BED}">
      <dsp:nvSpPr>
        <dsp:cNvPr id="0" name=""/>
        <dsp:cNvSpPr/>
      </dsp:nvSpPr>
      <dsp:spPr>
        <a:xfrm rot="5400000">
          <a:off x="5464632" y="277128"/>
          <a:ext cx="1885566" cy="1885566"/>
        </a:xfrm>
        <a:prstGeom prst="pieWedge">
          <a:avLst/>
        </a:prstGeom>
        <a:solidFill>
          <a:srgbClr val="0070C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kern="1200">
              <a:solidFill>
                <a:schemeClr val="bg1"/>
              </a:solidFill>
              <a:latin typeface="Aptos"/>
            </a:rPr>
            <a:t>Stakeholder Involvement</a:t>
          </a:r>
        </a:p>
      </dsp:txBody>
      <dsp:txXfrm rot="-5400000">
        <a:off x="5464632" y="829397"/>
        <a:ext cx="1333297" cy="1333297"/>
      </dsp:txXfrm>
    </dsp:sp>
    <dsp:sp modelId="{34DE15AD-332E-450C-8F76-9FCD5EBE21CD}">
      <dsp:nvSpPr>
        <dsp:cNvPr id="0" name=""/>
        <dsp:cNvSpPr/>
      </dsp:nvSpPr>
      <dsp:spPr>
        <a:xfrm rot="10800000">
          <a:off x="5464632" y="2249788"/>
          <a:ext cx="1885566" cy="1885566"/>
        </a:xfrm>
        <a:prstGeom prst="pieWedge">
          <a:avLst/>
        </a:prstGeom>
        <a:solidFill>
          <a:srgbClr val="0070C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kern="1200">
              <a:solidFill>
                <a:schemeClr val="bg1"/>
              </a:solidFill>
              <a:latin typeface="Aptos"/>
            </a:rPr>
            <a:t>Ethics at each step</a:t>
          </a:r>
        </a:p>
      </dsp:txBody>
      <dsp:txXfrm rot="10800000">
        <a:off x="5464632" y="2249788"/>
        <a:ext cx="1333297" cy="1333297"/>
      </dsp:txXfrm>
    </dsp:sp>
    <dsp:sp modelId="{BFE0EC86-C09F-47F5-A519-B645283727CF}">
      <dsp:nvSpPr>
        <dsp:cNvPr id="0" name=""/>
        <dsp:cNvSpPr/>
      </dsp:nvSpPr>
      <dsp:spPr>
        <a:xfrm rot="16200000">
          <a:off x="3491972" y="2249788"/>
          <a:ext cx="1885566" cy="1885566"/>
        </a:xfrm>
        <a:prstGeom prst="pieWedge">
          <a:avLst/>
        </a:prstGeom>
        <a:solidFill>
          <a:srgbClr val="0070C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kern="1200">
              <a:solidFill>
                <a:schemeClr val="bg1"/>
              </a:solidFill>
              <a:latin typeface="Aptos"/>
            </a:rPr>
            <a:t>Structured Stewardship</a:t>
          </a:r>
        </a:p>
      </dsp:txBody>
      <dsp:txXfrm rot="5400000">
        <a:off x="4044241" y="2249788"/>
        <a:ext cx="1333297" cy="1333297"/>
      </dsp:txXfrm>
    </dsp:sp>
    <dsp:sp modelId="{C040540B-B5D2-418C-A8B9-167A1B68BE0B}">
      <dsp:nvSpPr>
        <dsp:cNvPr id="0" name=""/>
        <dsp:cNvSpPr/>
      </dsp:nvSpPr>
      <dsp:spPr>
        <a:xfrm>
          <a:off x="5095574" y="1814322"/>
          <a:ext cx="651021" cy="566105"/>
        </a:xfrm>
        <a:prstGeom prst="circularArrow">
          <a:avLst/>
        </a:prstGeom>
        <a:gradFill rotWithShape="0">
          <a:gsLst>
            <a:gs pos="0">
              <a:schemeClr val="accent1">
                <a:tint val="60000"/>
                <a:hueOff val="0"/>
                <a:satOff val="0"/>
                <a:lumOff val="0"/>
                <a:alphaOff val="0"/>
                <a:lumMod val="110000"/>
                <a:satMod val="105000"/>
                <a:tint val="67000"/>
              </a:schemeClr>
            </a:gs>
            <a:gs pos="50000">
              <a:schemeClr val="accent1">
                <a:tint val="60000"/>
                <a:hueOff val="0"/>
                <a:satOff val="0"/>
                <a:lumOff val="0"/>
                <a:alphaOff val="0"/>
                <a:lumMod val="105000"/>
                <a:satMod val="103000"/>
                <a:tint val="73000"/>
              </a:schemeClr>
            </a:gs>
            <a:gs pos="100000">
              <a:schemeClr val="accent1">
                <a:tint val="60000"/>
                <a:hueOff val="0"/>
                <a:satOff val="0"/>
                <a:lumOff val="0"/>
                <a:alphaOff val="0"/>
                <a:lumMod val="105000"/>
                <a:satMod val="109000"/>
                <a:tint val="81000"/>
              </a:schemeClr>
            </a:gs>
          </a:gsLst>
          <a:lin ang="5400000" scaled="0"/>
        </a:grad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 modelId="{C9401591-A47C-473B-9901-AB4CCDB866F5}">
      <dsp:nvSpPr>
        <dsp:cNvPr id="0" name=""/>
        <dsp:cNvSpPr/>
      </dsp:nvSpPr>
      <dsp:spPr>
        <a:xfrm rot="10800000">
          <a:off x="5095574" y="2032055"/>
          <a:ext cx="651021" cy="566105"/>
        </a:xfrm>
        <a:prstGeom prst="circularArrow">
          <a:avLst/>
        </a:prstGeom>
        <a:gradFill rotWithShape="0">
          <a:gsLst>
            <a:gs pos="0">
              <a:schemeClr val="accent1">
                <a:tint val="60000"/>
                <a:hueOff val="0"/>
                <a:satOff val="0"/>
                <a:lumOff val="0"/>
                <a:alphaOff val="0"/>
                <a:lumMod val="110000"/>
                <a:satMod val="105000"/>
                <a:tint val="67000"/>
              </a:schemeClr>
            </a:gs>
            <a:gs pos="50000">
              <a:schemeClr val="accent1">
                <a:tint val="60000"/>
                <a:hueOff val="0"/>
                <a:satOff val="0"/>
                <a:lumOff val="0"/>
                <a:alphaOff val="0"/>
                <a:lumMod val="105000"/>
                <a:satMod val="103000"/>
                <a:tint val="73000"/>
              </a:schemeClr>
            </a:gs>
            <a:gs pos="100000">
              <a:schemeClr val="accent1">
                <a:tint val="60000"/>
                <a:hueOff val="0"/>
                <a:satOff val="0"/>
                <a:lumOff val="0"/>
                <a:alphaOff val="0"/>
                <a:lumMod val="105000"/>
                <a:satMod val="109000"/>
                <a:tint val="81000"/>
              </a:schemeClr>
            </a:gs>
          </a:gsLst>
          <a:lin ang="5400000" scaled="0"/>
        </a:grad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18466B-C8D9-49E2-82A4-88464552CAE9}" type="datetimeFigureOut">
              <a:rPr lang="en-ZA" smtClean="0"/>
              <a:t>2025/11/11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307611-ED16-4B6F-B09F-04295675D1A2}" type="slidenum">
              <a:rPr lang="en-ZA" smtClean="0"/>
              <a:t>‹#›</a:t>
            </a:fld>
            <a:endParaRPr lang="en-ZA"/>
          </a:p>
        </p:txBody>
      </p:sp>
    </p:spTree>
    <p:extLst>
      <p:ext uri="{BB962C8B-B14F-4D97-AF65-F5344CB8AC3E}">
        <p14:creationId xmlns:p14="http://schemas.microsoft.com/office/powerpoint/2010/main" val="2839168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59FC454C-1A1D-EBCC-8449-8CA3E9CA008C}"/>
            </a:ext>
          </a:extLst>
        </p:cNvPr>
        <p:cNvGrpSpPr/>
        <p:nvPr/>
      </p:nvGrpSpPr>
      <p:grpSpPr>
        <a:xfrm>
          <a:off x="0" y="0"/>
          <a:ext cx="0" cy="0"/>
          <a:chOff x="0" y="0"/>
          <a:chExt cx="0" cy="0"/>
        </a:xfrm>
      </p:grpSpPr>
      <p:sp>
        <p:nvSpPr>
          <p:cNvPr id="50" name="Google Shape;50;p2:notes">
            <a:extLst>
              <a:ext uri="{FF2B5EF4-FFF2-40B4-BE49-F238E27FC236}">
                <a16:creationId xmlns:a16="http://schemas.microsoft.com/office/drawing/2014/main" id="{3F6A6FB6-1D0B-37B8-A607-91F90885C1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a:extLst>
              <a:ext uri="{FF2B5EF4-FFF2-40B4-BE49-F238E27FC236}">
                <a16:creationId xmlns:a16="http://schemas.microsoft.com/office/drawing/2014/main" id="{9F5982BF-602C-6BDB-47F9-957C904FC4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9086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073CB36C-980D-6860-0EC8-42AD6903B019}"/>
            </a:ext>
          </a:extLst>
        </p:cNvPr>
        <p:cNvGrpSpPr/>
        <p:nvPr/>
      </p:nvGrpSpPr>
      <p:grpSpPr>
        <a:xfrm>
          <a:off x="0" y="0"/>
          <a:ext cx="0" cy="0"/>
          <a:chOff x="0" y="0"/>
          <a:chExt cx="0" cy="0"/>
        </a:xfrm>
      </p:grpSpPr>
      <p:sp>
        <p:nvSpPr>
          <p:cNvPr id="50" name="Google Shape;50;p2:notes">
            <a:extLst>
              <a:ext uri="{FF2B5EF4-FFF2-40B4-BE49-F238E27FC236}">
                <a16:creationId xmlns:a16="http://schemas.microsoft.com/office/drawing/2014/main" id="{3F239E3D-E156-7BB8-0AEC-50B96A7B65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a:extLst>
              <a:ext uri="{FF2B5EF4-FFF2-40B4-BE49-F238E27FC236}">
                <a16:creationId xmlns:a16="http://schemas.microsoft.com/office/drawing/2014/main" id="{BD8DC9B9-3EE2-E87F-0FBB-0E82C8EEF0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494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954F8EE0-2617-E52A-69BA-B3C5B7818BE0}"/>
            </a:ext>
          </a:extLst>
        </p:cNvPr>
        <p:cNvGrpSpPr/>
        <p:nvPr/>
      </p:nvGrpSpPr>
      <p:grpSpPr>
        <a:xfrm>
          <a:off x="0" y="0"/>
          <a:ext cx="0" cy="0"/>
          <a:chOff x="0" y="0"/>
          <a:chExt cx="0" cy="0"/>
        </a:xfrm>
      </p:grpSpPr>
      <p:sp>
        <p:nvSpPr>
          <p:cNvPr id="50" name="Google Shape;50;p2:notes">
            <a:extLst>
              <a:ext uri="{FF2B5EF4-FFF2-40B4-BE49-F238E27FC236}">
                <a16:creationId xmlns:a16="http://schemas.microsoft.com/office/drawing/2014/main" id="{98D46D7E-70CF-1C64-324F-866358D7B4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a:extLst>
              <a:ext uri="{FF2B5EF4-FFF2-40B4-BE49-F238E27FC236}">
                <a16:creationId xmlns:a16="http://schemas.microsoft.com/office/drawing/2014/main" id="{DEBC2E0F-0FDF-946B-726F-4D3A971A56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832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E1927818-D47B-9E62-EDD9-7C7FFA38B932}"/>
            </a:ext>
          </a:extLst>
        </p:cNvPr>
        <p:cNvGrpSpPr/>
        <p:nvPr/>
      </p:nvGrpSpPr>
      <p:grpSpPr>
        <a:xfrm>
          <a:off x="0" y="0"/>
          <a:ext cx="0" cy="0"/>
          <a:chOff x="0" y="0"/>
          <a:chExt cx="0" cy="0"/>
        </a:xfrm>
      </p:grpSpPr>
      <p:sp>
        <p:nvSpPr>
          <p:cNvPr id="50" name="Google Shape;50;p2:notes">
            <a:extLst>
              <a:ext uri="{FF2B5EF4-FFF2-40B4-BE49-F238E27FC236}">
                <a16:creationId xmlns:a16="http://schemas.microsoft.com/office/drawing/2014/main" id="{7078EDDE-73B4-C488-8AEA-E9110984BF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a:extLst>
              <a:ext uri="{FF2B5EF4-FFF2-40B4-BE49-F238E27FC236}">
                <a16:creationId xmlns:a16="http://schemas.microsoft.com/office/drawing/2014/main" id="{A9117FBA-05ED-8089-0652-B47162BFF8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009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C2B19B7A-77CF-7670-7646-42EB4F4C4168}"/>
            </a:ext>
          </a:extLst>
        </p:cNvPr>
        <p:cNvGrpSpPr/>
        <p:nvPr/>
      </p:nvGrpSpPr>
      <p:grpSpPr>
        <a:xfrm>
          <a:off x="0" y="0"/>
          <a:ext cx="0" cy="0"/>
          <a:chOff x="0" y="0"/>
          <a:chExt cx="0" cy="0"/>
        </a:xfrm>
      </p:grpSpPr>
      <p:sp>
        <p:nvSpPr>
          <p:cNvPr id="50" name="Google Shape;50;p2:notes">
            <a:extLst>
              <a:ext uri="{FF2B5EF4-FFF2-40B4-BE49-F238E27FC236}">
                <a16:creationId xmlns:a16="http://schemas.microsoft.com/office/drawing/2014/main" id="{85911F32-B42C-4206-DE6E-CED44BABB8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a:extLst>
              <a:ext uri="{FF2B5EF4-FFF2-40B4-BE49-F238E27FC236}">
                <a16:creationId xmlns:a16="http://schemas.microsoft.com/office/drawing/2014/main" id="{F2072FB6-334B-6998-AF5F-D166D9012A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143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D252C-7CA9-E82E-B1D8-5C1398ECF8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7B99C443-8069-63BA-67B9-EE8E3B2444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7E9DB998-2CBB-8F31-5655-CB47B90EE727}"/>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5" name="Footer Placeholder 4">
            <a:extLst>
              <a:ext uri="{FF2B5EF4-FFF2-40B4-BE49-F238E27FC236}">
                <a16:creationId xmlns:a16="http://schemas.microsoft.com/office/drawing/2014/main" id="{A532FE28-1476-61CA-AEE1-175F72B3826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F6D3377-67A1-14E7-FEDC-B353C819D55F}"/>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144044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B033-94C2-2EAD-23EE-7211BD64525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3209D44-D62C-EA69-AC1D-01BF8214F1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2FBABE0-25C8-61E8-B2D0-1196D2C8111D}"/>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5" name="Footer Placeholder 4">
            <a:extLst>
              <a:ext uri="{FF2B5EF4-FFF2-40B4-BE49-F238E27FC236}">
                <a16:creationId xmlns:a16="http://schemas.microsoft.com/office/drawing/2014/main" id="{D2B54FA8-C1A3-AADD-80FB-7805760731A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F76BA4E-D3BE-EC6C-CFA1-C21A7EC67968}"/>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80615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7EE16-3642-8600-9D03-C394A58E3D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12DF3D36-571D-CDA5-8C0F-D5C1350A1F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934A88-E025-8749-5814-F5C133B43DC8}"/>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5" name="Footer Placeholder 4">
            <a:extLst>
              <a:ext uri="{FF2B5EF4-FFF2-40B4-BE49-F238E27FC236}">
                <a16:creationId xmlns:a16="http://schemas.microsoft.com/office/drawing/2014/main" id="{CD6A6328-F92D-25BF-E238-F4B9406C926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A211A0E-E293-806A-D0E0-7379F024D699}"/>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3199143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3255A-D658-D5B3-3E41-89670EB2558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3B7D25F-59BE-E836-9EA3-A2EBB4668A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32FEE84-3506-9E9B-E1C8-AACCFBED2B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027671C0-7107-D16E-F9B3-8F8F60778777}"/>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6" name="Footer Placeholder 5">
            <a:extLst>
              <a:ext uri="{FF2B5EF4-FFF2-40B4-BE49-F238E27FC236}">
                <a16:creationId xmlns:a16="http://schemas.microsoft.com/office/drawing/2014/main" id="{02CDDE4C-1334-9371-FA97-6511DC3F89F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3DCFAC6-5717-0B98-B4F9-11E609839E7A}"/>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3884750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28F4-70F5-22A8-E96F-B35A948C29EB}"/>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367BBA8-7F42-15FB-FE5E-E3A154B238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28F005-A58D-70A9-B7F5-668EB95225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36B6D77E-0E88-35E7-8939-A39EA71FC7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13F1A5-63AE-329D-51AA-9B3E98A8E2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30A3E3DF-5517-8DD4-F550-483C9BA8BB85}"/>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8" name="Footer Placeholder 7">
            <a:extLst>
              <a:ext uri="{FF2B5EF4-FFF2-40B4-BE49-F238E27FC236}">
                <a16:creationId xmlns:a16="http://schemas.microsoft.com/office/drawing/2014/main" id="{5D022088-AF32-301D-6331-1842BAC1381E}"/>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9A0B57F-5AE2-7092-C0EF-7C4885333B94}"/>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910624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206F3-4693-B31B-4667-3DA5BBCFC599}"/>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83C18F3-0FC0-3DBE-7F7D-E3D14A31882C}"/>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4" name="Footer Placeholder 3">
            <a:extLst>
              <a:ext uri="{FF2B5EF4-FFF2-40B4-BE49-F238E27FC236}">
                <a16:creationId xmlns:a16="http://schemas.microsoft.com/office/drawing/2014/main" id="{4CAEEA83-3C59-8E66-666A-5DB47237309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1C3EC600-1C25-5458-DF8D-60B4BC2DFA37}"/>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281415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65C63B-F0D0-8A9C-C01A-AE1C391EA0AF}"/>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3" name="Footer Placeholder 2">
            <a:extLst>
              <a:ext uri="{FF2B5EF4-FFF2-40B4-BE49-F238E27FC236}">
                <a16:creationId xmlns:a16="http://schemas.microsoft.com/office/drawing/2014/main" id="{B3A32FE4-CFA8-FCCB-4636-0E04A2D0BFA5}"/>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B9D60D6C-C337-C989-3915-BC06C5E99815}"/>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2662229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833C-919E-94DC-58D6-6CE26AC7BF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BEA95D0C-22F2-63D1-A51B-5CACDAD5A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FD768CB8-D747-2631-0E24-B3655E8C4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552DC-D41D-FBF8-C9C8-36C79CE5C86A}"/>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6" name="Footer Placeholder 5">
            <a:extLst>
              <a:ext uri="{FF2B5EF4-FFF2-40B4-BE49-F238E27FC236}">
                <a16:creationId xmlns:a16="http://schemas.microsoft.com/office/drawing/2014/main" id="{9090755E-42AA-A4BA-01EC-EF2258EDDB5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369F279-86E9-9F76-68E7-F993400AD145}"/>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4132671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82EFB-CDFC-67A0-456B-BEEEA3FDCD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170E031-23EC-F155-C583-F9B7751D5E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60A6E41-CB51-7035-934D-817106C5A8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21798C-7934-AB90-FDB2-BA3B210DB8D1}"/>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6" name="Footer Placeholder 5">
            <a:extLst>
              <a:ext uri="{FF2B5EF4-FFF2-40B4-BE49-F238E27FC236}">
                <a16:creationId xmlns:a16="http://schemas.microsoft.com/office/drawing/2014/main" id="{2187E045-4FC9-BCDC-782A-A123C1FD073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3191011-7FE8-6147-36C7-E073C2B623AE}"/>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1464651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2E013-47EA-15D4-0904-459BFB6ACF56}"/>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852E6A2-C094-B758-DBDD-61751B1EA3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5749EA0-C3C1-A379-E15B-FD6E03D11195}"/>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5" name="Footer Placeholder 4">
            <a:extLst>
              <a:ext uri="{FF2B5EF4-FFF2-40B4-BE49-F238E27FC236}">
                <a16:creationId xmlns:a16="http://schemas.microsoft.com/office/drawing/2014/main" id="{F694781D-B25C-5662-6A9A-BD3D806C719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C78D0C9-73BB-D27B-A088-B8F01BB0DC07}"/>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3607035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5FD9C0-0328-45F1-2DDE-D2880F4CCB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EE8129E-A91B-41A7-2A52-64D9C23E0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3587F21-7CC8-15F8-CD82-BBEFED12C2F7}"/>
              </a:ext>
            </a:extLst>
          </p:cNvPr>
          <p:cNvSpPr>
            <a:spLocks noGrp="1"/>
          </p:cNvSpPr>
          <p:nvPr>
            <p:ph type="dt" sz="half" idx="10"/>
          </p:nvPr>
        </p:nvSpPr>
        <p:spPr/>
        <p:txBody>
          <a:bodyPr/>
          <a:lstStyle/>
          <a:p>
            <a:fld id="{3F342D9E-AE96-4EB4-A4CD-8D403FA70F92}" type="datetimeFigureOut">
              <a:rPr lang="en-ZA" smtClean="0"/>
              <a:t>2025/11/11</a:t>
            </a:fld>
            <a:endParaRPr lang="en-ZA"/>
          </a:p>
        </p:txBody>
      </p:sp>
      <p:sp>
        <p:nvSpPr>
          <p:cNvPr id="5" name="Footer Placeholder 4">
            <a:extLst>
              <a:ext uri="{FF2B5EF4-FFF2-40B4-BE49-F238E27FC236}">
                <a16:creationId xmlns:a16="http://schemas.microsoft.com/office/drawing/2014/main" id="{E85F5FFF-D2F7-617B-E473-0F56F16345B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FDD923F-DEC6-D5FD-E520-B6F9D930EA22}"/>
              </a:ext>
            </a:extLst>
          </p:cNvPr>
          <p:cNvSpPr>
            <a:spLocks noGrp="1"/>
          </p:cNvSpPr>
          <p:nvPr>
            <p:ph type="sldNum" sz="quarter" idx="12"/>
          </p:nvPr>
        </p:nvSpPr>
        <p:spPr/>
        <p:txBody>
          <a:bodyPr/>
          <a:lstStyle/>
          <a:p>
            <a:fld id="{46F62B58-680A-45A1-BE08-5282299C66D4}" type="slidenum">
              <a:rPr lang="en-ZA" smtClean="0"/>
              <a:t>‹#›</a:t>
            </a:fld>
            <a:endParaRPr lang="en-ZA"/>
          </a:p>
        </p:txBody>
      </p:sp>
    </p:spTree>
    <p:extLst>
      <p:ext uri="{BB962C8B-B14F-4D97-AF65-F5344CB8AC3E}">
        <p14:creationId xmlns:p14="http://schemas.microsoft.com/office/powerpoint/2010/main" val="505715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4B7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Shape 1"/>
          <p:cNvSpPr/>
          <p:nvPr/>
        </p:nvSpPr>
        <p:spPr>
          <a:xfrm>
            <a:off x="0" y="0"/>
            <a:ext cx="12192000" cy="6858000"/>
          </a:xfrm>
          <a:prstGeom prst="rect">
            <a:avLst/>
          </a:prstGeom>
          <a:solidFill>
            <a:srgbClr val="DCEA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846823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F618F0-0DCC-0B01-8F00-BEF5BF72D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5BF586C-532A-0E71-7C43-EACA7BC572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4BFB86D-31F4-7213-2B4E-9FB71E0A4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342D9E-AE96-4EB4-A4CD-8D403FA70F92}" type="datetimeFigureOut">
              <a:rPr lang="en-ZA" smtClean="0"/>
              <a:t>2025/11/11</a:t>
            </a:fld>
            <a:endParaRPr lang="en-ZA"/>
          </a:p>
        </p:txBody>
      </p:sp>
      <p:sp>
        <p:nvSpPr>
          <p:cNvPr id="5" name="Footer Placeholder 4">
            <a:extLst>
              <a:ext uri="{FF2B5EF4-FFF2-40B4-BE49-F238E27FC236}">
                <a16:creationId xmlns:a16="http://schemas.microsoft.com/office/drawing/2014/main" id="{AA1AAB54-439D-0AC9-004B-DBF0A0207A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90DD2F1D-BEEA-D415-B98F-B2C9A4E2A1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F62B58-680A-45A1-BE08-5282299C66D4}" type="slidenum">
              <a:rPr lang="en-ZA" smtClean="0"/>
              <a:t>‹#›</a:t>
            </a:fld>
            <a:endParaRPr lang="en-ZA"/>
          </a:p>
        </p:txBody>
      </p:sp>
    </p:spTree>
    <p:extLst>
      <p:ext uri="{BB962C8B-B14F-4D97-AF65-F5344CB8AC3E}">
        <p14:creationId xmlns:p14="http://schemas.microsoft.com/office/powerpoint/2010/main" val="3203080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9" Type="http://schemas.openxmlformats.org/officeDocument/2006/relationships/image" Target="../media/image21.jpeg"/></Relationships>
</file>

<file path=ppt/slides/_rels/slide10.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0.sv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0.sv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0.sv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0.sv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1028" name="Picture 4" descr="Public Attitudes Archives - Page 2 of 3 - Migration Policy Centre">
            <a:extLst>
              <a:ext uri="{FF2B5EF4-FFF2-40B4-BE49-F238E27FC236}">
                <a16:creationId xmlns:a16="http://schemas.microsoft.com/office/drawing/2014/main" id="{8F9745B9-96D3-1735-0168-BC4B9CED52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088"/>
          <a:stretch>
            <a:fillRect/>
          </a:stretch>
        </p:blipFill>
        <p:spPr bwMode="auto">
          <a:xfrm>
            <a:off x="3421855" y="3471299"/>
            <a:ext cx="5205412" cy="3019069"/>
          </a:xfrm>
          <a:prstGeom prst="rect">
            <a:avLst/>
          </a:prstGeom>
          <a:noFill/>
          <a:ln w="12700">
            <a:solidFill>
              <a:srgbClr val="002060"/>
            </a:solidFill>
          </a:ln>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3AA78EC3-F750-4796-9A5E-62D0FFD83429}"/>
              </a:ext>
            </a:extLst>
          </p:cNvPr>
          <p:cNvSpPr/>
          <p:nvPr/>
        </p:nvSpPr>
        <p:spPr>
          <a:xfrm>
            <a:off x="609599" y="291440"/>
            <a:ext cx="11144251" cy="1584986"/>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20764A9C-496A-1027-AFCD-51EED1D277A6}"/>
              </a:ext>
            </a:extLst>
          </p:cNvPr>
          <p:cNvSpPr/>
          <p:nvPr/>
        </p:nvSpPr>
        <p:spPr>
          <a:xfrm>
            <a:off x="0" y="0"/>
            <a:ext cx="12192000" cy="6858000"/>
          </a:xfrm>
          <a:prstGeom prst="rect">
            <a:avLst/>
          </a:prstGeom>
          <a:noFill/>
          <a:ln w="1079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TextBox 4">
            <a:extLst>
              <a:ext uri="{FF2B5EF4-FFF2-40B4-BE49-F238E27FC236}">
                <a16:creationId xmlns:a16="http://schemas.microsoft.com/office/drawing/2014/main" id="{045D90A6-C183-73CF-4AD7-3B99DFC28F8F}"/>
              </a:ext>
            </a:extLst>
          </p:cNvPr>
          <p:cNvSpPr txBox="1"/>
          <p:nvPr/>
        </p:nvSpPr>
        <p:spPr>
          <a:xfrm>
            <a:off x="938212" y="367632"/>
            <a:ext cx="10315575" cy="2339102"/>
          </a:xfrm>
          <a:prstGeom prst="rect">
            <a:avLst/>
          </a:prstGeom>
          <a:noFill/>
        </p:spPr>
        <p:txBody>
          <a:bodyPr wrap="square" lIns="91440" tIns="45720" rIns="91440" bIns="45720" anchor="t">
            <a:spAutoFit/>
          </a:bodyPr>
          <a:lstStyle/>
          <a:p>
            <a:pPr algn="ctr"/>
            <a:r>
              <a:rPr lang="en-US" sz="3300" b="1">
                <a:solidFill>
                  <a:schemeClr val="tx2"/>
                </a:solidFill>
              </a:rPr>
              <a:t>Integrating Security and Privacy Goals:  </a:t>
            </a:r>
          </a:p>
          <a:p>
            <a:pPr algn="ctr"/>
            <a:r>
              <a:rPr lang="en-US" sz="3300" b="1">
                <a:solidFill>
                  <a:schemeClr val="tx2"/>
                </a:solidFill>
              </a:rPr>
              <a:t>Sustainable and Ethical Data Governance in Migration Technologies  </a:t>
            </a:r>
          </a:p>
          <a:p>
            <a:pPr algn="ctr"/>
            <a:endParaRPr lang="en-US" sz="800">
              <a:solidFill>
                <a:schemeClr val="tx2"/>
              </a:solidFill>
            </a:endParaRPr>
          </a:p>
          <a:p>
            <a:pPr algn="ctr"/>
            <a:r>
              <a:rPr lang="en-US">
                <a:solidFill>
                  <a:schemeClr val="tx2"/>
                </a:solidFill>
              </a:rPr>
              <a:t>A critical analysis of the 2024 Greek Ministry of Migration ruling and 2025 EU-US Data Partnership within the framework of Global Sustainability, SGD 10 and SGD 16. </a:t>
            </a:r>
            <a:endParaRPr lang="en-ZA">
              <a:solidFill>
                <a:schemeClr val="tx2"/>
              </a:solidFill>
            </a:endParaRPr>
          </a:p>
        </p:txBody>
      </p:sp>
      <p:sp>
        <p:nvSpPr>
          <p:cNvPr id="6" name="TextBox 5">
            <a:extLst>
              <a:ext uri="{FF2B5EF4-FFF2-40B4-BE49-F238E27FC236}">
                <a16:creationId xmlns:a16="http://schemas.microsoft.com/office/drawing/2014/main" id="{3C47F4E2-C3BA-80AE-F343-BAF1E54E2CD4}"/>
              </a:ext>
            </a:extLst>
          </p:cNvPr>
          <p:cNvSpPr txBox="1"/>
          <p:nvPr/>
        </p:nvSpPr>
        <p:spPr>
          <a:xfrm>
            <a:off x="-385764" y="3009634"/>
            <a:ext cx="12963525" cy="646331"/>
          </a:xfrm>
          <a:prstGeom prst="rect">
            <a:avLst/>
          </a:prstGeom>
          <a:noFill/>
        </p:spPr>
        <p:txBody>
          <a:bodyPr wrap="square" lIns="91440" tIns="45720" rIns="91440" bIns="45720" rtlCol="0" anchor="t">
            <a:spAutoFit/>
          </a:bodyPr>
          <a:lstStyle/>
          <a:p>
            <a:endParaRPr lang="en-ZA" b="1"/>
          </a:p>
          <a:p>
            <a:r>
              <a:rPr lang="en-ZA"/>
              <a:t> </a:t>
            </a:r>
          </a:p>
        </p:txBody>
      </p:sp>
      <p:sp>
        <p:nvSpPr>
          <p:cNvPr id="8" name="TextBox 7">
            <a:extLst>
              <a:ext uri="{FF2B5EF4-FFF2-40B4-BE49-F238E27FC236}">
                <a16:creationId xmlns:a16="http://schemas.microsoft.com/office/drawing/2014/main" id="{1F8732E2-5C28-72F0-9E60-D86DC3F9DAD0}"/>
              </a:ext>
            </a:extLst>
          </p:cNvPr>
          <p:cNvSpPr txBox="1"/>
          <p:nvPr/>
        </p:nvSpPr>
        <p:spPr>
          <a:xfrm>
            <a:off x="4888706" y="6474635"/>
            <a:ext cx="6481762" cy="369332"/>
          </a:xfrm>
          <a:prstGeom prst="rect">
            <a:avLst/>
          </a:prstGeom>
          <a:noFill/>
        </p:spPr>
        <p:txBody>
          <a:bodyPr wrap="square">
            <a:spAutoFit/>
          </a:bodyPr>
          <a:lstStyle/>
          <a:p>
            <a:r>
              <a:rPr lang="en-ZA" b="1">
                <a:solidFill>
                  <a:schemeClr val="tx2"/>
                </a:solidFill>
              </a:rPr>
              <a:t>07 November 2025 </a:t>
            </a:r>
            <a:endParaRPr lang="en-ZA"/>
          </a:p>
        </p:txBody>
      </p:sp>
      <p:sp>
        <p:nvSpPr>
          <p:cNvPr id="7" name="TextBox 6">
            <a:extLst>
              <a:ext uri="{FF2B5EF4-FFF2-40B4-BE49-F238E27FC236}">
                <a16:creationId xmlns:a16="http://schemas.microsoft.com/office/drawing/2014/main" id="{CB95612D-3BB2-C82A-3CF6-395041D8A5EE}"/>
              </a:ext>
            </a:extLst>
          </p:cNvPr>
          <p:cNvSpPr txBox="1"/>
          <p:nvPr/>
        </p:nvSpPr>
        <p:spPr>
          <a:xfrm>
            <a:off x="607465" y="2922013"/>
            <a:ext cx="11138938" cy="408623"/>
          </a:xfrm>
          <a:prstGeom prst="roundRect">
            <a:avLst/>
          </a:prstGeom>
          <a:solidFill>
            <a:schemeClr val="bg1"/>
          </a:solidFill>
          <a:ln w="28575">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ZA" b="1">
                <a:solidFill>
                  <a:schemeClr val="tx2"/>
                </a:solidFill>
              </a:rPr>
              <a:t>Pawan Mukesh </a:t>
            </a:r>
            <a:r>
              <a:rPr lang="en-ZA" b="1" err="1">
                <a:solidFill>
                  <a:schemeClr val="tx2"/>
                </a:solidFill>
              </a:rPr>
              <a:t>Badsewal</a:t>
            </a:r>
            <a:r>
              <a:rPr lang="en-ZA" b="1">
                <a:solidFill>
                  <a:schemeClr val="tx2"/>
                </a:solidFill>
              </a:rPr>
              <a:t>, Hailan Jin, Chanlin Naicker, Ya Wai Thone, Dhruv Hitendra </a:t>
            </a:r>
            <a:r>
              <a:rPr lang="en-ZA" b="1" err="1">
                <a:solidFill>
                  <a:schemeClr val="tx2"/>
                </a:solidFill>
              </a:rPr>
              <a:t>Waghela</a:t>
            </a:r>
            <a:endParaRPr lang="en-US" err="1">
              <a:solidFill>
                <a:schemeClr val="tx2"/>
              </a:solidFill>
            </a:endParaRPr>
          </a:p>
        </p:txBody>
      </p:sp>
    </p:spTree>
    <p:extLst>
      <p:ext uri="{BB962C8B-B14F-4D97-AF65-F5344CB8AC3E}">
        <p14:creationId xmlns:p14="http://schemas.microsoft.com/office/powerpoint/2010/main" val="3046548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9146944A-3F04-E164-DEAE-8F4E77DC9DE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93DB733-0339-A47D-5655-A774B40BAAF2}"/>
              </a:ext>
            </a:extLst>
          </p:cNvPr>
          <p:cNvSpPr/>
          <p:nvPr/>
        </p:nvSpPr>
        <p:spPr>
          <a:xfrm>
            <a:off x="2945586" y="194093"/>
            <a:ext cx="6310635" cy="88049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D193C433-98C3-CC37-0E87-54BC82AB642D}"/>
              </a:ext>
            </a:extLst>
          </p:cNvPr>
          <p:cNvSpPr/>
          <p:nvPr/>
        </p:nvSpPr>
        <p:spPr>
          <a:xfrm>
            <a:off x="0" y="0"/>
            <a:ext cx="12192000" cy="6858000"/>
          </a:xfrm>
          <a:prstGeom prst="rect">
            <a:avLst/>
          </a:prstGeom>
          <a:noFill/>
          <a:ln w="1079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extBox 3">
            <a:extLst>
              <a:ext uri="{FF2B5EF4-FFF2-40B4-BE49-F238E27FC236}">
                <a16:creationId xmlns:a16="http://schemas.microsoft.com/office/drawing/2014/main" id="{7CF21D38-6BF5-B992-520A-0AC95DF59240}"/>
              </a:ext>
            </a:extLst>
          </p:cNvPr>
          <p:cNvSpPr txBox="1"/>
          <p:nvPr/>
        </p:nvSpPr>
        <p:spPr>
          <a:xfrm>
            <a:off x="3893617" y="192059"/>
            <a:ext cx="549592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a:solidFill>
                  <a:srgbClr val="002060"/>
                </a:solidFill>
              </a:rPr>
              <a:t> OVERVIEW</a:t>
            </a:r>
          </a:p>
        </p:txBody>
      </p:sp>
      <p:sp>
        <p:nvSpPr>
          <p:cNvPr id="7" name="TextBox 7">
            <a:extLst>
              <a:ext uri="{FF2B5EF4-FFF2-40B4-BE49-F238E27FC236}">
                <a16:creationId xmlns:a16="http://schemas.microsoft.com/office/drawing/2014/main" id="{326A644E-0074-3737-AEA0-B4ED2CEA2405}"/>
              </a:ext>
            </a:extLst>
          </p:cNvPr>
          <p:cNvSpPr txBox="1"/>
          <p:nvPr/>
        </p:nvSpPr>
        <p:spPr>
          <a:xfrm>
            <a:off x="1936257" y="1213452"/>
            <a:ext cx="8510066" cy="5516404"/>
          </a:xfrm>
          <a:prstGeom prst="roundRect">
            <a:avLst/>
          </a:prstGeom>
          <a:solidFill>
            <a:schemeClr val="bg1"/>
          </a:solidFill>
          <a:ln w="28575">
            <a:solidFill>
              <a:srgbClr val="002060"/>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a:ea typeface="+mn-lt"/>
                <a:cs typeface="+mn-lt"/>
              </a:rPr>
              <a:t>In 2025, the United Nations reported a record breaking, </a:t>
            </a:r>
            <a:r>
              <a:rPr lang="en-US" b="1">
                <a:ea typeface="+mn-lt"/>
                <a:cs typeface="+mn-lt"/>
              </a:rPr>
              <a:t>122 million </a:t>
            </a:r>
            <a:r>
              <a:rPr lang="en-US">
                <a:ea typeface="+mn-lt"/>
                <a:cs typeface="+mn-lt"/>
              </a:rPr>
              <a:t>forcibly displaced people worldwide due to violence and conflict.</a:t>
            </a:r>
            <a:r>
              <a:rPr lang="en-US">
                <a:latin typeface="Arial"/>
                <a:cs typeface="Arial"/>
              </a:rPr>
              <a:t> </a:t>
            </a:r>
            <a:endParaRPr lang="en-US"/>
          </a:p>
          <a:p>
            <a:pPr marL="285750" indent="-285750">
              <a:buFont typeface="Arial"/>
              <a:buChar char="•"/>
            </a:pPr>
            <a:endParaRPr lang="en-US" sz="600">
              <a:latin typeface="Arial"/>
              <a:ea typeface="+mn-lt"/>
              <a:cs typeface="Arial"/>
            </a:endParaRPr>
          </a:p>
          <a:p>
            <a:pPr marL="285750" indent="-285750">
              <a:buFont typeface="Arial"/>
              <a:buChar char="•"/>
            </a:pPr>
            <a:r>
              <a:rPr lang="en-US">
                <a:ea typeface="+mn-lt"/>
                <a:cs typeface="+mn-lt"/>
              </a:rPr>
              <a:t>Biometric, surveillance and predictive technologies are being used widely by government, cooperations and NGOs.</a:t>
            </a:r>
            <a:r>
              <a:rPr lang="en-US">
                <a:latin typeface="Arial"/>
                <a:cs typeface="Arial"/>
              </a:rPr>
              <a:t> </a:t>
            </a:r>
            <a:endParaRPr lang="en-US"/>
          </a:p>
          <a:p>
            <a:pPr marL="285750" indent="-285750">
              <a:buFont typeface="Arial"/>
              <a:buChar char="•"/>
            </a:pPr>
            <a:endParaRPr lang="en-US" sz="600">
              <a:latin typeface="Arial"/>
              <a:ea typeface="+mn-lt"/>
              <a:cs typeface="Arial"/>
            </a:endParaRPr>
          </a:p>
          <a:p>
            <a:pPr marL="285750" indent="-285750">
              <a:buFont typeface="Arial"/>
              <a:buChar char="•"/>
            </a:pPr>
            <a:r>
              <a:rPr lang="en-US">
                <a:ea typeface="+mn-lt"/>
                <a:cs typeface="+mn-lt"/>
              </a:rPr>
              <a:t>These technologies improve security, efficiency, and scalability, but have raised significant ethical, legal and social concerns.</a:t>
            </a:r>
            <a:r>
              <a:rPr lang="en-US">
                <a:latin typeface="Arial"/>
                <a:cs typeface="Arial"/>
              </a:rPr>
              <a:t> </a:t>
            </a:r>
            <a:endParaRPr lang="en-US"/>
          </a:p>
          <a:p>
            <a:pPr marL="285750" indent="-285750">
              <a:buFont typeface="Arial"/>
              <a:buChar char="•"/>
            </a:pPr>
            <a:endParaRPr lang="en-US" sz="600">
              <a:latin typeface="Arial"/>
              <a:ea typeface="+mn-lt"/>
              <a:cs typeface="Arial"/>
            </a:endParaRPr>
          </a:p>
          <a:p>
            <a:pPr marL="285750" indent="-285750">
              <a:buFont typeface="Arial"/>
              <a:buChar char="•"/>
            </a:pPr>
            <a:r>
              <a:rPr lang="en-US">
                <a:ea typeface="+mn-lt"/>
                <a:cs typeface="+mn-lt"/>
              </a:rPr>
              <a:t>Key challenges include:</a:t>
            </a:r>
            <a:r>
              <a:rPr lang="en-US">
                <a:latin typeface="Arial"/>
                <a:cs typeface="Arial"/>
              </a:rPr>
              <a:t> </a:t>
            </a:r>
            <a:endParaRPr lang="en-US"/>
          </a:p>
          <a:p>
            <a:r>
              <a:rPr lang="en-US">
                <a:ea typeface="+mn-lt"/>
                <a:cs typeface="+mn-lt"/>
              </a:rPr>
              <a:t>  -  Data Privacy</a:t>
            </a:r>
            <a:r>
              <a:rPr lang="en-US">
                <a:latin typeface="Arial"/>
                <a:cs typeface="Arial"/>
              </a:rPr>
              <a:t> </a:t>
            </a:r>
            <a:r>
              <a:rPr lang="en-US">
                <a:ea typeface="+mn-lt"/>
                <a:cs typeface="+mn-lt"/>
              </a:rPr>
              <a:t>and Consent</a:t>
            </a:r>
            <a:endParaRPr lang="en-US"/>
          </a:p>
          <a:p>
            <a:r>
              <a:rPr lang="en-US">
                <a:ea typeface="+mn-lt"/>
                <a:cs typeface="+mn-lt"/>
              </a:rPr>
              <a:t>          -  Transparency</a:t>
            </a:r>
            <a:r>
              <a:rPr lang="en-US">
                <a:latin typeface="Arial"/>
                <a:cs typeface="Arial"/>
              </a:rPr>
              <a:t> </a:t>
            </a:r>
            <a:r>
              <a:rPr lang="en-US">
                <a:ea typeface="+mn-lt"/>
                <a:cs typeface="+mn-lt"/>
              </a:rPr>
              <a:t>and</a:t>
            </a:r>
            <a:r>
              <a:rPr lang="en-US">
                <a:latin typeface="Arial"/>
                <a:cs typeface="Arial"/>
              </a:rPr>
              <a:t> A</a:t>
            </a:r>
            <a:r>
              <a:rPr lang="en-US">
                <a:ea typeface="+mn-lt"/>
                <a:cs typeface="+mn-lt"/>
              </a:rPr>
              <a:t>ccountability </a:t>
            </a:r>
            <a:r>
              <a:rPr lang="en-US">
                <a:latin typeface="Arial"/>
                <a:cs typeface="Arial"/>
              </a:rPr>
              <a:t> </a:t>
            </a:r>
            <a:endParaRPr lang="en-US"/>
          </a:p>
          <a:p>
            <a:r>
              <a:rPr lang="en-US">
                <a:ea typeface="+mn-lt"/>
                <a:cs typeface="+mn-lt"/>
              </a:rPr>
              <a:t>          -  Significant humanitarian right violations of vulnerable populations</a:t>
            </a:r>
            <a:endParaRPr lang="en-US"/>
          </a:p>
          <a:p>
            <a:endParaRPr lang="en-US" sz="600">
              <a:ea typeface="+mn-lt"/>
              <a:cs typeface="+mn-lt"/>
            </a:endParaRPr>
          </a:p>
          <a:p>
            <a:pPr marL="285750" indent="-285750">
              <a:buFont typeface="Arial"/>
              <a:buChar char="•"/>
            </a:pPr>
            <a:r>
              <a:rPr lang="en-US">
                <a:ea typeface="+mn-lt"/>
                <a:cs typeface="+mn-lt"/>
              </a:rPr>
              <a:t>Current governance and regulatory frameworks are currently behind. This exposes gaps in oversight and protection.</a:t>
            </a:r>
            <a:endParaRPr lang="en-US"/>
          </a:p>
          <a:p>
            <a:pPr marL="285750" indent="-285750">
              <a:buFont typeface="Arial"/>
              <a:buChar char="•"/>
            </a:pPr>
            <a:endParaRPr lang="en-US" sz="600">
              <a:ea typeface="+mn-lt"/>
              <a:cs typeface="+mn-lt"/>
            </a:endParaRPr>
          </a:p>
          <a:p>
            <a:pPr marL="285750" indent="-285750">
              <a:buFont typeface="Arial"/>
              <a:buChar char="•"/>
            </a:pPr>
            <a:r>
              <a:rPr lang="en-US">
                <a:ea typeface="+mn-lt"/>
                <a:cs typeface="+mn-lt"/>
              </a:rPr>
              <a:t>Addressing these issues is critical in supporting the UN SGDs  - </a:t>
            </a:r>
            <a:r>
              <a:rPr lang="en-US" b="1" u="sng">
                <a:ea typeface="+mn-lt"/>
                <a:cs typeface="+mn-lt"/>
              </a:rPr>
              <a:t>SGD 10</a:t>
            </a:r>
            <a:r>
              <a:rPr lang="en-US">
                <a:ea typeface="+mn-lt"/>
                <a:cs typeface="+mn-lt"/>
              </a:rPr>
              <a:t> (Reduce inequality within and among countries) and </a:t>
            </a:r>
            <a:r>
              <a:rPr lang="en-US" b="1" u="sng">
                <a:ea typeface="+mn-lt"/>
                <a:cs typeface="+mn-lt"/>
              </a:rPr>
              <a:t>SGD 16 </a:t>
            </a:r>
            <a:r>
              <a:rPr lang="en-US">
                <a:ea typeface="+mn-lt"/>
                <a:cs typeface="+mn-lt"/>
              </a:rPr>
              <a:t>(Promotion of peaceful and inclusive societies, justice for all, building of accountable, inclusive institutions)</a:t>
            </a:r>
            <a:endParaRPr lang="en-US"/>
          </a:p>
        </p:txBody>
      </p:sp>
      <p:pic>
        <p:nvPicPr>
          <p:cNvPr id="9" name="Picture 8" descr="A group of people carrying luggage&#10;&#10;AI-generated content may be incorrect.">
            <a:extLst>
              <a:ext uri="{FF2B5EF4-FFF2-40B4-BE49-F238E27FC236}">
                <a16:creationId xmlns:a16="http://schemas.microsoft.com/office/drawing/2014/main" id="{A9EA3522-C3AC-14A6-6D19-C240533C01FA}"/>
              </a:ext>
            </a:extLst>
          </p:cNvPr>
          <p:cNvPicPr>
            <a:picLocks noChangeAspect="1"/>
          </p:cNvPicPr>
          <p:nvPr/>
        </p:nvPicPr>
        <p:blipFill>
          <a:blip r:embed="rId2"/>
          <a:stretch>
            <a:fillRect/>
          </a:stretch>
        </p:blipFill>
        <p:spPr>
          <a:xfrm rot="180000">
            <a:off x="-124347" y="4748928"/>
            <a:ext cx="2470150" cy="2068897"/>
          </a:xfrm>
          <a:prstGeom prst="rect">
            <a:avLst/>
          </a:prstGeom>
        </p:spPr>
      </p:pic>
      <p:pic>
        <p:nvPicPr>
          <p:cNvPr id="12" name="Picture 11" descr="A cartoon of a policeman&#10;&#10;AI-generated content may be incorrect.">
            <a:extLst>
              <a:ext uri="{FF2B5EF4-FFF2-40B4-BE49-F238E27FC236}">
                <a16:creationId xmlns:a16="http://schemas.microsoft.com/office/drawing/2014/main" id="{43A3582B-E757-37F1-027E-BC1984B2B21A}"/>
              </a:ext>
            </a:extLst>
          </p:cNvPr>
          <p:cNvPicPr>
            <a:picLocks noChangeAspect="1"/>
          </p:cNvPicPr>
          <p:nvPr/>
        </p:nvPicPr>
        <p:blipFill>
          <a:blip r:embed="rId3"/>
          <a:stretch>
            <a:fillRect/>
          </a:stretch>
        </p:blipFill>
        <p:spPr>
          <a:xfrm rot="180000">
            <a:off x="10081466" y="4549042"/>
            <a:ext cx="2143125" cy="2257425"/>
          </a:xfrm>
          <a:prstGeom prst="rect">
            <a:avLst/>
          </a:prstGeom>
        </p:spPr>
      </p:pic>
    </p:spTree>
    <p:extLst>
      <p:ext uri="{BB962C8B-B14F-4D97-AF65-F5344CB8AC3E}">
        <p14:creationId xmlns:p14="http://schemas.microsoft.com/office/powerpoint/2010/main" val="1776293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015A5C5D-15CF-4500-C640-2AE94EE3DFDD}"/>
            </a:ext>
          </a:extLst>
        </p:cNvPr>
        <p:cNvGrpSpPr/>
        <p:nvPr/>
      </p:nvGrpSpPr>
      <p:grpSpPr>
        <a:xfrm>
          <a:off x="0" y="0"/>
          <a:ext cx="0" cy="0"/>
          <a:chOff x="0" y="0"/>
          <a:chExt cx="0" cy="0"/>
        </a:xfrm>
      </p:grpSpPr>
      <p:sp>
        <p:nvSpPr>
          <p:cNvPr id="10" name="Text 0">
            <a:extLst>
              <a:ext uri="{FF2B5EF4-FFF2-40B4-BE49-F238E27FC236}">
                <a16:creationId xmlns:a16="http://schemas.microsoft.com/office/drawing/2014/main" id="{B90B0499-FA0E-1E34-5212-170E75B3EE2D}"/>
              </a:ext>
            </a:extLst>
          </p:cNvPr>
          <p:cNvSpPr/>
          <p:nvPr/>
        </p:nvSpPr>
        <p:spPr>
          <a:xfrm>
            <a:off x="3848772" y="427459"/>
            <a:ext cx="4498259" cy="1181298"/>
          </a:xfrm>
          <a:prstGeom prst="rect">
            <a:avLst/>
          </a:prstGeom>
          <a:noFill/>
          <a:ln/>
        </p:spPr>
        <p:txBody>
          <a:bodyPr wrap="square" lIns="0" tIns="0" rIns="0" bIns="0" rtlCol="0" anchor="t"/>
          <a:lstStyle/>
          <a:p>
            <a:pPr marL="0" marR="0" lvl="0" indent="0" algn="ctr" defTabSz="914400" rtl="0" eaLnBrk="1" fontAlgn="auto" latinLnBrk="0" hangingPunct="1">
              <a:lnSpc>
                <a:spcPts val="4625"/>
              </a:lnSpc>
              <a:spcBef>
                <a:spcPts val="0"/>
              </a:spcBef>
              <a:spcAft>
                <a:spcPts val="0"/>
              </a:spcAft>
              <a:buClrTx/>
              <a:buSzTx/>
              <a:buFontTx/>
              <a:buNone/>
              <a:tabLst/>
              <a:defRPr/>
            </a:pPr>
            <a:r>
              <a:rPr kumimoji="0" lang="en-US" sz="3200" b="1" i="0" u="none" strike="noStrike" kern="1200" cap="none" spc="0" normalizeH="0" baseline="0" noProof="0">
                <a:ln>
                  <a:noFill/>
                </a:ln>
                <a:solidFill>
                  <a:schemeClr val="tx2"/>
                </a:solidFill>
                <a:effectLst/>
                <a:uLnTx/>
                <a:uFillTx/>
                <a:ea typeface="Inter Bold" pitchFamily="34" charset="-122"/>
                <a:cs typeface="Inter Bold" pitchFamily="34" charset="-120"/>
              </a:rPr>
              <a:t>Data Governance in EU Migration Management</a:t>
            </a:r>
            <a:endParaRPr kumimoji="0" lang="en-US" sz="3200" b="0" i="0" u="none" strike="noStrike" kern="1200" cap="none" spc="0" normalizeH="0" baseline="0" noProof="0">
              <a:ln>
                <a:noFill/>
              </a:ln>
              <a:solidFill>
                <a:schemeClr val="tx2"/>
              </a:solidFill>
              <a:effectLst/>
              <a:uLnTx/>
              <a:uFillTx/>
              <a:ea typeface="+mn-ea"/>
              <a:cs typeface="+mn-cs"/>
            </a:endParaRPr>
          </a:p>
        </p:txBody>
      </p:sp>
      <p:sp>
        <p:nvSpPr>
          <p:cNvPr id="3" name="TextBox 2">
            <a:extLst>
              <a:ext uri="{FF2B5EF4-FFF2-40B4-BE49-F238E27FC236}">
                <a16:creationId xmlns:a16="http://schemas.microsoft.com/office/drawing/2014/main" id="{ADB00E0F-BA07-EE3B-909B-8185AAD6BD65}"/>
              </a:ext>
            </a:extLst>
          </p:cNvPr>
          <p:cNvSpPr txBox="1"/>
          <p:nvPr/>
        </p:nvSpPr>
        <p:spPr>
          <a:xfrm>
            <a:off x="514008" y="2133201"/>
            <a:ext cx="5211268" cy="2031325"/>
          </a:xfrm>
          <a:prstGeom prst="rect">
            <a:avLst/>
          </a:prstGeom>
          <a:noFill/>
          <a:ln>
            <a:solidFill>
              <a:srgbClr val="4472C4"/>
            </a:solidFill>
          </a:ln>
        </p:spPr>
        <p:txBody>
          <a:bodyPr wrap="square" lIns="91440" tIns="45720" rIns="91440" bIns="45720" anchor="t">
            <a:spAutoFit/>
          </a:bodyPr>
          <a:lstStyle/>
          <a:p>
            <a:pPr algn="just"/>
            <a:r>
              <a:rPr lang="en-US">
                <a:ea typeface="+mn-lt"/>
                <a:cs typeface="+mn-lt"/>
              </a:rPr>
              <a:t>Despite strong legal frameworks such as the</a:t>
            </a:r>
            <a:endParaRPr lang="en-US"/>
          </a:p>
          <a:p>
            <a:pPr algn="just"/>
            <a:r>
              <a:rPr lang="en-US">
                <a:ea typeface="+mn-lt"/>
                <a:cs typeface="+mn-lt"/>
              </a:rPr>
              <a:t>GDPR, the EU’s approach to governing migration</a:t>
            </a:r>
            <a:endParaRPr lang="en-US"/>
          </a:p>
          <a:p>
            <a:pPr algn="just"/>
            <a:r>
              <a:rPr lang="en-US">
                <a:ea typeface="+mn-lt"/>
                <a:cs typeface="+mn-lt"/>
              </a:rPr>
              <a:t>data raises major ethical concerns. The increasing</a:t>
            </a:r>
            <a:endParaRPr lang="en-US"/>
          </a:p>
          <a:p>
            <a:pPr algn="just"/>
            <a:r>
              <a:rPr lang="en-US">
                <a:ea typeface="+mn-lt"/>
                <a:cs typeface="+mn-lt"/>
              </a:rPr>
              <a:t>use of massive biometric and algorithmic</a:t>
            </a:r>
            <a:endParaRPr lang="en-US"/>
          </a:p>
          <a:p>
            <a:pPr algn="just"/>
            <a:r>
              <a:rPr lang="en-US">
                <a:ea typeface="+mn-lt"/>
                <a:cs typeface="+mn-lt"/>
              </a:rPr>
              <a:t>processes increases the concerns of transparency,</a:t>
            </a:r>
            <a:endParaRPr lang="en-US"/>
          </a:p>
          <a:p>
            <a:pPr algn="just"/>
            <a:r>
              <a:rPr lang="en-US">
                <a:ea typeface="+mn-lt"/>
                <a:cs typeface="+mn-lt"/>
              </a:rPr>
              <a:t>responsibility, and protection of vulnerable</a:t>
            </a:r>
            <a:endParaRPr lang="en-US"/>
          </a:p>
          <a:p>
            <a:pPr algn="just"/>
            <a:r>
              <a:rPr lang="en-US">
                <a:ea typeface="+mn-lt"/>
                <a:cs typeface="+mn-lt"/>
              </a:rPr>
              <a:t>populations.</a:t>
            </a:r>
            <a:endParaRPr lang="en-US"/>
          </a:p>
        </p:txBody>
      </p:sp>
      <p:sp>
        <p:nvSpPr>
          <p:cNvPr id="2" name="Rectangle: Rounded Corners 1">
            <a:extLst>
              <a:ext uri="{FF2B5EF4-FFF2-40B4-BE49-F238E27FC236}">
                <a16:creationId xmlns:a16="http://schemas.microsoft.com/office/drawing/2014/main" id="{F93DB733-0339-A47D-5655-A774B40BAAF2}"/>
              </a:ext>
            </a:extLst>
          </p:cNvPr>
          <p:cNvSpPr/>
          <p:nvPr/>
        </p:nvSpPr>
        <p:spPr>
          <a:xfrm>
            <a:off x="3698574" y="389359"/>
            <a:ext cx="4800407" cy="1181298"/>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pic>
        <p:nvPicPr>
          <p:cNvPr id="5" name="Picture 4" descr="A blue map with yellow stars and a black background&#10;&#10;AI-generated content may be incorrect.">
            <a:extLst>
              <a:ext uri="{FF2B5EF4-FFF2-40B4-BE49-F238E27FC236}">
                <a16:creationId xmlns:a16="http://schemas.microsoft.com/office/drawing/2014/main" id="{D4084151-8401-9C37-FE18-620CBB0E67BA}"/>
              </a:ext>
            </a:extLst>
          </p:cNvPr>
          <p:cNvPicPr>
            <a:picLocks noChangeAspect="1"/>
          </p:cNvPicPr>
          <p:nvPr/>
        </p:nvPicPr>
        <p:blipFill>
          <a:blip r:embed="rId2"/>
          <a:stretch>
            <a:fillRect/>
          </a:stretch>
        </p:blipFill>
        <p:spPr>
          <a:xfrm>
            <a:off x="5715000" y="423863"/>
            <a:ext cx="6477000" cy="6429375"/>
          </a:xfrm>
          <a:prstGeom prst="rect">
            <a:avLst/>
          </a:prstGeom>
        </p:spPr>
      </p:pic>
      <p:sp>
        <p:nvSpPr>
          <p:cNvPr id="8" name="TextBox 5">
            <a:extLst>
              <a:ext uri="{FF2B5EF4-FFF2-40B4-BE49-F238E27FC236}">
                <a16:creationId xmlns:a16="http://schemas.microsoft.com/office/drawing/2014/main" id="{396DFDB4-62D8-103F-CE84-58E06EBBE9F6}"/>
              </a:ext>
            </a:extLst>
          </p:cNvPr>
          <p:cNvSpPr txBox="1"/>
          <p:nvPr/>
        </p:nvSpPr>
        <p:spPr>
          <a:xfrm>
            <a:off x="2284408" y="5250417"/>
            <a:ext cx="4767942" cy="1200329"/>
          </a:xfrm>
          <a:prstGeom prst="rect">
            <a:avLst/>
          </a:prstGeom>
          <a:solidFill>
            <a:schemeClr val="tx2">
              <a:lumMod val="25000"/>
              <a:lumOff val="75000"/>
            </a:schemeClr>
          </a:solidFill>
          <a:ln>
            <a:prstDash val="sysDash"/>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r>
              <a:rPr lang="en-US"/>
              <a:t>The moral execution of data management in the EU migration management and its contribution to Sustainable Development Goals (SDG) 10 and 16.</a:t>
            </a:r>
          </a:p>
        </p:txBody>
      </p:sp>
      <p:pic>
        <p:nvPicPr>
          <p:cNvPr id="9" name="Picture 8" descr="A black shield with a black background&#10;&#10;AI-generated content may be incorrect.">
            <a:extLst>
              <a:ext uri="{FF2B5EF4-FFF2-40B4-BE49-F238E27FC236}">
                <a16:creationId xmlns:a16="http://schemas.microsoft.com/office/drawing/2014/main" id="{727882B7-E586-5379-D25C-380E5B0D891E}"/>
              </a:ext>
            </a:extLst>
          </p:cNvPr>
          <p:cNvPicPr>
            <a:picLocks noChangeAspect="1"/>
          </p:cNvPicPr>
          <p:nvPr/>
        </p:nvPicPr>
        <p:blipFill>
          <a:blip r:embed="rId3"/>
          <a:stretch>
            <a:fillRect/>
          </a:stretch>
        </p:blipFill>
        <p:spPr>
          <a:xfrm>
            <a:off x="2819400" y="657225"/>
            <a:ext cx="695325" cy="647700"/>
          </a:xfrm>
          <a:prstGeom prst="rect">
            <a:avLst/>
          </a:prstGeom>
        </p:spPr>
      </p:pic>
    </p:spTree>
    <p:extLst>
      <p:ext uri="{BB962C8B-B14F-4D97-AF65-F5344CB8AC3E}">
        <p14:creationId xmlns:p14="http://schemas.microsoft.com/office/powerpoint/2010/main" val="2992518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4E33-DE06-3F14-F696-899A561EDA1D}"/>
              </a:ext>
            </a:extLst>
          </p:cNvPr>
          <p:cNvSpPr>
            <a:spLocks noGrp="1"/>
          </p:cNvSpPr>
          <p:nvPr>
            <p:ph type="title"/>
          </p:nvPr>
        </p:nvSpPr>
        <p:spPr>
          <a:xfrm>
            <a:off x="409403" y="101474"/>
            <a:ext cx="12192000" cy="1325563"/>
          </a:xfrm>
        </p:spPr>
        <p:txBody>
          <a:bodyPr>
            <a:normAutofit/>
          </a:bodyPr>
          <a:lstStyle/>
          <a:p>
            <a:r>
              <a:rPr lang="en-US" sz="4100" b="1">
                <a:solidFill>
                  <a:schemeClr val="tx2"/>
                </a:solidFill>
              </a:rPr>
              <a:t>Regulatory Frameworks Vs Implementation Failures</a:t>
            </a:r>
          </a:p>
        </p:txBody>
      </p:sp>
      <p:sp>
        <p:nvSpPr>
          <p:cNvPr id="3" name="Content Placeholder 2">
            <a:extLst>
              <a:ext uri="{FF2B5EF4-FFF2-40B4-BE49-F238E27FC236}">
                <a16:creationId xmlns:a16="http://schemas.microsoft.com/office/drawing/2014/main" id="{5B54CB0B-8C07-B398-C246-26DB67D0BA49}"/>
              </a:ext>
            </a:extLst>
          </p:cNvPr>
          <p:cNvSpPr>
            <a:spLocks noGrp="1"/>
          </p:cNvSpPr>
          <p:nvPr>
            <p:ph sz="half" idx="1"/>
          </p:nvPr>
        </p:nvSpPr>
        <p:spPr>
          <a:xfrm>
            <a:off x="413658" y="1594529"/>
            <a:ext cx="5388428" cy="5156467"/>
          </a:xfrm>
          <a:ln w="38100">
            <a:solidFill>
              <a:schemeClr val="accent1"/>
            </a:solidFill>
          </a:ln>
        </p:spPr>
        <p:txBody>
          <a:bodyPr vert="horz" lIns="91440" tIns="45720" rIns="91440" bIns="45720" rtlCol="0" anchor="t">
            <a:normAutofit fontScale="25000" lnSpcReduction="20000"/>
          </a:bodyPr>
          <a:lstStyle/>
          <a:p>
            <a:pPr lvl="0" algn="ctr">
              <a:buNone/>
            </a:pPr>
            <a:r>
              <a:rPr lang="en-US" sz="8000" b="1" dirty="0"/>
              <a:t>Legal Foundation</a:t>
            </a:r>
            <a:endParaRPr lang="en-US" sz="7400" b="1" dirty="0"/>
          </a:p>
          <a:p>
            <a:pPr lvl="0" algn="just">
              <a:buNone/>
            </a:pPr>
            <a:r>
              <a:rPr lang="en-US" sz="5600" b="1" dirty="0"/>
              <a:t>GDPR</a:t>
            </a:r>
            <a:endParaRPr lang="en-US" sz="5600" dirty="0"/>
          </a:p>
          <a:p>
            <a:pPr lvl="0" algn="just"/>
            <a:r>
              <a:rPr lang="en-US" sz="5600" dirty="0"/>
              <a:t>The center of the data governance, which provides the principles of lawful processing and high-quality accountability.</a:t>
            </a:r>
          </a:p>
          <a:p>
            <a:pPr marL="0" lvl="0" indent="0" algn="just">
              <a:buNone/>
            </a:pPr>
            <a:r>
              <a:rPr lang="en-US" sz="5600" b="1" dirty="0"/>
              <a:t>EU Charter</a:t>
            </a:r>
            <a:endParaRPr lang="en-US" sz="5600" dirty="0"/>
          </a:p>
          <a:p>
            <a:pPr lvl="0" algn="just"/>
            <a:r>
              <a:rPr lang="en-US" sz="5600" dirty="0"/>
              <a:t>Officially identifies privacy and data protection as a basic human right and has incorporated them in the law of the continent.</a:t>
            </a:r>
          </a:p>
          <a:p>
            <a:pPr lvl="0" algn="just">
              <a:buNone/>
            </a:pPr>
            <a:r>
              <a:rPr lang="en-US" sz="5600" b="1" dirty="0"/>
              <a:t>AI Act</a:t>
            </a:r>
            <a:endParaRPr lang="en-US" sz="5600" dirty="0"/>
          </a:p>
          <a:p>
            <a:pPr lvl="0" algn="just"/>
            <a:r>
              <a:rPr lang="en-US" sz="5600" dirty="0"/>
              <a:t>Broadens the protection against the high-risk technologies used in the migration control, and thus, it adds to the pre-existing protection.</a:t>
            </a:r>
          </a:p>
          <a:p>
            <a:pPr lvl="0" algn="just"/>
            <a:endParaRPr lang="en-US" sz="4300" b="1" dirty="0"/>
          </a:p>
          <a:p>
            <a:pPr marL="0" lvl="0" indent="0" algn="ctr">
              <a:buNone/>
            </a:pPr>
            <a:r>
              <a:rPr lang="en-US" sz="8000" b="1" dirty="0"/>
              <a:t>Independent oversight bodies</a:t>
            </a:r>
          </a:p>
          <a:p>
            <a:pPr marL="0" lvl="0" indent="0" algn="just">
              <a:buNone/>
            </a:pPr>
            <a:r>
              <a:rPr lang="en-US" sz="5600" b="1" dirty="0"/>
              <a:t>EDPS (European Data Protection Supervisor)</a:t>
            </a:r>
          </a:p>
          <a:p>
            <a:pPr algn="just"/>
            <a:r>
              <a:rPr lang="en-US" sz="5600" dirty="0"/>
              <a:t>Monitors the processing of personal information by the EU institutions, bodies, offices and agencies, as well as having the power of enforcement and expert advice.</a:t>
            </a:r>
          </a:p>
          <a:p>
            <a:pPr marL="0" indent="0" algn="just">
              <a:buNone/>
            </a:pPr>
            <a:r>
              <a:rPr lang="en-US" sz="5600" b="1" dirty="0"/>
              <a:t>EU-LISA (European Union Law Information Service)</a:t>
            </a:r>
          </a:p>
          <a:p>
            <a:pPr algn="just"/>
            <a:r>
              <a:rPr lang="en-US" sz="5600" dirty="0"/>
              <a:t>The management of the operational part of the IT systems pertaining to freedom, security and justice, such as Eurodac, EES, and ETIAS, and protecting the data integrity and security is handled by European Union Law Information Service.</a:t>
            </a:r>
          </a:p>
        </p:txBody>
      </p:sp>
      <p:sp>
        <p:nvSpPr>
          <p:cNvPr id="4" name="Content Placeholder 3">
            <a:extLst>
              <a:ext uri="{FF2B5EF4-FFF2-40B4-BE49-F238E27FC236}">
                <a16:creationId xmlns:a16="http://schemas.microsoft.com/office/drawing/2014/main" id="{89972B53-7CE1-4F1B-F78A-83771EC35140}"/>
              </a:ext>
            </a:extLst>
          </p:cNvPr>
          <p:cNvSpPr>
            <a:spLocks noGrp="1"/>
          </p:cNvSpPr>
          <p:nvPr>
            <p:ph sz="half" idx="2"/>
          </p:nvPr>
        </p:nvSpPr>
        <p:spPr>
          <a:xfrm>
            <a:off x="6095999" y="1594529"/>
            <a:ext cx="5682343" cy="5156466"/>
          </a:xfrm>
          <a:ln w="38100">
            <a:solidFill>
              <a:schemeClr val="accent1"/>
            </a:solidFill>
          </a:ln>
        </p:spPr>
        <p:txBody>
          <a:bodyPr>
            <a:normAutofit fontScale="25000" lnSpcReduction="20000"/>
          </a:bodyPr>
          <a:lstStyle/>
          <a:p>
            <a:pPr marL="0" indent="0" algn="ctr">
              <a:buNone/>
            </a:pPr>
            <a:r>
              <a:rPr lang="en-US" sz="8000" b="1" dirty="0"/>
              <a:t>Current Facing Problems</a:t>
            </a:r>
          </a:p>
          <a:p>
            <a:pPr marL="0" lvl="0" indent="0">
              <a:buNone/>
            </a:pPr>
            <a:endParaRPr lang="en-US" sz="3000" b="1" dirty="0"/>
          </a:p>
          <a:p>
            <a:pPr marL="0" lvl="0" indent="0">
              <a:buNone/>
            </a:pPr>
            <a:r>
              <a:rPr lang="en-US" sz="5600" b="1" dirty="0"/>
              <a:t>Coerced Consent</a:t>
            </a:r>
          </a:p>
          <a:p>
            <a:r>
              <a:rPr lang="en-US" sz="5600" dirty="0"/>
              <a:t>Vulnerable groups are often usually coerced into providing their biometric data in order to get essentials such as food and shelter.</a:t>
            </a:r>
          </a:p>
          <a:p>
            <a:pPr marL="0" lvl="0" indent="0">
              <a:buNone/>
            </a:pPr>
            <a:r>
              <a:rPr lang="en-US" sz="5600" b="1" dirty="0"/>
              <a:t>Weak accountability</a:t>
            </a:r>
          </a:p>
          <a:p>
            <a:r>
              <a:rPr lang="en-US" sz="5600" dirty="0"/>
              <a:t>Lack of Data Protection Impact Assessments (DPIAs) in several EU migration structures (e.g., EURODAC, EES, ETIAS) is an example of regulatory gaps.</a:t>
            </a:r>
          </a:p>
          <a:p>
            <a:pPr>
              <a:buFont typeface="Wingdings" panose="05000000000000000000" pitchFamily="2" charset="2"/>
              <a:buChar char="Ø"/>
            </a:pPr>
            <a:r>
              <a:rPr lang="en-US" sz="5600" b="1" dirty="0"/>
              <a:t>EURODAC - </a:t>
            </a:r>
            <a:r>
              <a:rPr lang="en-US" sz="5600" dirty="0"/>
              <a:t>European Dactyloscopy System (Fingerprints of asylum applicants).</a:t>
            </a:r>
          </a:p>
          <a:p>
            <a:pPr lvl="0">
              <a:buFont typeface="Wingdings" panose="05000000000000000000" pitchFamily="2" charset="2"/>
              <a:buChar char="Ø"/>
            </a:pPr>
            <a:r>
              <a:rPr lang="en-US" sz="5600" b="1" dirty="0"/>
              <a:t>EES &amp; ETIAS - </a:t>
            </a:r>
            <a:r>
              <a:rPr lang="en-US" sz="5600" dirty="0"/>
              <a:t>Entry/Exit System and Travel Information and Authorization System (Border monitoring).</a:t>
            </a:r>
          </a:p>
          <a:p>
            <a:pPr lvl="0">
              <a:buFont typeface="Wingdings" panose="05000000000000000000" pitchFamily="2" charset="2"/>
              <a:buChar char="Ø"/>
            </a:pPr>
            <a:r>
              <a:rPr lang="en-US" sz="5600" b="1" dirty="0"/>
              <a:t>SIS &amp; VIS - </a:t>
            </a:r>
            <a:r>
              <a:rPr lang="en-US" sz="5600" dirty="0"/>
              <a:t>Schengen Information System and Visa Information System (Security and visa data).</a:t>
            </a:r>
          </a:p>
          <a:p>
            <a:pPr marL="0" lvl="0" indent="0">
              <a:buNone/>
            </a:pPr>
            <a:endParaRPr lang="en-US" sz="1600" dirty="0"/>
          </a:p>
          <a:p>
            <a:pPr marL="0" lvl="0" indent="0">
              <a:buNone/>
            </a:pPr>
            <a:r>
              <a:rPr lang="en-US" sz="5600" b="1" dirty="0"/>
              <a:t>Purpose Limitation</a:t>
            </a:r>
          </a:p>
          <a:p>
            <a:r>
              <a:rPr lang="en-US" sz="5600" dirty="0"/>
              <a:t>The data collected to support humanitarian efforts is later on used to serve an auxiliary purpose like deportation, or even to other security agencies as described in the EBSP proposal.</a:t>
            </a:r>
          </a:p>
          <a:p>
            <a:pPr marL="0" indent="0">
              <a:buNone/>
            </a:pPr>
            <a:r>
              <a:rPr lang="en-US" sz="5600" b="1" dirty="0"/>
              <a:t>Socio-technical failures</a:t>
            </a:r>
          </a:p>
          <a:p>
            <a:r>
              <a:rPr lang="en-US" sz="5600" dirty="0"/>
              <a:t>The data recycling, lack of redress opportunities, and institutional trust destruction are relevant socio-technical gaps.</a:t>
            </a:r>
            <a:br>
              <a:rPr lang="en-US" sz="1600" b="1" dirty="0"/>
            </a:br>
            <a:endParaRPr lang="en-US" sz="1600" dirty="0"/>
          </a:p>
          <a:p>
            <a:pPr marL="0" indent="0">
              <a:buNone/>
            </a:pPr>
            <a:endParaRPr lang="en-US" sz="2400" dirty="0"/>
          </a:p>
          <a:p>
            <a:pPr marL="0" indent="0">
              <a:buNone/>
            </a:pPr>
            <a:endParaRPr lang="en-US" sz="2400" dirty="0"/>
          </a:p>
        </p:txBody>
      </p:sp>
      <p:sp>
        <p:nvSpPr>
          <p:cNvPr id="5" name="Rectangle: Rounded Corners 4">
            <a:extLst>
              <a:ext uri="{FF2B5EF4-FFF2-40B4-BE49-F238E27FC236}">
                <a16:creationId xmlns:a16="http://schemas.microsoft.com/office/drawing/2014/main" id="{D802F375-4171-4158-AFE7-30DEFDF895CA}"/>
              </a:ext>
            </a:extLst>
          </p:cNvPr>
          <p:cNvSpPr/>
          <p:nvPr/>
        </p:nvSpPr>
        <p:spPr>
          <a:xfrm>
            <a:off x="282164" y="358484"/>
            <a:ext cx="11819045" cy="81751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Tree>
    <p:extLst>
      <p:ext uri="{BB962C8B-B14F-4D97-AF65-F5344CB8AC3E}">
        <p14:creationId xmlns:p14="http://schemas.microsoft.com/office/powerpoint/2010/main" val="179185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1928-7C91-F0F6-52A9-D40E8780B2F7}"/>
              </a:ext>
            </a:extLst>
          </p:cNvPr>
          <p:cNvSpPr>
            <a:spLocks noGrp="1"/>
          </p:cNvSpPr>
          <p:nvPr>
            <p:ph type="title"/>
          </p:nvPr>
        </p:nvSpPr>
        <p:spPr>
          <a:xfrm>
            <a:off x="933449" y="90336"/>
            <a:ext cx="10515600" cy="1325563"/>
          </a:xfrm>
          <a:solidFill>
            <a:schemeClr val="tx2">
              <a:lumMod val="10000"/>
              <a:lumOff val="90000"/>
            </a:schemeClr>
          </a:solidFill>
        </p:spPr>
        <p:txBody>
          <a:bodyPr/>
          <a:lstStyle/>
          <a:p>
            <a:pPr algn="ctr"/>
            <a:r>
              <a:rPr lang="en-US" b="1">
                <a:solidFill>
                  <a:schemeClr val="tx2"/>
                </a:solidFill>
              </a:rPr>
              <a:t>Strengthening </a:t>
            </a:r>
            <a:r>
              <a:rPr lang="en-US" b="1">
                <a:solidFill>
                  <a:schemeClr val="tx2"/>
                </a:solidFill>
                <a:latin typeface="+mn-lt"/>
              </a:rPr>
              <a:t>Governance</a:t>
            </a:r>
            <a:r>
              <a:rPr lang="en-US" b="1">
                <a:solidFill>
                  <a:schemeClr val="tx2"/>
                </a:solidFill>
              </a:rPr>
              <a:t> &amp; Sustainability</a:t>
            </a:r>
          </a:p>
        </p:txBody>
      </p:sp>
      <p:graphicFrame>
        <p:nvGraphicFramePr>
          <p:cNvPr id="8" name="Content Placeholder 6">
            <a:extLst>
              <a:ext uri="{FF2B5EF4-FFF2-40B4-BE49-F238E27FC236}">
                <a16:creationId xmlns:a16="http://schemas.microsoft.com/office/drawing/2014/main" id="{D68DEFBE-D611-30D1-A8DA-9D19F5D27329}"/>
              </a:ext>
            </a:extLst>
          </p:cNvPr>
          <p:cNvGraphicFramePr>
            <a:graphicFrameLocks/>
          </p:cNvGraphicFramePr>
          <p:nvPr>
            <p:extLst>
              <p:ext uri="{D42A27DB-BD31-4B8C-83A1-F6EECF244321}">
                <p14:modId xmlns:p14="http://schemas.microsoft.com/office/powerpoint/2010/main" val="969149143"/>
              </p:ext>
            </p:extLst>
          </p:nvPr>
        </p:nvGraphicFramePr>
        <p:xfrm>
          <a:off x="609599" y="1577044"/>
          <a:ext cx="10842171" cy="44124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D1E7DA23-28C6-8E49-FADC-04D2589D13DD}"/>
              </a:ext>
            </a:extLst>
          </p:cNvPr>
          <p:cNvSpPr txBox="1"/>
          <p:nvPr/>
        </p:nvSpPr>
        <p:spPr>
          <a:xfrm>
            <a:off x="827314" y="1837556"/>
            <a:ext cx="2764971" cy="1600438"/>
          </a:xfrm>
          <a:prstGeom prst="rect">
            <a:avLst/>
          </a:prstGeom>
          <a:noFill/>
        </p:spPr>
        <p:txBody>
          <a:bodyPr wrap="square" lIns="91440" tIns="45720" rIns="91440" bIns="45720" rtlCol="0" anchor="t">
            <a:spAutoFit/>
          </a:bodyPr>
          <a:lstStyle/>
          <a:p>
            <a:pPr marL="285750" lvl="0" indent="-285750" algn="just">
              <a:buFont typeface="Arial" panose="020B0604020202020204" pitchFamily="34" charset="0"/>
              <a:buChar char="•"/>
            </a:pPr>
            <a:r>
              <a:rPr lang="en-US" sz="1400"/>
              <a:t>Strengthen rules and regulations on biometric information, face recognition, and analytics.</a:t>
            </a:r>
          </a:p>
          <a:p>
            <a:pPr marL="285750" lvl="0" indent="-285750" algn="just">
              <a:buFont typeface="Arial" panose="020B0604020202020204" pitchFamily="34" charset="0"/>
              <a:buChar char="•"/>
            </a:pPr>
            <a:r>
              <a:rPr lang="en-US" sz="1400"/>
              <a:t>Trace data in the life cycle and perform independent audits.</a:t>
            </a:r>
          </a:p>
        </p:txBody>
      </p:sp>
      <p:sp>
        <p:nvSpPr>
          <p:cNvPr id="11" name="TextBox 10">
            <a:extLst>
              <a:ext uri="{FF2B5EF4-FFF2-40B4-BE49-F238E27FC236}">
                <a16:creationId xmlns:a16="http://schemas.microsoft.com/office/drawing/2014/main" id="{29B84F3D-3E77-4BEB-E06E-661E3AE1878F}"/>
              </a:ext>
            </a:extLst>
          </p:cNvPr>
          <p:cNvSpPr txBox="1"/>
          <p:nvPr/>
        </p:nvSpPr>
        <p:spPr>
          <a:xfrm>
            <a:off x="827314" y="4138095"/>
            <a:ext cx="2764971" cy="2031325"/>
          </a:xfrm>
          <a:prstGeom prst="rect">
            <a:avLst/>
          </a:prstGeom>
          <a:noFill/>
        </p:spPr>
        <p:txBody>
          <a:bodyPr wrap="square" rtlCol="0">
            <a:spAutoFit/>
          </a:bodyPr>
          <a:lstStyle/>
          <a:p>
            <a:pPr marL="285750" lvl="0" indent="-285750">
              <a:buFont typeface="Arial" panose="020B0604020202020204" pitchFamily="34" charset="0"/>
              <a:buChar char="•"/>
            </a:pPr>
            <a:r>
              <a:rPr lang="en-US" sz="1400"/>
              <a:t>Implement Data Governance Council &amp; Data Stewards</a:t>
            </a:r>
          </a:p>
          <a:p>
            <a:pPr marL="285750" lvl="0" indent="-285750">
              <a:buFont typeface="Arial" panose="020B0604020202020204" pitchFamily="34" charset="0"/>
              <a:buChar char="•"/>
            </a:pPr>
            <a:r>
              <a:rPr lang="en-US" sz="1400"/>
              <a:t>The collection of data, throughout its lifetime, has to be carefully recorded.</a:t>
            </a:r>
          </a:p>
          <a:p>
            <a:pPr marL="285750" lvl="0" indent="-285750">
              <a:buFont typeface="Arial" panose="020B0604020202020204" pitchFamily="34" charset="0"/>
              <a:buChar char="•"/>
            </a:pPr>
            <a:r>
              <a:rPr lang="en-US" sz="1400"/>
              <a:t>Use a RACI matrix to define the flows of Responsibility, Accountability, Consultation, and Information.</a:t>
            </a:r>
          </a:p>
        </p:txBody>
      </p:sp>
      <p:sp>
        <p:nvSpPr>
          <p:cNvPr id="12" name="TextBox 11">
            <a:extLst>
              <a:ext uri="{FF2B5EF4-FFF2-40B4-BE49-F238E27FC236}">
                <a16:creationId xmlns:a16="http://schemas.microsoft.com/office/drawing/2014/main" id="{AE8391A6-E626-9AD2-AA16-4FBEE56B8677}"/>
              </a:ext>
            </a:extLst>
          </p:cNvPr>
          <p:cNvSpPr txBox="1"/>
          <p:nvPr/>
        </p:nvSpPr>
        <p:spPr>
          <a:xfrm>
            <a:off x="8142518" y="1836723"/>
            <a:ext cx="3211282" cy="2031325"/>
          </a:xfrm>
          <a:prstGeom prst="rect">
            <a:avLst/>
          </a:prstGeom>
          <a:solidFill>
            <a:schemeClr val="tx2">
              <a:lumMod val="10000"/>
              <a:lumOff val="90000"/>
            </a:schemeClr>
          </a:solidFill>
        </p:spPr>
        <p:txBody>
          <a:bodyPr wrap="square" rtlCol="0">
            <a:spAutoFit/>
          </a:bodyPr>
          <a:lstStyle/>
          <a:p>
            <a:pPr marL="285750" lvl="0" indent="-285750" algn="just">
              <a:buFont typeface="Arial" panose="020B0604020202020204" pitchFamily="34" charset="0"/>
              <a:buChar char="•"/>
            </a:pPr>
            <a:r>
              <a:rPr lang="en-US" sz="1400"/>
              <a:t>Involve the human-rights non-governmental organizations, the migrant's advocacy groups, and international organizations like the UNHCR.</a:t>
            </a:r>
          </a:p>
          <a:p>
            <a:pPr marL="285750" lvl="0" indent="-285750" algn="just">
              <a:buFont typeface="Arial" panose="020B0604020202020204" pitchFamily="34" charset="0"/>
              <a:buChar char="•"/>
            </a:pPr>
            <a:r>
              <a:rPr lang="en-US" sz="1400"/>
              <a:t>Make sure that an audit by the European Data Protection Supervisor (EDPS) and EU-LISA is multi-tiered.</a:t>
            </a:r>
          </a:p>
        </p:txBody>
      </p:sp>
      <p:sp>
        <p:nvSpPr>
          <p:cNvPr id="13" name="TextBox 12">
            <a:extLst>
              <a:ext uri="{FF2B5EF4-FFF2-40B4-BE49-F238E27FC236}">
                <a16:creationId xmlns:a16="http://schemas.microsoft.com/office/drawing/2014/main" id="{03DDF469-CA9E-6017-BFC6-65C9D878E64E}"/>
              </a:ext>
            </a:extLst>
          </p:cNvPr>
          <p:cNvSpPr txBox="1"/>
          <p:nvPr/>
        </p:nvSpPr>
        <p:spPr>
          <a:xfrm>
            <a:off x="8142517" y="4217881"/>
            <a:ext cx="2982684" cy="2031325"/>
          </a:xfrm>
          <a:prstGeom prst="rect">
            <a:avLst/>
          </a:prstGeom>
          <a:solidFill>
            <a:schemeClr val="tx2">
              <a:lumMod val="10000"/>
              <a:lumOff val="90000"/>
            </a:schemeClr>
          </a:solidFill>
        </p:spPr>
        <p:txBody>
          <a:bodyPr wrap="square" rtlCol="0">
            <a:spAutoFit/>
          </a:bodyPr>
          <a:lstStyle/>
          <a:p>
            <a:pPr marL="285750" lvl="0" indent="-285750" algn="just">
              <a:buFont typeface="Arial" panose="020B0604020202020204" pitchFamily="34" charset="0"/>
              <a:buChar char="•"/>
            </a:pPr>
            <a:r>
              <a:rPr lang="en-US" sz="1400" dirty="0">
                <a:ea typeface="Times New Roman" panose="02020603050405020304" pitchFamily="18" charset="0"/>
              </a:rPr>
              <a:t>I</a:t>
            </a:r>
            <a:r>
              <a:rPr lang="en-US" sz="1400" dirty="0">
                <a:effectLst/>
                <a:ea typeface="Times New Roman" panose="02020603050405020304" pitchFamily="18" charset="0"/>
              </a:rPr>
              <a:t>mplementation of Ethical Impact Assessments (EIAs) in conjunction with the conventional DPIAs </a:t>
            </a:r>
          </a:p>
          <a:p>
            <a:pPr marL="285750" lvl="0" indent="-285750" algn="just">
              <a:buFont typeface="Arial" panose="020B0604020202020204" pitchFamily="34" charset="0"/>
              <a:buChar char="•"/>
            </a:pPr>
            <a:r>
              <a:rPr lang="en-US" sz="1400" dirty="0">
                <a:effectLst/>
                <a:ea typeface="Times New Roman" panose="02020603050405020304" pitchFamily="18" charset="0"/>
              </a:rPr>
              <a:t>The main issues that DPIAs deal with are risk and legal compliance.</a:t>
            </a:r>
          </a:p>
          <a:p>
            <a:pPr marL="285750" lvl="0" indent="-285750" algn="just">
              <a:buFont typeface="Arial" panose="020B0604020202020204" pitchFamily="34" charset="0"/>
              <a:buChar char="•"/>
            </a:pPr>
            <a:r>
              <a:rPr lang="en-US" sz="1400" dirty="0">
                <a:effectLst/>
                <a:ea typeface="Times New Roman" panose="02020603050405020304" pitchFamily="18" charset="0"/>
              </a:rPr>
              <a:t>EIAs look deeper into the issues of ethics.</a:t>
            </a:r>
            <a:endParaRPr lang="en-US" sz="1400" dirty="0"/>
          </a:p>
        </p:txBody>
      </p:sp>
      <p:sp>
        <p:nvSpPr>
          <p:cNvPr id="3" name="Rectangle: Rounded Corners 2">
            <a:extLst>
              <a:ext uri="{FF2B5EF4-FFF2-40B4-BE49-F238E27FC236}">
                <a16:creationId xmlns:a16="http://schemas.microsoft.com/office/drawing/2014/main" id="{3B03CB0F-A83F-8500-B1F8-43D93006FEB7}"/>
              </a:ext>
            </a:extLst>
          </p:cNvPr>
          <p:cNvSpPr/>
          <p:nvPr/>
        </p:nvSpPr>
        <p:spPr>
          <a:xfrm>
            <a:off x="281727" y="346242"/>
            <a:ext cx="11819045" cy="81751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Tree>
    <p:extLst>
      <p:ext uri="{BB962C8B-B14F-4D97-AF65-F5344CB8AC3E}">
        <p14:creationId xmlns:p14="http://schemas.microsoft.com/office/powerpoint/2010/main" val="4163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63E07EF-8D11-A337-04B7-478C751F462A}"/>
              </a:ext>
            </a:extLst>
          </p:cNvPr>
          <p:cNvGrpSpPr/>
          <p:nvPr/>
        </p:nvGrpSpPr>
        <p:grpSpPr>
          <a:xfrm>
            <a:off x="39964" y="2320816"/>
            <a:ext cx="3329323" cy="2214283"/>
            <a:chOff x="1106127" y="434513"/>
            <a:chExt cx="9714271" cy="825909"/>
          </a:xfrm>
        </p:grpSpPr>
        <p:sp>
          <p:nvSpPr>
            <p:cNvPr id="3" name="Text 0">
              <a:extLst>
                <a:ext uri="{FF2B5EF4-FFF2-40B4-BE49-F238E27FC236}">
                  <a16:creationId xmlns:a16="http://schemas.microsoft.com/office/drawing/2014/main" id="{7B7EEB20-17A7-C367-868F-6240F4747175}"/>
                </a:ext>
              </a:extLst>
            </p:cNvPr>
            <p:cNvSpPr/>
            <p:nvPr/>
          </p:nvSpPr>
          <p:spPr>
            <a:xfrm>
              <a:off x="1268360" y="524898"/>
              <a:ext cx="9389807" cy="645141"/>
            </a:xfrm>
            <a:prstGeom prst="rect">
              <a:avLst/>
            </a:prstGeom>
            <a:noFill/>
            <a:ln/>
          </p:spPr>
          <p:txBody>
            <a:bodyPr wrap="square" lIns="0" tIns="0" rIns="0" bIns="0" rtlCol="0" anchor="t"/>
            <a:lstStyle/>
            <a:p>
              <a:pPr lvl="0" algn="ctr">
                <a:lnSpc>
                  <a:spcPts val="4625"/>
                </a:lnSpc>
                <a:defRPr/>
              </a:pPr>
              <a:r>
                <a:rPr lang="en-US" altLang="ko-KR" sz="3200" b="1">
                  <a:latin typeface="+mj-lt"/>
                </a:rPr>
                <a:t>Lessons from the Greek Data Protection Case</a:t>
              </a:r>
              <a:endParaRPr kumimoji="0" lang="en-US" sz="3200" b="1" i="0" u="none" strike="noStrike" kern="1200" cap="none" spc="0" normalizeH="0" baseline="0" noProof="0">
                <a:ln>
                  <a:noFill/>
                </a:ln>
                <a:solidFill>
                  <a:schemeClr val="tx2"/>
                </a:solidFill>
                <a:effectLst/>
                <a:uLnTx/>
                <a:uFillTx/>
                <a:latin typeface="+mj-lt"/>
                <a:ea typeface="+mn-ea"/>
                <a:cs typeface="+mn-cs"/>
              </a:endParaRPr>
            </a:p>
          </p:txBody>
        </p:sp>
        <p:sp>
          <p:nvSpPr>
            <p:cNvPr id="4" name="Rectangle: Rounded Corners 2">
              <a:extLst>
                <a:ext uri="{FF2B5EF4-FFF2-40B4-BE49-F238E27FC236}">
                  <a16:creationId xmlns:a16="http://schemas.microsoft.com/office/drawing/2014/main" id="{0996A64E-1DEA-ECB4-8589-9F5EDD599E8C}"/>
                </a:ext>
              </a:extLst>
            </p:cNvPr>
            <p:cNvSpPr/>
            <p:nvPr/>
          </p:nvSpPr>
          <p:spPr>
            <a:xfrm>
              <a:off x="1106127" y="434513"/>
              <a:ext cx="9714271" cy="82590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grpSp>
      <p:sp>
        <p:nvSpPr>
          <p:cNvPr id="7" name="Rectangle: Rounded Corners 2">
            <a:extLst>
              <a:ext uri="{FF2B5EF4-FFF2-40B4-BE49-F238E27FC236}">
                <a16:creationId xmlns:a16="http://schemas.microsoft.com/office/drawing/2014/main" id="{BD30EEDB-7095-C27C-7D10-63D914D7A1F9}"/>
              </a:ext>
            </a:extLst>
          </p:cNvPr>
          <p:cNvSpPr/>
          <p:nvPr/>
        </p:nvSpPr>
        <p:spPr>
          <a:xfrm>
            <a:off x="3659192" y="2552850"/>
            <a:ext cx="8462346" cy="1729639"/>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grpSp>
        <p:nvGrpSpPr>
          <p:cNvPr id="17" name="그룹 6">
            <a:extLst>
              <a:ext uri="{FF2B5EF4-FFF2-40B4-BE49-F238E27FC236}">
                <a16:creationId xmlns:a16="http://schemas.microsoft.com/office/drawing/2014/main" id="{62209C6F-E06A-7EDC-C308-1821F8B56921}"/>
              </a:ext>
            </a:extLst>
          </p:cNvPr>
          <p:cNvGrpSpPr/>
          <p:nvPr/>
        </p:nvGrpSpPr>
        <p:grpSpPr>
          <a:xfrm>
            <a:off x="39964" y="30988"/>
            <a:ext cx="3329323" cy="2125133"/>
            <a:chOff x="1106127" y="434513"/>
            <a:chExt cx="9714271" cy="825909"/>
          </a:xfrm>
        </p:grpSpPr>
        <p:sp>
          <p:nvSpPr>
            <p:cNvPr id="18" name="Text 0">
              <a:extLst>
                <a:ext uri="{FF2B5EF4-FFF2-40B4-BE49-F238E27FC236}">
                  <a16:creationId xmlns:a16="http://schemas.microsoft.com/office/drawing/2014/main" id="{BDF8818F-8F0D-ECC2-3CB2-55FE4FE5FBDB}"/>
                </a:ext>
              </a:extLst>
            </p:cNvPr>
            <p:cNvSpPr/>
            <p:nvPr/>
          </p:nvSpPr>
          <p:spPr>
            <a:xfrm>
              <a:off x="1268360" y="524898"/>
              <a:ext cx="9389807" cy="645141"/>
            </a:xfrm>
            <a:prstGeom prst="rect">
              <a:avLst/>
            </a:prstGeom>
            <a:noFill/>
            <a:ln/>
          </p:spPr>
          <p:txBody>
            <a:bodyPr wrap="square" lIns="0" tIns="0" rIns="0" bIns="0" rtlCol="0" anchor="t"/>
            <a:lstStyle/>
            <a:p>
              <a:pPr lvl="0" algn="ctr">
                <a:lnSpc>
                  <a:spcPts val="4625"/>
                </a:lnSpc>
                <a:defRPr/>
              </a:pPr>
              <a:r>
                <a:rPr lang="en-US" altLang="ko-KR" sz="3200" b="1"/>
                <a:t>Rising Use of Biometric and Personal Data</a:t>
              </a:r>
              <a:endParaRPr kumimoji="0" lang="en-US" sz="3200" b="1" i="0" u="none" strike="noStrike" kern="1200" cap="none" spc="0" normalizeH="0" baseline="0" noProof="0">
                <a:ln>
                  <a:noFill/>
                </a:ln>
                <a:solidFill>
                  <a:schemeClr val="tx2"/>
                </a:solidFill>
                <a:effectLst/>
                <a:uLnTx/>
                <a:uFillTx/>
                <a:ea typeface="+mn-ea"/>
                <a:cs typeface="+mn-cs"/>
              </a:endParaRPr>
            </a:p>
          </p:txBody>
        </p:sp>
        <p:sp>
          <p:nvSpPr>
            <p:cNvPr id="19" name="Rectangle: Rounded Corners 18">
              <a:extLst>
                <a:ext uri="{FF2B5EF4-FFF2-40B4-BE49-F238E27FC236}">
                  <a16:creationId xmlns:a16="http://schemas.microsoft.com/office/drawing/2014/main" id="{CE870B5C-1E2E-B0B5-8947-57BDC2C267AF}"/>
                </a:ext>
              </a:extLst>
            </p:cNvPr>
            <p:cNvSpPr/>
            <p:nvPr/>
          </p:nvSpPr>
          <p:spPr>
            <a:xfrm>
              <a:off x="1106127" y="434513"/>
              <a:ext cx="9714271" cy="82590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grpSp>
      <p:sp>
        <p:nvSpPr>
          <p:cNvPr id="20" name="Rectangle: Rounded Corners 2">
            <a:extLst>
              <a:ext uri="{FF2B5EF4-FFF2-40B4-BE49-F238E27FC236}">
                <a16:creationId xmlns:a16="http://schemas.microsoft.com/office/drawing/2014/main" id="{E7FDF7A6-8890-FD06-31F9-6025ACF947B5}"/>
              </a:ext>
            </a:extLst>
          </p:cNvPr>
          <p:cNvSpPr/>
          <p:nvPr/>
        </p:nvSpPr>
        <p:spPr>
          <a:xfrm>
            <a:off x="3659190" y="537984"/>
            <a:ext cx="2876031" cy="1170599"/>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21" name="Rectangle: Rounded Corners 2">
            <a:extLst>
              <a:ext uri="{FF2B5EF4-FFF2-40B4-BE49-F238E27FC236}">
                <a16:creationId xmlns:a16="http://schemas.microsoft.com/office/drawing/2014/main" id="{2ECC225C-F862-FD12-F9C4-A927A3C48051}"/>
              </a:ext>
            </a:extLst>
          </p:cNvPr>
          <p:cNvSpPr/>
          <p:nvPr/>
        </p:nvSpPr>
        <p:spPr>
          <a:xfrm>
            <a:off x="6853015" y="508254"/>
            <a:ext cx="2404200" cy="1170599"/>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22" name="Rectangle: Rounded Corners 2">
            <a:extLst>
              <a:ext uri="{FF2B5EF4-FFF2-40B4-BE49-F238E27FC236}">
                <a16:creationId xmlns:a16="http://schemas.microsoft.com/office/drawing/2014/main" id="{1987523C-F0AD-A60D-D6C8-B4193C147EE4}"/>
              </a:ext>
            </a:extLst>
          </p:cNvPr>
          <p:cNvSpPr/>
          <p:nvPr/>
        </p:nvSpPr>
        <p:spPr>
          <a:xfrm>
            <a:off x="9682811" y="508254"/>
            <a:ext cx="2413624" cy="1170599"/>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23" name="TextBox 22">
            <a:extLst>
              <a:ext uri="{FF2B5EF4-FFF2-40B4-BE49-F238E27FC236}">
                <a16:creationId xmlns:a16="http://schemas.microsoft.com/office/drawing/2014/main" id="{AFE7EBBD-104F-7AEC-966B-A77D48454BB6}"/>
              </a:ext>
            </a:extLst>
          </p:cNvPr>
          <p:cNvSpPr txBox="1"/>
          <p:nvPr/>
        </p:nvSpPr>
        <p:spPr>
          <a:xfrm>
            <a:off x="3632260" y="591261"/>
            <a:ext cx="3513820" cy="1015663"/>
          </a:xfrm>
          <a:prstGeom prst="rect">
            <a:avLst/>
          </a:prstGeom>
          <a:noFill/>
        </p:spPr>
        <p:txBody>
          <a:bodyPr wrap="square" lIns="91440" tIns="45720" rIns="91440" bIns="45720" rtlCol="0" anchor="t">
            <a:spAutoFit/>
          </a:bodyPr>
          <a:lstStyle/>
          <a:p>
            <a:r>
              <a:rPr lang="en-US" altLang="ko-KR" b="1">
                <a:ea typeface="맑은 고딕"/>
              </a:rPr>
              <a:t>Biometric systems</a:t>
            </a:r>
            <a:r>
              <a:rPr lang="en-US" altLang="ko-KR">
                <a:solidFill>
                  <a:schemeClr val="accent6"/>
                </a:solidFill>
                <a:ea typeface="맑은 고딕"/>
              </a:rPr>
              <a:t> </a:t>
            </a:r>
            <a:r>
              <a:rPr lang="en-US" altLang="ko-KR">
                <a:ea typeface="맑은 고딕"/>
              </a:rPr>
              <a:t>used for border control and refugee identification</a:t>
            </a:r>
            <a:r>
              <a:rPr lang="en-US" altLang="ko-KR" sz="2400">
                <a:ea typeface="맑은 고딕"/>
              </a:rPr>
              <a:t>.</a:t>
            </a:r>
            <a:endParaRPr lang="ko-KR" altLang="en-US" sz="2400">
              <a:ea typeface="맑은 고딕"/>
            </a:endParaRPr>
          </a:p>
        </p:txBody>
      </p:sp>
      <p:sp>
        <p:nvSpPr>
          <p:cNvPr id="24" name="TextBox 23">
            <a:extLst>
              <a:ext uri="{FF2B5EF4-FFF2-40B4-BE49-F238E27FC236}">
                <a16:creationId xmlns:a16="http://schemas.microsoft.com/office/drawing/2014/main" id="{E27634E1-EFF1-EF12-C880-B6DEF4E8E3C4}"/>
              </a:ext>
            </a:extLst>
          </p:cNvPr>
          <p:cNvSpPr txBox="1"/>
          <p:nvPr/>
        </p:nvSpPr>
        <p:spPr>
          <a:xfrm>
            <a:off x="6920979" y="508254"/>
            <a:ext cx="2641228" cy="1200329"/>
          </a:xfrm>
          <a:prstGeom prst="rect">
            <a:avLst/>
          </a:prstGeom>
          <a:noFill/>
        </p:spPr>
        <p:txBody>
          <a:bodyPr wrap="square" lIns="91440" tIns="45720" rIns="91440" bIns="45720" rtlCol="0" anchor="t">
            <a:spAutoFit/>
          </a:bodyPr>
          <a:lstStyle/>
          <a:p>
            <a:r>
              <a:rPr lang="en-US" altLang="ko-KR">
                <a:ea typeface="맑은 고딕"/>
              </a:rPr>
              <a:t>Increasing </a:t>
            </a:r>
            <a:r>
              <a:rPr lang="en-US" altLang="ko-KR" b="1">
                <a:ea typeface="맑은 고딕"/>
              </a:rPr>
              <a:t>data </a:t>
            </a:r>
          </a:p>
          <a:p>
            <a:r>
              <a:rPr lang="en-US" altLang="ko-KR" b="1">
                <a:ea typeface="맑은 고딕"/>
              </a:rPr>
              <a:t>sharing </a:t>
            </a:r>
            <a:r>
              <a:rPr lang="en-US" altLang="ko-KR">
                <a:ea typeface="맑은 고딕"/>
              </a:rPr>
              <a:t>between EU agencies and third countries.</a:t>
            </a:r>
            <a:endParaRPr lang="ko-KR" altLang="en-US">
              <a:ea typeface="맑은 고딕"/>
            </a:endParaRPr>
          </a:p>
        </p:txBody>
      </p:sp>
      <p:sp>
        <p:nvSpPr>
          <p:cNvPr id="25" name="TextBox 24">
            <a:extLst>
              <a:ext uri="{FF2B5EF4-FFF2-40B4-BE49-F238E27FC236}">
                <a16:creationId xmlns:a16="http://schemas.microsoft.com/office/drawing/2014/main" id="{4DD87117-361B-8C3D-B2FC-BCC174585FF9}"/>
              </a:ext>
            </a:extLst>
          </p:cNvPr>
          <p:cNvSpPr txBox="1"/>
          <p:nvPr/>
        </p:nvSpPr>
        <p:spPr>
          <a:xfrm>
            <a:off x="9783667" y="603427"/>
            <a:ext cx="2274379" cy="923330"/>
          </a:xfrm>
          <a:prstGeom prst="rect">
            <a:avLst/>
          </a:prstGeom>
          <a:noFill/>
        </p:spPr>
        <p:txBody>
          <a:bodyPr wrap="square" lIns="91440" tIns="45720" rIns="91440" bIns="45720" rtlCol="0" anchor="t">
            <a:spAutoFit/>
          </a:bodyPr>
          <a:lstStyle/>
          <a:p>
            <a:r>
              <a:rPr lang="en-US" altLang="ko-KR">
                <a:ea typeface="맑은 고딕"/>
              </a:rPr>
              <a:t>Weak consent and </a:t>
            </a:r>
            <a:r>
              <a:rPr lang="en-US" altLang="ko-KR" b="1">
                <a:ea typeface="맑은 고딕"/>
              </a:rPr>
              <a:t>unclear governance</a:t>
            </a:r>
            <a:r>
              <a:rPr lang="en-US" altLang="ko-KR">
                <a:ea typeface="맑은 고딕"/>
              </a:rPr>
              <a:t> mechanisms.</a:t>
            </a:r>
            <a:endParaRPr lang="ko-KR" altLang="en-US">
              <a:ea typeface="맑은 고딕"/>
            </a:endParaRPr>
          </a:p>
        </p:txBody>
      </p:sp>
      <p:sp>
        <p:nvSpPr>
          <p:cNvPr id="34" name="Rectangle: Rounded Corners 2">
            <a:extLst>
              <a:ext uri="{FF2B5EF4-FFF2-40B4-BE49-F238E27FC236}">
                <a16:creationId xmlns:a16="http://schemas.microsoft.com/office/drawing/2014/main" id="{4BD19AB4-F6C1-93F1-3EC9-4D6C958F1452}"/>
              </a:ext>
            </a:extLst>
          </p:cNvPr>
          <p:cNvSpPr/>
          <p:nvPr/>
        </p:nvSpPr>
        <p:spPr>
          <a:xfrm>
            <a:off x="3659191" y="4891599"/>
            <a:ext cx="8437244" cy="1714840"/>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35" name="TextBox 34">
            <a:extLst>
              <a:ext uri="{FF2B5EF4-FFF2-40B4-BE49-F238E27FC236}">
                <a16:creationId xmlns:a16="http://schemas.microsoft.com/office/drawing/2014/main" id="{14758255-A9B0-E86A-B71B-0C33AF333AFB}"/>
              </a:ext>
            </a:extLst>
          </p:cNvPr>
          <p:cNvSpPr txBox="1"/>
          <p:nvPr/>
        </p:nvSpPr>
        <p:spPr>
          <a:xfrm>
            <a:off x="3892179" y="5010355"/>
            <a:ext cx="6066503" cy="1477328"/>
          </a:xfrm>
          <a:prstGeom prst="rect">
            <a:avLst/>
          </a:prstGeom>
          <a:noFill/>
        </p:spPr>
        <p:txBody>
          <a:bodyPr wrap="square" rtlCol="0">
            <a:spAutoFit/>
          </a:bodyPr>
          <a:lstStyle/>
          <a:p>
            <a:pPr marL="285750" indent="-285750">
              <a:buFont typeface="Arial" panose="020B0604020202020204" pitchFamily="34" charset="0"/>
              <a:buChar char="•"/>
            </a:pPr>
            <a:r>
              <a:rPr lang="ko-KR" altLang="en-US"/>
              <a:t> </a:t>
            </a:r>
            <a:r>
              <a:rPr lang="en-US" altLang="ko-KR"/>
              <a:t>Disproportionate surveillance and discrimination risks.</a:t>
            </a:r>
          </a:p>
          <a:p>
            <a:endParaRPr lang="en-US" altLang="ko-KR"/>
          </a:p>
          <a:p>
            <a:pPr marL="285750" indent="-285750">
              <a:buFont typeface="Arial" panose="020B0604020202020204" pitchFamily="34" charset="0"/>
              <a:buChar char="•"/>
            </a:pPr>
            <a:r>
              <a:rPr lang="ko-KR" altLang="en-US"/>
              <a:t> </a:t>
            </a:r>
            <a:r>
              <a:rPr lang="en-US" altLang="ko-KR"/>
              <a:t>Violates humanitarian neutrality and fairness.</a:t>
            </a:r>
          </a:p>
          <a:p>
            <a:endParaRPr lang="en-US" altLang="ko-KR"/>
          </a:p>
          <a:p>
            <a:pPr marL="285750" indent="-285750">
              <a:buFont typeface="Arial" panose="020B0604020202020204" pitchFamily="34" charset="0"/>
              <a:buChar char="•"/>
            </a:pPr>
            <a:r>
              <a:rPr lang="ko-KR" altLang="en-US"/>
              <a:t> </a:t>
            </a:r>
            <a:r>
              <a:rPr lang="en-US" altLang="ko-KR"/>
              <a:t>Weakens trust in public institutions.</a:t>
            </a:r>
          </a:p>
        </p:txBody>
      </p:sp>
      <p:sp>
        <p:nvSpPr>
          <p:cNvPr id="37" name="TextBox 36">
            <a:extLst>
              <a:ext uri="{FF2B5EF4-FFF2-40B4-BE49-F238E27FC236}">
                <a16:creationId xmlns:a16="http://schemas.microsoft.com/office/drawing/2014/main" id="{20B7EB09-97F8-2800-C1AD-D58FA50FC432}"/>
              </a:ext>
            </a:extLst>
          </p:cNvPr>
          <p:cNvSpPr txBox="1"/>
          <p:nvPr/>
        </p:nvSpPr>
        <p:spPr>
          <a:xfrm>
            <a:off x="300619" y="4891599"/>
            <a:ext cx="2808011" cy="2062103"/>
          </a:xfrm>
          <a:prstGeom prst="rect">
            <a:avLst/>
          </a:prstGeom>
          <a:noFill/>
        </p:spPr>
        <p:txBody>
          <a:bodyPr wrap="square" rtlCol="0">
            <a:spAutoFit/>
          </a:bodyPr>
          <a:lstStyle/>
          <a:p>
            <a:pPr algn="ctr"/>
            <a:r>
              <a:rPr lang="en-US" altLang="ko-KR" sz="3200" b="1"/>
              <a:t>Impacts on Vulnerable Populations</a:t>
            </a:r>
          </a:p>
          <a:p>
            <a:pPr algn="ctr"/>
            <a:endParaRPr lang="ko-KR" altLang="en-US" sz="3200"/>
          </a:p>
        </p:txBody>
      </p:sp>
      <p:sp>
        <p:nvSpPr>
          <p:cNvPr id="39" name="Rectangle: Rounded Corners 2">
            <a:extLst>
              <a:ext uri="{FF2B5EF4-FFF2-40B4-BE49-F238E27FC236}">
                <a16:creationId xmlns:a16="http://schemas.microsoft.com/office/drawing/2014/main" id="{6E17FE20-37A1-041D-BD6B-CBEDB40CEB75}"/>
              </a:ext>
            </a:extLst>
          </p:cNvPr>
          <p:cNvSpPr/>
          <p:nvPr/>
        </p:nvSpPr>
        <p:spPr>
          <a:xfrm>
            <a:off x="39964" y="4625621"/>
            <a:ext cx="3329323" cy="2201391"/>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42" name="Freeform 4">
            <a:extLst>
              <a:ext uri="{FF2B5EF4-FFF2-40B4-BE49-F238E27FC236}">
                <a16:creationId xmlns:a16="http://schemas.microsoft.com/office/drawing/2014/main" id="{C5BDB0CF-9980-9F67-84C6-47CC2E3F573C}"/>
              </a:ext>
            </a:extLst>
          </p:cNvPr>
          <p:cNvSpPr/>
          <p:nvPr/>
        </p:nvSpPr>
        <p:spPr>
          <a:xfrm>
            <a:off x="10361006" y="2868942"/>
            <a:ext cx="1527544" cy="1118030"/>
          </a:xfrm>
          <a:custGeom>
            <a:avLst/>
            <a:gdLst/>
            <a:ahLst/>
            <a:cxnLst/>
            <a:rect l="l" t="t" r="r" b="b"/>
            <a:pathLst>
              <a:path w="3097244" h="2387694">
                <a:moveTo>
                  <a:pt x="0" y="0"/>
                </a:moveTo>
                <a:lnTo>
                  <a:pt x="3097244" y="0"/>
                </a:lnTo>
                <a:lnTo>
                  <a:pt x="3097244" y="2387693"/>
                </a:lnTo>
                <a:lnTo>
                  <a:pt x="0" y="23876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ZA"/>
          </a:p>
        </p:txBody>
      </p:sp>
      <p:sp>
        <p:nvSpPr>
          <p:cNvPr id="6" name="TextBox 5">
            <a:extLst>
              <a:ext uri="{FF2B5EF4-FFF2-40B4-BE49-F238E27FC236}">
                <a16:creationId xmlns:a16="http://schemas.microsoft.com/office/drawing/2014/main" id="{C75E5D4D-E731-1475-0A66-B223A00E9AE3}"/>
              </a:ext>
            </a:extLst>
          </p:cNvPr>
          <p:cNvSpPr txBox="1"/>
          <p:nvPr/>
        </p:nvSpPr>
        <p:spPr>
          <a:xfrm>
            <a:off x="3888828" y="2684517"/>
            <a:ext cx="668282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345" indent="-347345" algn="l" rtl="0">
              <a:buFont typeface="Arial"/>
              <a:buChar char="•"/>
            </a:pPr>
            <a:r>
              <a:rPr lang="en-US"/>
              <a:t>Greek authorities failed to safeguard asylum seekers data.</a:t>
            </a:r>
          </a:p>
          <a:p>
            <a:pPr marL="0" indent="0" algn="l" rtl="0"/>
            <a:endParaRPr lang="en-US"/>
          </a:p>
          <a:p>
            <a:pPr marL="347345" indent="-347345" algn="l" rtl="0">
              <a:buFont typeface="Arial"/>
              <a:buChar char="•"/>
            </a:pPr>
            <a:r>
              <a:rPr lang="en-US"/>
              <a:t> Violation of GDPR principles and lack of oversight.</a:t>
            </a:r>
          </a:p>
          <a:p>
            <a:pPr marL="0" indent="0" algn="l" rtl="0"/>
            <a:endParaRPr lang="en-US"/>
          </a:p>
          <a:p>
            <a:pPr marL="347345" indent="-347345" algn="l" rtl="0">
              <a:buFont typeface="Arial"/>
              <a:buChar char="•"/>
            </a:pPr>
            <a:r>
              <a:rPr lang="en-US"/>
              <a:t>Highlighted ethical and institutional weaknesses.</a:t>
            </a:r>
          </a:p>
          <a:p>
            <a:pPr algn="ctr"/>
            <a:endParaRPr lang="en-US"/>
          </a:p>
        </p:txBody>
      </p:sp>
    </p:spTree>
    <p:extLst>
      <p:ext uri="{BB962C8B-B14F-4D97-AF65-F5344CB8AC3E}">
        <p14:creationId xmlns:p14="http://schemas.microsoft.com/office/powerpoint/2010/main" val="788548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D96A04D3-A879-1DD7-9B1D-3EA5FC8F7196}"/>
            </a:ext>
          </a:extLst>
        </p:cNvPr>
        <p:cNvGrpSpPr/>
        <p:nvPr/>
      </p:nvGrpSpPr>
      <p:grpSpPr>
        <a:xfrm>
          <a:off x="0" y="0"/>
          <a:ext cx="0" cy="0"/>
          <a:chOff x="0" y="0"/>
          <a:chExt cx="0" cy="0"/>
        </a:xfrm>
      </p:grpSpPr>
      <p:grpSp>
        <p:nvGrpSpPr>
          <p:cNvPr id="5" name="그룹 1">
            <a:extLst>
              <a:ext uri="{FF2B5EF4-FFF2-40B4-BE49-F238E27FC236}">
                <a16:creationId xmlns:a16="http://schemas.microsoft.com/office/drawing/2014/main" id="{F570C283-4DF5-D775-147A-209BC566687C}"/>
              </a:ext>
            </a:extLst>
          </p:cNvPr>
          <p:cNvGrpSpPr/>
          <p:nvPr/>
        </p:nvGrpSpPr>
        <p:grpSpPr>
          <a:xfrm>
            <a:off x="3062288" y="123817"/>
            <a:ext cx="6067424" cy="2111747"/>
            <a:chOff x="1106127" y="367084"/>
            <a:chExt cx="9714271" cy="1374533"/>
          </a:xfrm>
        </p:grpSpPr>
        <p:sp>
          <p:nvSpPr>
            <p:cNvPr id="8" name="Text 0">
              <a:extLst>
                <a:ext uri="{FF2B5EF4-FFF2-40B4-BE49-F238E27FC236}">
                  <a16:creationId xmlns:a16="http://schemas.microsoft.com/office/drawing/2014/main" id="{558E0C88-7B5B-B611-F72B-4546308661F1}"/>
                </a:ext>
              </a:extLst>
            </p:cNvPr>
            <p:cNvSpPr/>
            <p:nvPr/>
          </p:nvSpPr>
          <p:spPr>
            <a:xfrm>
              <a:off x="1291233" y="367084"/>
              <a:ext cx="9389806" cy="720980"/>
            </a:xfrm>
            <a:prstGeom prst="rect">
              <a:avLst/>
            </a:prstGeom>
            <a:noFill/>
            <a:ln/>
          </p:spPr>
          <p:txBody>
            <a:bodyPr wrap="square" lIns="0" tIns="0" rIns="0" bIns="0" rtlCol="0" anchor="t"/>
            <a:lstStyle/>
            <a:p>
              <a:pPr lvl="0" algn="ctr">
                <a:lnSpc>
                  <a:spcPts val="4625"/>
                </a:lnSpc>
                <a:defRPr/>
              </a:pPr>
              <a:endParaRPr lang="en-GB" altLang="ko-KR" sz="2800" b="1">
                <a:latin typeface="+mj-lt"/>
              </a:endParaRPr>
            </a:p>
            <a:p>
              <a:pPr lvl="0" algn="ctr">
                <a:lnSpc>
                  <a:spcPts val="4625"/>
                </a:lnSpc>
                <a:defRPr/>
              </a:pPr>
              <a:r>
                <a:rPr lang="en-GB" altLang="ko-KR" sz="2800" b="1">
                  <a:latin typeface="+mj-lt"/>
                </a:rPr>
                <a:t>Understanding Privacy and Protection: </a:t>
              </a:r>
            </a:p>
            <a:p>
              <a:pPr lvl="0" algn="ctr">
                <a:lnSpc>
                  <a:spcPts val="4625"/>
                </a:lnSpc>
                <a:defRPr/>
              </a:pPr>
              <a:r>
                <a:rPr lang="en-GB" altLang="ko-KR" sz="2800" b="1">
                  <a:latin typeface="+mj-lt"/>
                </a:rPr>
                <a:t>GDPR as a Safeguard</a:t>
              </a:r>
              <a:endParaRPr lang="en-US" altLang="ko-KR" sz="2800" b="1">
                <a:solidFill>
                  <a:schemeClr val="tx2"/>
                </a:solidFill>
                <a:latin typeface="+mj-lt"/>
              </a:endParaRPr>
            </a:p>
          </p:txBody>
        </p:sp>
        <p:sp>
          <p:nvSpPr>
            <p:cNvPr id="9" name="Rectangle: Rounded Corners 2">
              <a:extLst>
                <a:ext uri="{FF2B5EF4-FFF2-40B4-BE49-F238E27FC236}">
                  <a16:creationId xmlns:a16="http://schemas.microsoft.com/office/drawing/2014/main" id="{794FB311-19E9-CA3E-A72A-C79583B72760}"/>
                </a:ext>
              </a:extLst>
            </p:cNvPr>
            <p:cNvSpPr/>
            <p:nvPr/>
          </p:nvSpPr>
          <p:spPr>
            <a:xfrm>
              <a:off x="1106127" y="434512"/>
              <a:ext cx="9714271" cy="1307105"/>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grpSp>
      <p:sp>
        <p:nvSpPr>
          <p:cNvPr id="12" name="Rectangle: Rounded Corners 2">
            <a:extLst>
              <a:ext uri="{FF2B5EF4-FFF2-40B4-BE49-F238E27FC236}">
                <a16:creationId xmlns:a16="http://schemas.microsoft.com/office/drawing/2014/main" id="{2EE8A325-26B9-6223-E50A-90B82744D8C6}"/>
              </a:ext>
            </a:extLst>
          </p:cNvPr>
          <p:cNvSpPr/>
          <p:nvPr/>
        </p:nvSpPr>
        <p:spPr>
          <a:xfrm>
            <a:off x="6286751" y="2538675"/>
            <a:ext cx="3622093" cy="3866754"/>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15" name="TextBox 14">
            <a:extLst>
              <a:ext uri="{FF2B5EF4-FFF2-40B4-BE49-F238E27FC236}">
                <a16:creationId xmlns:a16="http://schemas.microsoft.com/office/drawing/2014/main" id="{1A2C8BE8-C85D-B4B6-57C7-24448CBEE906}"/>
              </a:ext>
            </a:extLst>
          </p:cNvPr>
          <p:cNvSpPr txBox="1"/>
          <p:nvPr/>
        </p:nvSpPr>
        <p:spPr>
          <a:xfrm>
            <a:off x="2049350" y="2845758"/>
            <a:ext cx="3670213" cy="4524315"/>
          </a:xfrm>
          <a:prstGeom prst="rect">
            <a:avLst/>
          </a:prstGeom>
          <a:noFill/>
        </p:spPr>
        <p:txBody>
          <a:bodyPr wrap="square" lIns="91440" tIns="45720" rIns="91440" bIns="45720" rtlCol="0" anchor="t">
            <a:spAutoFit/>
          </a:bodyPr>
          <a:lstStyle/>
          <a:p>
            <a:pPr marL="400050" indent="-400050" eaLnBrk="0" fontAlgn="base" hangingPunct="0">
              <a:spcBef>
                <a:spcPct val="0"/>
              </a:spcBef>
              <a:spcAft>
                <a:spcPct val="0"/>
              </a:spcAft>
              <a:buFont typeface="Aptos Display" panose="02110004020202020204"/>
              <a:buAutoNum type="romanUcPeriod"/>
            </a:pPr>
            <a:r>
              <a:rPr lang="en-US" altLang="ko-KR" dirty="0">
                <a:ea typeface="+mn-lt"/>
                <a:cs typeface="+mn-lt"/>
              </a:rPr>
              <a:t>Article 6 and 7 defines the lawfulness of personal data processing and consent requirements, respectively.</a:t>
            </a:r>
            <a:endParaRPr lang="ko-KR" altLang="en-US" dirty="0">
              <a:ea typeface="맑은 고딕"/>
              <a:cs typeface="+mn-lt"/>
            </a:endParaRPr>
          </a:p>
          <a:p>
            <a:pPr>
              <a:spcBef>
                <a:spcPct val="0"/>
              </a:spcBef>
              <a:spcAft>
                <a:spcPct val="0"/>
              </a:spcAft>
            </a:pPr>
            <a:r>
              <a:rPr lang="en-US" altLang="ko-KR" dirty="0">
                <a:ea typeface="+mn-lt"/>
                <a:cs typeface="+mn-lt"/>
              </a:rPr>
              <a:t>     Article</a:t>
            </a:r>
            <a:r>
              <a:rPr lang="ko-KR" altLang="en-US" dirty="0">
                <a:ea typeface="+mn-lt"/>
                <a:cs typeface="+mn-lt"/>
              </a:rPr>
              <a:t> </a:t>
            </a:r>
            <a:r>
              <a:rPr lang="en-US" altLang="ko-KR" dirty="0">
                <a:ea typeface="+mn-lt"/>
                <a:cs typeface="+mn-lt"/>
              </a:rPr>
              <a:t>9</a:t>
            </a:r>
            <a:r>
              <a:rPr lang="ko-KR" altLang="en-US" dirty="0">
                <a:ea typeface="+mn-lt"/>
                <a:cs typeface="+mn-lt"/>
              </a:rPr>
              <a:t> </a:t>
            </a:r>
            <a:r>
              <a:rPr lang="en-US" altLang="ko-KR" dirty="0">
                <a:ea typeface="+mn-lt"/>
                <a:cs typeface="+mn-lt"/>
              </a:rPr>
              <a:t>restricts</a:t>
            </a:r>
            <a:r>
              <a:rPr lang="ko-KR" altLang="en-US" dirty="0">
                <a:ea typeface="+mn-lt"/>
                <a:cs typeface="+mn-lt"/>
              </a:rPr>
              <a:t> </a:t>
            </a:r>
            <a:r>
              <a:rPr lang="en-US" altLang="ko-KR" dirty="0">
                <a:ea typeface="+mn-lt"/>
                <a:cs typeface="+mn-lt"/>
              </a:rPr>
              <a:t>processing</a:t>
            </a:r>
            <a:r>
              <a:rPr lang="ko-KR" altLang="en-US" dirty="0">
                <a:ea typeface="+mn-lt"/>
                <a:cs typeface="+mn-lt"/>
              </a:rPr>
              <a:t> of </a:t>
            </a:r>
            <a:r>
              <a:rPr lang="en-US" altLang="ko-KR">
                <a:ea typeface="+mn-lt"/>
                <a:cs typeface="+mn-lt"/>
              </a:rPr>
              <a:t>     </a:t>
            </a:r>
            <a:r>
              <a:rPr lang="en-US" altLang="ko-KR" dirty="0">
                <a:ea typeface="+mn-lt"/>
                <a:cs typeface="+mn-lt"/>
              </a:rPr>
              <a:t>biometric</a:t>
            </a:r>
            <a:r>
              <a:rPr lang="ko-KR" altLang="en-US" dirty="0">
                <a:ea typeface="+mn-lt"/>
                <a:cs typeface="+mn-lt"/>
              </a:rPr>
              <a:t> </a:t>
            </a:r>
            <a:r>
              <a:rPr lang="en-US" altLang="ko-KR" dirty="0">
                <a:ea typeface="+mn-lt"/>
                <a:cs typeface="+mn-lt"/>
              </a:rPr>
              <a:t>data.</a:t>
            </a:r>
            <a:r>
              <a:rPr lang="ko-KR" altLang="en-US" dirty="0">
                <a:ea typeface="+mn-lt"/>
                <a:cs typeface="+mn-lt"/>
              </a:rPr>
              <a:t> </a:t>
            </a:r>
            <a:r>
              <a:rPr lang="ko-KR" altLang="en-US" dirty="0">
                <a:latin typeface="Arial"/>
                <a:ea typeface="맑은 고딕"/>
                <a:cs typeface="Arial"/>
              </a:rPr>
              <a:t> </a:t>
            </a:r>
            <a:endParaRPr lang="ko-KR" altLang="en-US">
              <a:ea typeface="맑은 고딕"/>
            </a:endParaRPr>
          </a:p>
          <a:p>
            <a:pPr>
              <a:buAutoNum type="romanUcPeriod"/>
            </a:pPr>
            <a:endParaRPr lang="en-US" altLang="ko-KR">
              <a:ea typeface="+mn-lt"/>
              <a:cs typeface="+mn-lt"/>
            </a:endParaRPr>
          </a:p>
          <a:p>
            <a:pPr>
              <a:buAutoNum type="romanUcPeriod"/>
            </a:pPr>
            <a:r>
              <a:rPr lang="en-US" altLang="ko-KR" dirty="0">
                <a:ea typeface="+mn-lt"/>
                <a:cs typeface="+mn-lt"/>
              </a:rPr>
              <a:t> Requires</a:t>
            </a:r>
            <a:r>
              <a:rPr lang="ko-KR" altLang="en-US" dirty="0">
                <a:ea typeface="+mn-lt"/>
                <a:cs typeface="+mn-lt"/>
              </a:rPr>
              <a:t> </a:t>
            </a:r>
            <a:r>
              <a:rPr lang="en-US" altLang="ko-KR" dirty="0">
                <a:ea typeface="+mn-lt"/>
                <a:cs typeface="+mn-lt"/>
              </a:rPr>
              <a:t>explicit</a:t>
            </a:r>
            <a:r>
              <a:rPr lang="ko-KR" altLang="en-US" dirty="0">
                <a:ea typeface="+mn-lt"/>
                <a:cs typeface="+mn-lt"/>
              </a:rPr>
              <a:t> </a:t>
            </a:r>
            <a:r>
              <a:rPr lang="en-US" altLang="ko-KR" dirty="0">
                <a:ea typeface="+mn-lt"/>
                <a:cs typeface="+mn-lt"/>
              </a:rPr>
              <a:t>consent</a:t>
            </a:r>
            <a:r>
              <a:rPr lang="ko-KR" altLang="en-US" dirty="0">
                <a:ea typeface="+mn-lt"/>
                <a:cs typeface="+mn-lt"/>
              </a:rPr>
              <a:t> </a:t>
            </a:r>
            <a:r>
              <a:rPr lang="en-US" altLang="ko-KR" dirty="0">
                <a:ea typeface="+mn-lt"/>
                <a:cs typeface="+mn-lt"/>
              </a:rPr>
              <a:t>        and</a:t>
            </a:r>
            <a:r>
              <a:rPr lang="ko-KR" altLang="en-US" dirty="0">
                <a:ea typeface="+mn-lt"/>
                <a:cs typeface="+mn-lt"/>
              </a:rPr>
              <a:t> </a:t>
            </a:r>
            <a:r>
              <a:rPr lang="en-US" altLang="ko-KR" dirty="0">
                <a:ea typeface="+mn-lt"/>
                <a:cs typeface="+mn-lt"/>
              </a:rPr>
              <a:t>purpose</a:t>
            </a:r>
            <a:r>
              <a:rPr lang="ko-KR" altLang="en-US" dirty="0">
                <a:ea typeface="+mn-lt"/>
                <a:cs typeface="+mn-lt"/>
              </a:rPr>
              <a:t> </a:t>
            </a:r>
            <a:r>
              <a:rPr lang="en-US" altLang="ko-KR" dirty="0">
                <a:ea typeface="+mn-lt"/>
                <a:cs typeface="+mn-lt"/>
              </a:rPr>
              <a:t>limitation.</a:t>
            </a:r>
            <a:r>
              <a:rPr lang="ko-KR" altLang="en-US" dirty="0">
                <a:ea typeface="+mn-lt"/>
                <a:cs typeface="+mn-lt"/>
              </a:rPr>
              <a:t> </a:t>
            </a:r>
            <a:r>
              <a:rPr lang="ko-KR" altLang="en-US" dirty="0">
                <a:latin typeface="Arial"/>
                <a:ea typeface="맑은 고딕"/>
                <a:cs typeface="Arial"/>
              </a:rPr>
              <a:t> </a:t>
            </a:r>
            <a:endParaRPr lang="ko-KR" altLang="en-US" dirty="0">
              <a:latin typeface="Aptos" panose="02110004020202020204"/>
              <a:ea typeface="맑은 고딕" panose="020B0503020000020004" pitchFamily="34" charset="-127"/>
              <a:cs typeface="Arial"/>
            </a:endParaRPr>
          </a:p>
          <a:p>
            <a:endParaRPr lang="ko-KR" altLang="en-US">
              <a:latin typeface="Arial"/>
              <a:ea typeface="맑은 고딕"/>
              <a:cs typeface="Arial"/>
            </a:endParaRPr>
          </a:p>
          <a:p>
            <a:r>
              <a:rPr lang="ko-KR" altLang="en-US" dirty="0">
                <a:latin typeface="Arial"/>
                <a:ea typeface="맑은 고딕"/>
                <a:cs typeface="Arial"/>
              </a:rPr>
              <a:t>III. </a:t>
            </a:r>
            <a:r>
              <a:rPr lang="en-US" altLang="ko-KR" dirty="0">
                <a:ea typeface="+mn-lt"/>
                <a:cs typeface="+mn-lt"/>
              </a:rPr>
              <a:t>Public-interest</a:t>
            </a:r>
            <a:r>
              <a:rPr lang="ko-KR" altLang="en-US" dirty="0">
                <a:ea typeface="+mn-lt"/>
                <a:cs typeface="+mn-lt"/>
              </a:rPr>
              <a:t> </a:t>
            </a:r>
            <a:r>
              <a:rPr lang="en-US" altLang="ko-KR" dirty="0">
                <a:ea typeface="+mn-lt"/>
                <a:cs typeface="+mn-lt"/>
              </a:rPr>
              <a:t>exceptions</a:t>
            </a:r>
            <a:r>
              <a:rPr lang="ko-KR" altLang="en-US" dirty="0">
                <a:ea typeface="+mn-lt"/>
                <a:cs typeface="+mn-lt"/>
              </a:rPr>
              <a:t> </a:t>
            </a:r>
            <a:r>
              <a:rPr lang="en-US" altLang="ko-KR" dirty="0">
                <a:ea typeface="+mn-lt"/>
                <a:cs typeface="+mn-lt"/>
              </a:rPr>
              <a:t>   are</a:t>
            </a:r>
            <a:r>
              <a:rPr lang="ko-KR" altLang="en-US" dirty="0">
                <a:ea typeface="+mn-lt"/>
                <a:cs typeface="+mn-lt"/>
              </a:rPr>
              <a:t> </a:t>
            </a:r>
            <a:r>
              <a:rPr lang="en-US" altLang="ko-KR" dirty="0">
                <a:ea typeface="+mn-lt"/>
                <a:cs typeface="+mn-lt"/>
              </a:rPr>
              <a:t>often</a:t>
            </a:r>
            <a:r>
              <a:rPr lang="ko-KR" altLang="en-US" dirty="0">
                <a:ea typeface="+mn-lt"/>
                <a:cs typeface="+mn-lt"/>
              </a:rPr>
              <a:t> </a:t>
            </a:r>
            <a:r>
              <a:rPr lang="en-US" altLang="ko-KR" dirty="0">
                <a:ea typeface="+mn-lt"/>
                <a:cs typeface="+mn-lt"/>
              </a:rPr>
              <a:t>misused.</a:t>
            </a:r>
            <a:r>
              <a:rPr lang="ko-KR" altLang="en-US" dirty="0">
                <a:ea typeface="+mn-lt"/>
                <a:cs typeface="+mn-lt"/>
              </a:rPr>
              <a:t> </a:t>
            </a:r>
            <a:endParaRPr lang="ko-KR" altLang="en-US" dirty="0">
              <a:ea typeface="맑은 고딕"/>
            </a:endParaRPr>
          </a:p>
          <a:p>
            <a:endParaRPr lang="ko-KR" altLang="en-US">
              <a:ea typeface="맑은 고딕"/>
            </a:endParaRPr>
          </a:p>
          <a:p>
            <a:pPr marL="342900" indent="-342900">
              <a:buAutoNum type="romanUcPeriod"/>
            </a:pPr>
            <a:endParaRPr lang="ko-KR">
              <a:ea typeface="맑은 고딕"/>
            </a:endParaRPr>
          </a:p>
          <a:p>
            <a:pPr lvl="0">
              <a:buAutoNum type="romanUcPeriod"/>
            </a:pPr>
            <a:endParaRPr lang="ko-KR">
              <a:ea typeface="맑은 고딕" panose="020B0503020000020004" pitchFamily="34" charset="-127"/>
            </a:endParaRPr>
          </a:p>
          <a:p>
            <a:pPr marL="400050" indent="-400050">
              <a:spcBef>
                <a:spcPct val="0"/>
              </a:spcBef>
              <a:spcAft>
                <a:spcPct val="0"/>
              </a:spcAft>
              <a:buAutoNum type="romanUcPeriod"/>
            </a:pPr>
            <a:endParaRPr lang="ko-KR" altLang="ko-KR">
              <a:ea typeface="맑은 고딕"/>
            </a:endParaRPr>
          </a:p>
        </p:txBody>
      </p:sp>
      <p:sp>
        <p:nvSpPr>
          <p:cNvPr id="16" name="TextBox 15">
            <a:extLst>
              <a:ext uri="{FF2B5EF4-FFF2-40B4-BE49-F238E27FC236}">
                <a16:creationId xmlns:a16="http://schemas.microsoft.com/office/drawing/2014/main" id="{536EF047-3FAF-C9A7-796F-26112D94D7C4}"/>
              </a:ext>
            </a:extLst>
          </p:cNvPr>
          <p:cNvSpPr txBox="1"/>
          <p:nvPr/>
        </p:nvSpPr>
        <p:spPr>
          <a:xfrm>
            <a:off x="6470491" y="2843340"/>
            <a:ext cx="3519995" cy="2862322"/>
          </a:xfrm>
          <a:prstGeom prst="rect">
            <a:avLst/>
          </a:prstGeom>
          <a:noFill/>
        </p:spPr>
        <p:txBody>
          <a:bodyPr wrap="square" lIns="91440" tIns="45720" rIns="91440" bIns="45720" rtlCol="0" anchor="t">
            <a:spAutoFit/>
          </a:bodyPr>
          <a:lstStyle/>
          <a:p>
            <a:pPr eaLnBrk="0" fontAlgn="base" hangingPunct="0">
              <a:spcBef>
                <a:spcPct val="0"/>
              </a:spcBef>
              <a:spcAft>
                <a:spcPct val="0"/>
              </a:spcAft>
            </a:pPr>
            <a:r>
              <a:rPr lang="en-US">
                <a:ea typeface="+mn-lt"/>
                <a:cs typeface="+mn-lt"/>
              </a:rPr>
              <a:t>I. Fragmented data systems across agencies (Frontex, Europol, etc.)</a:t>
            </a:r>
            <a:r>
              <a:rPr lang="en-US">
                <a:latin typeface="Arial"/>
                <a:ea typeface="맑은 고딕"/>
                <a:cs typeface="Arial"/>
              </a:rPr>
              <a:t> </a:t>
            </a:r>
            <a:endParaRPr lang="en-US" altLang="ko-KR">
              <a:ea typeface="맑은 고딕"/>
            </a:endParaRPr>
          </a:p>
          <a:p>
            <a:pPr>
              <a:buAutoNum type="romanUcPeriod"/>
            </a:pPr>
            <a:endParaRPr lang="en-US"/>
          </a:p>
          <a:p>
            <a:r>
              <a:rPr lang="en-US">
                <a:ea typeface="+mn-lt"/>
                <a:cs typeface="+mn-lt"/>
              </a:rPr>
              <a:t>II.  Weak coordination and    inconsistent consent  standards</a:t>
            </a:r>
            <a:r>
              <a:rPr lang="en-US">
                <a:latin typeface="Arial"/>
                <a:ea typeface="맑은 고딕"/>
                <a:cs typeface="Arial"/>
              </a:rPr>
              <a:t> </a:t>
            </a:r>
            <a:endParaRPr lang="en-US"/>
          </a:p>
          <a:p>
            <a:pPr>
              <a:buAutoNum type="romanUcPeriod"/>
            </a:pPr>
            <a:endParaRPr lang="en-US"/>
          </a:p>
          <a:p>
            <a:r>
              <a:rPr lang="en-US">
                <a:ea typeface="+mn-lt"/>
                <a:cs typeface="+mn-lt"/>
              </a:rPr>
              <a:t>III. Limited monitoring on cross-border data sharing.</a:t>
            </a:r>
            <a:endParaRPr lang="en-US"/>
          </a:p>
          <a:p>
            <a:pPr marL="514350" lvl="0" indent="-514350">
              <a:spcBef>
                <a:spcPct val="0"/>
              </a:spcBef>
              <a:spcAft>
                <a:spcPct val="0"/>
              </a:spcAft>
              <a:buAutoNum type="romanUcPeriod"/>
            </a:pPr>
            <a:endParaRPr lang="en-US" altLang="ko-KR">
              <a:ea typeface="맑은 고딕"/>
            </a:endParaRPr>
          </a:p>
        </p:txBody>
      </p:sp>
      <p:sp>
        <p:nvSpPr>
          <p:cNvPr id="6" name="Rectangle: Rounded Corners 2">
            <a:extLst>
              <a:ext uri="{FF2B5EF4-FFF2-40B4-BE49-F238E27FC236}">
                <a16:creationId xmlns:a16="http://schemas.microsoft.com/office/drawing/2014/main" id="{C585B186-53B6-5410-7595-7246402C4124}"/>
              </a:ext>
            </a:extLst>
          </p:cNvPr>
          <p:cNvSpPr/>
          <p:nvPr/>
        </p:nvSpPr>
        <p:spPr>
          <a:xfrm>
            <a:off x="1851170" y="2538675"/>
            <a:ext cx="4016230" cy="3866754"/>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33" name="Freeform 2">
            <a:extLst>
              <a:ext uri="{FF2B5EF4-FFF2-40B4-BE49-F238E27FC236}">
                <a16:creationId xmlns:a16="http://schemas.microsoft.com/office/drawing/2014/main" id="{576D9FBD-4248-C477-5E64-3E3A9EBE81E3}"/>
              </a:ext>
            </a:extLst>
          </p:cNvPr>
          <p:cNvSpPr/>
          <p:nvPr/>
        </p:nvSpPr>
        <p:spPr>
          <a:xfrm>
            <a:off x="285967" y="188193"/>
            <a:ext cx="2305090" cy="2213558"/>
          </a:xfrm>
          <a:custGeom>
            <a:avLst/>
            <a:gdLst/>
            <a:ahLst/>
            <a:cxnLst/>
            <a:rect l="l" t="t" r="r" b="b"/>
            <a:pathLst>
              <a:path w="5105400" h="5238750">
                <a:moveTo>
                  <a:pt x="0" y="0"/>
                </a:moveTo>
                <a:lnTo>
                  <a:pt x="5105400" y="0"/>
                </a:lnTo>
                <a:lnTo>
                  <a:pt x="5105400" y="5238750"/>
                </a:lnTo>
                <a:lnTo>
                  <a:pt x="0" y="5238750"/>
                </a:lnTo>
                <a:lnTo>
                  <a:pt x="0" y="0"/>
                </a:lnTo>
                <a:close/>
              </a:path>
            </a:pathLst>
          </a:custGeom>
          <a:blipFill>
            <a:blip r:embed="rId2">
              <a:extLst>
                <a:ext uri="{96DAC541-7B7A-43D3-8B79-37D633B846F1}">
                  <asvg:svgBlip xmlns:asvg="http://schemas.microsoft.com/office/drawing/2016/SVG/main" r:embed="rId3"/>
                </a:ext>
              </a:extLst>
            </a:blip>
            <a:stretch>
              <a:fillRect l="-23" r="-23"/>
            </a:stretch>
          </a:blipFill>
          <a:ln>
            <a:noFill/>
          </a:ln>
        </p:spPr>
        <p:txBody>
          <a:bodyPr/>
          <a:lstStyle/>
          <a:p>
            <a:endParaRPr lang="en-ZA"/>
          </a:p>
        </p:txBody>
      </p:sp>
      <p:pic>
        <p:nvPicPr>
          <p:cNvPr id="35" name="Picture 34">
            <a:extLst>
              <a:ext uri="{FF2B5EF4-FFF2-40B4-BE49-F238E27FC236}">
                <a16:creationId xmlns:a16="http://schemas.microsoft.com/office/drawing/2014/main" id="{1F68EEDA-8F27-6EE1-0323-9B4C437CEE5E}"/>
              </a:ext>
            </a:extLst>
          </p:cNvPr>
          <p:cNvPicPr>
            <a:picLocks noChangeAspect="1"/>
          </p:cNvPicPr>
          <p:nvPr/>
        </p:nvPicPr>
        <p:blipFill>
          <a:blip r:embed="rId4"/>
          <a:stretch>
            <a:fillRect/>
          </a:stretch>
        </p:blipFill>
        <p:spPr>
          <a:xfrm rot="597504">
            <a:off x="10317610" y="4657047"/>
            <a:ext cx="1738286" cy="1725505"/>
          </a:xfrm>
          <a:prstGeom prst="rect">
            <a:avLst/>
          </a:prstGeom>
        </p:spPr>
      </p:pic>
    </p:spTree>
    <p:extLst>
      <p:ext uri="{BB962C8B-B14F-4D97-AF65-F5344CB8AC3E}">
        <p14:creationId xmlns:p14="http://schemas.microsoft.com/office/powerpoint/2010/main" val="1170721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DB7717F2-8F98-601D-F4EF-F19C4A21D0D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DBC2BA9-0835-DD47-9A0C-DD1536943557}"/>
              </a:ext>
            </a:extLst>
          </p:cNvPr>
          <p:cNvSpPr/>
          <p:nvPr/>
        </p:nvSpPr>
        <p:spPr>
          <a:xfrm>
            <a:off x="1789969" y="4094619"/>
            <a:ext cx="6468824" cy="1734511"/>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7" name="Rectangle: Rounded Corners 2">
            <a:extLst>
              <a:ext uri="{FF2B5EF4-FFF2-40B4-BE49-F238E27FC236}">
                <a16:creationId xmlns:a16="http://schemas.microsoft.com/office/drawing/2014/main" id="{13706D2B-B28D-3B92-DCFE-0180A79451E4}"/>
              </a:ext>
            </a:extLst>
          </p:cNvPr>
          <p:cNvSpPr/>
          <p:nvPr/>
        </p:nvSpPr>
        <p:spPr>
          <a:xfrm>
            <a:off x="130841" y="697507"/>
            <a:ext cx="3422226" cy="2214283"/>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10" name="Rectangle: Rounded Corners 9">
            <a:extLst>
              <a:ext uri="{FF2B5EF4-FFF2-40B4-BE49-F238E27FC236}">
                <a16:creationId xmlns:a16="http://schemas.microsoft.com/office/drawing/2014/main" id="{68C50662-8C8C-2D33-E7D5-4A10B9759AF0}"/>
              </a:ext>
            </a:extLst>
          </p:cNvPr>
          <p:cNvSpPr/>
          <p:nvPr/>
        </p:nvSpPr>
        <p:spPr>
          <a:xfrm>
            <a:off x="3792541" y="914555"/>
            <a:ext cx="8229359" cy="1800000"/>
          </a:xfrm>
          <a:prstGeom prst="roundRect">
            <a:avLst/>
          </a:prstGeom>
          <a:noFill/>
          <a:ln w="28575">
            <a:solidFill>
              <a:srgbClr val="1560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ZA"/>
          </a:p>
        </p:txBody>
      </p:sp>
      <p:sp>
        <p:nvSpPr>
          <p:cNvPr id="11" name="TextBox 10">
            <a:extLst>
              <a:ext uri="{FF2B5EF4-FFF2-40B4-BE49-F238E27FC236}">
                <a16:creationId xmlns:a16="http://schemas.microsoft.com/office/drawing/2014/main" id="{1B632BB3-341A-9124-FF77-AF2B48D1CFB8}"/>
              </a:ext>
            </a:extLst>
          </p:cNvPr>
          <p:cNvSpPr txBox="1"/>
          <p:nvPr/>
        </p:nvSpPr>
        <p:spPr>
          <a:xfrm>
            <a:off x="4025529" y="1075891"/>
            <a:ext cx="7865807"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ltLang="ko-KR">
                <a:ea typeface="맑은 고딕"/>
              </a:rPr>
              <a:t>Lack of </a:t>
            </a:r>
            <a:r>
              <a:rPr lang="en-US" altLang="ko-KR" b="1">
                <a:ea typeface="맑은 고딕"/>
              </a:rPr>
              <a:t>transparency</a:t>
            </a:r>
            <a:r>
              <a:rPr lang="en-US" altLang="ko-KR">
                <a:ea typeface="맑은 고딕"/>
              </a:rPr>
              <a:t> in data use and storage.</a:t>
            </a:r>
          </a:p>
          <a:p>
            <a:endParaRPr lang="en-US" altLang="ko-KR"/>
          </a:p>
          <a:p>
            <a:pPr marL="285750" indent="-285750">
              <a:buFont typeface="Arial" panose="020B0604020202020204" pitchFamily="34" charset="0"/>
              <a:buChar char="•"/>
            </a:pPr>
            <a:r>
              <a:rPr lang="en-GB" altLang="ko-KR">
                <a:ea typeface="맑은 고딕"/>
              </a:rPr>
              <a:t>Potential </a:t>
            </a:r>
            <a:r>
              <a:rPr lang="en-GB" altLang="ko-KR" b="1">
                <a:ea typeface="맑은 고딕"/>
              </a:rPr>
              <a:t>misuse</a:t>
            </a:r>
            <a:r>
              <a:rPr lang="en-GB" altLang="ko-KR">
                <a:ea typeface="맑은 고딕"/>
              </a:rPr>
              <a:t> for surveillance or deportation.</a:t>
            </a:r>
          </a:p>
          <a:p>
            <a:endParaRPr lang="en-GB" altLang="ko-KR"/>
          </a:p>
          <a:p>
            <a:pPr marL="285750" indent="-285750">
              <a:buFont typeface="Arial" panose="020B0604020202020204" pitchFamily="34" charset="0"/>
              <a:buChar char="•"/>
            </a:pPr>
            <a:r>
              <a:rPr lang="en-US" altLang="ko-KR">
                <a:ea typeface="맑은 고딕"/>
              </a:rPr>
              <a:t>Public trust and institutional accountability are at risk.</a:t>
            </a:r>
          </a:p>
        </p:txBody>
      </p:sp>
      <p:sp>
        <p:nvSpPr>
          <p:cNvPr id="13" name="Text 0">
            <a:extLst>
              <a:ext uri="{FF2B5EF4-FFF2-40B4-BE49-F238E27FC236}">
                <a16:creationId xmlns:a16="http://schemas.microsoft.com/office/drawing/2014/main" id="{518D0B36-47BD-A78E-6157-9F7007A55883}"/>
              </a:ext>
            </a:extLst>
          </p:cNvPr>
          <p:cNvSpPr/>
          <p:nvPr/>
        </p:nvSpPr>
        <p:spPr>
          <a:xfrm>
            <a:off x="179878" y="1140387"/>
            <a:ext cx="3218121" cy="1660002"/>
          </a:xfrm>
          <a:prstGeom prst="rect">
            <a:avLst/>
          </a:prstGeom>
          <a:noFill/>
          <a:ln/>
        </p:spPr>
        <p:txBody>
          <a:bodyPr wrap="square" lIns="0" tIns="0" rIns="0" bIns="0" rtlCol="0" anchor="t"/>
          <a:lstStyle/>
          <a:p>
            <a:pPr lvl="0" algn="ctr">
              <a:lnSpc>
                <a:spcPts val="4625"/>
              </a:lnSpc>
              <a:defRPr/>
            </a:pPr>
            <a:r>
              <a:rPr lang="en-US" altLang="ko-KR" sz="3200" b="1"/>
              <a:t>Challenges of  Data Privacy</a:t>
            </a:r>
            <a:endParaRPr kumimoji="0" lang="en-US" sz="3200" b="1" i="0" u="none" strike="noStrike" kern="1200" cap="none" spc="0" normalizeH="0" baseline="0" noProof="0">
              <a:ln>
                <a:noFill/>
              </a:ln>
              <a:solidFill>
                <a:schemeClr val="tx2"/>
              </a:solidFill>
              <a:effectLst/>
              <a:uLnTx/>
              <a:uFillTx/>
              <a:ea typeface="+mn-ea"/>
              <a:cs typeface="+mn-cs"/>
            </a:endParaRPr>
          </a:p>
        </p:txBody>
      </p:sp>
      <p:sp>
        <p:nvSpPr>
          <p:cNvPr id="14" name="Rectangle: Rounded Corners 2">
            <a:extLst>
              <a:ext uri="{FF2B5EF4-FFF2-40B4-BE49-F238E27FC236}">
                <a16:creationId xmlns:a16="http://schemas.microsoft.com/office/drawing/2014/main" id="{C75CD623-FD66-2D30-6E69-2AC48FE8C83F}"/>
              </a:ext>
            </a:extLst>
          </p:cNvPr>
          <p:cNvSpPr/>
          <p:nvPr/>
        </p:nvSpPr>
        <p:spPr>
          <a:xfrm>
            <a:off x="8622623" y="3854734"/>
            <a:ext cx="3422226" cy="2214283"/>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ZA"/>
          </a:p>
        </p:txBody>
      </p:sp>
      <p:sp>
        <p:nvSpPr>
          <p:cNvPr id="18" name="TextBox 17">
            <a:extLst>
              <a:ext uri="{FF2B5EF4-FFF2-40B4-BE49-F238E27FC236}">
                <a16:creationId xmlns:a16="http://schemas.microsoft.com/office/drawing/2014/main" id="{7E8E35E5-EDED-1E6C-F43B-73C485C98C80}"/>
              </a:ext>
            </a:extLst>
          </p:cNvPr>
          <p:cNvSpPr txBox="1"/>
          <p:nvPr/>
        </p:nvSpPr>
        <p:spPr>
          <a:xfrm>
            <a:off x="7285736" y="4177043"/>
            <a:ext cx="6096000" cy="1569660"/>
          </a:xfrm>
          <a:prstGeom prst="rect">
            <a:avLst/>
          </a:prstGeom>
          <a:noFill/>
        </p:spPr>
        <p:txBody>
          <a:bodyPr wrap="square">
            <a:spAutoFit/>
          </a:bodyPr>
          <a:lstStyle/>
          <a:p>
            <a:pPr algn="ctr"/>
            <a:r>
              <a:rPr lang="en-GB" altLang="ko-KR" sz="3200" b="1">
                <a:solidFill>
                  <a:schemeClr val="tx1"/>
                </a:solidFill>
              </a:rPr>
              <a:t>Building </a:t>
            </a:r>
          </a:p>
          <a:p>
            <a:pPr algn="ctr"/>
            <a:r>
              <a:rPr lang="en-GB" altLang="ko-KR" sz="3200" b="1">
                <a:solidFill>
                  <a:schemeClr val="tx1"/>
                </a:solidFill>
              </a:rPr>
              <a:t>Ethical Data </a:t>
            </a:r>
          </a:p>
          <a:p>
            <a:pPr algn="ctr"/>
            <a:r>
              <a:rPr lang="en-GB" altLang="ko-KR" sz="3200" b="1">
                <a:solidFill>
                  <a:schemeClr val="tx1"/>
                </a:solidFill>
              </a:rPr>
              <a:t>Governance</a:t>
            </a:r>
            <a:endParaRPr lang="en-ZA" sz="3200" b="1">
              <a:solidFill>
                <a:schemeClr val="tx1"/>
              </a:solidFill>
            </a:endParaRPr>
          </a:p>
        </p:txBody>
      </p:sp>
      <p:pic>
        <p:nvPicPr>
          <p:cNvPr id="19" name="Picture 18">
            <a:extLst>
              <a:ext uri="{FF2B5EF4-FFF2-40B4-BE49-F238E27FC236}">
                <a16:creationId xmlns:a16="http://schemas.microsoft.com/office/drawing/2014/main" id="{5DDA0B4A-554B-B791-3B59-DC2B2C7AA383}"/>
              </a:ext>
            </a:extLst>
          </p:cNvPr>
          <p:cNvPicPr>
            <a:picLocks noChangeAspect="1"/>
          </p:cNvPicPr>
          <p:nvPr/>
        </p:nvPicPr>
        <p:blipFill>
          <a:blip r:embed="rId2"/>
          <a:stretch>
            <a:fillRect/>
          </a:stretch>
        </p:blipFill>
        <p:spPr>
          <a:xfrm>
            <a:off x="10182974" y="104467"/>
            <a:ext cx="1734511" cy="1734511"/>
          </a:xfrm>
          <a:prstGeom prst="rect">
            <a:avLst/>
          </a:prstGeom>
        </p:spPr>
      </p:pic>
      <p:sp>
        <p:nvSpPr>
          <p:cNvPr id="20" name="Freeform 6">
            <a:extLst>
              <a:ext uri="{FF2B5EF4-FFF2-40B4-BE49-F238E27FC236}">
                <a16:creationId xmlns:a16="http://schemas.microsoft.com/office/drawing/2014/main" id="{8DAD0706-B844-52A8-ED2C-3702E991F927}"/>
              </a:ext>
            </a:extLst>
          </p:cNvPr>
          <p:cNvSpPr/>
          <p:nvPr/>
        </p:nvSpPr>
        <p:spPr>
          <a:xfrm>
            <a:off x="84511" y="4094620"/>
            <a:ext cx="1582364" cy="1622994"/>
          </a:xfrm>
          <a:custGeom>
            <a:avLst/>
            <a:gdLst/>
            <a:ahLst/>
            <a:cxnLst/>
            <a:rect l="l" t="t" r="r" b="b"/>
            <a:pathLst>
              <a:path w="4130289" h="4114800">
                <a:moveTo>
                  <a:pt x="0" y="0"/>
                </a:moveTo>
                <a:lnTo>
                  <a:pt x="4130289" y="0"/>
                </a:lnTo>
                <a:lnTo>
                  <a:pt x="413028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sp>
        <p:nvSpPr>
          <p:cNvPr id="6" name="TextBox 5">
            <a:extLst>
              <a:ext uri="{FF2B5EF4-FFF2-40B4-BE49-F238E27FC236}">
                <a16:creationId xmlns:a16="http://schemas.microsoft.com/office/drawing/2014/main" id="{926A2426-D5A7-3F69-CCD7-A1B39D2CE5E3}"/>
              </a:ext>
            </a:extLst>
          </p:cNvPr>
          <p:cNvSpPr txBox="1"/>
          <p:nvPr/>
        </p:nvSpPr>
        <p:spPr>
          <a:xfrm>
            <a:off x="1979448" y="3954517"/>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endParaRPr lang="en-US"/>
          </a:p>
          <a:p>
            <a:pPr marL="283464" indent="-283464" algn="l" rtl="0"/>
            <a:r>
              <a:rPr lang="en-US"/>
              <a:t>•  Establish independent data protection officers.</a:t>
            </a:r>
          </a:p>
          <a:p>
            <a:pPr marL="0" algn="l" rtl="0"/>
            <a:endParaRPr lang="en-US"/>
          </a:p>
          <a:p>
            <a:pPr marL="283464" indent="-283464" algn="l" rtl="0"/>
            <a:r>
              <a:rPr lang="en-US"/>
              <a:t>• Increase transparency and accountability in data sharing.</a:t>
            </a:r>
          </a:p>
          <a:p>
            <a:pPr marL="0" algn="l" rtl="0"/>
            <a:endParaRPr lang="en-US"/>
          </a:p>
          <a:p>
            <a:pPr marL="283464" indent="-283464" algn="l" rtl="0"/>
            <a:r>
              <a:rPr lang="en-US"/>
              <a:t>•Promote ethical AI and data minimization.</a:t>
            </a:r>
          </a:p>
          <a:p>
            <a:pPr algn="ctr"/>
            <a:endParaRPr lang="en-US"/>
          </a:p>
        </p:txBody>
      </p:sp>
    </p:spTree>
    <p:extLst>
      <p:ext uri="{BB962C8B-B14F-4D97-AF65-F5344CB8AC3E}">
        <p14:creationId xmlns:p14="http://schemas.microsoft.com/office/powerpoint/2010/main" val="3140636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Shape 52"/>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36A2968-FF1E-4DEE-6053-225843A98E20}"/>
              </a:ext>
            </a:extLst>
          </p:cNvPr>
          <p:cNvSpPr/>
          <p:nvPr/>
        </p:nvSpPr>
        <p:spPr>
          <a:xfrm>
            <a:off x="634999" y="389467"/>
            <a:ext cx="11142133" cy="6121400"/>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57796BC5-5C15-B0BB-7CDE-12716C7A5E6E}"/>
              </a:ext>
            </a:extLst>
          </p:cNvPr>
          <p:cNvSpPr/>
          <p:nvPr/>
        </p:nvSpPr>
        <p:spPr>
          <a:xfrm>
            <a:off x="1210733" y="1066800"/>
            <a:ext cx="3970867" cy="105833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796A5A01-E8FE-D3F5-E999-293B00994605}"/>
              </a:ext>
            </a:extLst>
          </p:cNvPr>
          <p:cNvSpPr/>
          <p:nvPr/>
        </p:nvSpPr>
        <p:spPr>
          <a:xfrm>
            <a:off x="1210733" y="2827378"/>
            <a:ext cx="3970867" cy="105833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4">
            <a:extLst>
              <a:ext uri="{FF2B5EF4-FFF2-40B4-BE49-F238E27FC236}">
                <a16:creationId xmlns:a16="http://schemas.microsoft.com/office/drawing/2014/main" id="{14E6462B-16FF-54DD-2BDE-96DF55E26C97}"/>
              </a:ext>
            </a:extLst>
          </p:cNvPr>
          <p:cNvSpPr/>
          <p:nvPr/>
        </p:nvSpPr>
        <p:spPr>
          <a:xfrm>
            <a:off x="1210733" y="4633383"/>
            <a:ext cx="3970867" cy="105833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41DC4568-3E61-C7A7-C952-3DE370C3C969}"/>
              </a:ext>
            </a:extLst>
          </p:cNvPr>
          <p:cNvSpPr txBox="1"/>
          <p:nvPr/>
        </p:nvSpPr>
        <p:spPr>
          <a:xfrm>
            <a:off x="1151462" y="1199444"/>
            <a:ext cx="2777067" cy="769441"/>
          </a:xfrm>
          <a:prstGeom prst="rect">
            <a:avLst/>
          </a:prstGeom>
          <a:noFill/>
        </p:spPr>
        <p:txBody>
          <a:bodyPr wrap="square" rtlCol="0">
            <a:spAutoFit/>
          </a:bodyPr>
          <a:lstStyle/>
          <a:p>
            <a:pPr algn="ctr"/>
            <a:r>
              <a:rPr lang="en-ZA" sz="4400" b="1"/>
              <a:t>ETHICAL</a:t>
            </a:r>
            <a:r>
              <a:rPr lang="en-ZA"/>
              <a:t> </a:t>
            </a:r>
          </a:p>
        </p:txBody>
      </p:sp>
      <p:sp>
        <p:nvSpPr>
          <p:cNvPr id="7" name="TextBox 6">
            <a:extLst>
              <a:ext uri="{FF2B5EF4-FFF2-40B4-BE49-F238E27FC236}">
                <a16:creationId xmlns:a16="http://schemas.microsoft.com/office/drawing/2014/main" id="{EB660D7A-FCF8-79CE-B807-50068F664643}"/>
              </a:ext>
            </a:extLst>
          </p:cNvPr>
          <p:cNvSpPr txBox="1"/>
          <p:nvPr/>
        </p:nvSpPr>
        <p:spPr>
          <a:xfrm>
            <a:off x="1289048" y="2955328"/>
            <a:ext cx="2777067" cy="369332"/>
          </a:xfrm>
          <a:prstGeom prst="rect">
            <a:avLst/>
          </a:prstGeom>
          <a:noFill/>
        </p:spPr>
        <p:txBody>
          <a:bodyPr wrap="square" rtlCol="0">
            <a:spAutoFit/>
          </a:bodyPr>
          <a:lstStyle/>
          <a:p>
            <a:pPr algn="ctr"/>
            <a:r>
              <a:rPr lang="en-ZA"/>
              <a:t> </a:t>
            </a:r>
          </a:p>
        </p:txBody>
      </p:sp>
      <p:sp>
        <p:nvSpPr>
          <p:cNvPr id="8" name="TextBox 7">
            <a:extLst>
              <a:ext uri="{FF2B5EF4-FFF2-40B4-BE49-F238E27FC236}">
                <a16:creationId xmlns:a16="http://schemas.microsoft.com/office/drawing/2014/main" id="{2AD05629-538B-10E1-D64E-1C99B9814B1B}"/>
              </a:ext>
            </a:extLst>
          </p:cNvPr>
          <p:cNvSpPr txBox="1"/>
          <p:nvPr/>
        </p:nvSpPr>
        <p:spPr>
          <a:xfrm>
            <a:off x="990598" y="2968635"/>
            <a:ext cx="2777067" cy="769441"/>
          </a:xfrm>
          <a:prstGeom prst="rect">
            <a:avLst/>
          </a:prstGeom>
          <a:noFill/>
        </p:spPr>
        <p:txBody>
          <a:bodyPr wrap="square" rtlCol="0">
            <a:spAutoFit/>
          </a:bodyPr>
          <a:lstStyle/>
          <a:p>
            <a:pPr algn="ctr"/>
            <a:r>
              <a:rPr lang="en-ZA" sz="4400" b="1"/>
              <a:t>LEGAL</a:t>
            </a:r>
            <a:endParaRPr lang="en-ZA" b="1"/>
          </a:p>
        </p:txBody>
      </p:sp>
      <p:sp>
        <p:nvSpPr>
          <p:cNvPr id="9" name="TextBox 8">
            <a:extLst>
              <a:ext uri="{FF2B5EF4-FFF2-40B4-BE49-F238E27FC236}">
                <a16:creationId xmlns:a16="http://schemas.microsoft.com/office/drawing/2014/main" id="{39CC905A-6321-8EDE-A86C-B40F19573DD2}"/>
              </a:ext>
            </a:extLst>
          </p:cNvPr>
          <p:cNvSpPr txBox="1"/>
          <p:nvPr/>
        </p:nvSpPr>
        <p:spPr>
          <a:xfrm>
            <a:off x="1151462" y="4787704"/>
            <a:ext cx="2777067" cy="769441"/>
          </a:xfrm>
          <a:prstGeom prst="rect">
            <a:avLst/>
          </a:prstGeom>
          <a:noFill/>
        </p:spPr>
        <p:txBody>
          <a:bodyPr wrap="square" rtlCol="0">
            <a:spAutoFit/>
          </a:bodyPr>
          <a:lstStyle/>
          <a:p>
            <a:pPr algn="ctr"/>
            <a:r>
              <a:rPr lang="en-ZA" sz="4400" b="1"/>
              <a:t>SOCIAL</a:t>
            </a:r>
            <a:endParaRPr lang="en-ZA" b="1"/>
          </a:p>
        </p:txBody>
      </p:sp>
      <p:pic>
        <p:nvPicPr>
          <p:cNvPr id="15" name="Graphic 14" descr="Scales of justice with solid fill">
            <a:extLst>
              <a:ext uri="{FF2B5EF4-FFF2-40B4-BE49-F238E27FC236}">
                <a16:creationId xmlns:a16="http://schemas.microsoft.com/office/drawing/2014/main" id="{C5F1080D-ABAF-773B-6345-2E1C965C7C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6396" y="2899832"/>
            <a:ext cx="914400" cy="914400"/>
          </a:xfrm>
          <a:prstGeom prst="rect">
            <a:avLst/>
          </a:prstGeom>
        </p:spPr>
      </p:pic>
      <p:pic>
        <p:nvPicPr>
          <p:cNvPr id="17" name="Graphic 16" descr="Group with solid fill">
            <a:extLst>
              <a:ext uri="{FF2B5EF4-FFF2-40B4-BE49-F238E27FC236}">
                <a16:creationId xmlns:a16="http://schemas.microsoft.com/office/drawing/2014/main" id="{660CB007-1A6A-1051-C349-EA714D13CF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16396" y="4705348"/>
            <a:ext cx="914400" cy="914400"/>
          </a:xfrm>
          <a:prstGeom prst="rect">
            <a:avLst/>
          </a:prstGeom>
        </p:spPr>
      </p:pic>
      <p:pic>
        <p:nvPicPr>
          <p:cNvPr id="19" name="Graphic 18" descr="Right Brain with solid fill">
            <a:extLst>
              <a:ext uri="{FF2B5EF4-FFF2-40B4-BE49-F238E27FC236}">
                <a16:creationId xmlns:a16="http://schemas.microsoft.com/office/drawing/2014/main" id="{A9B8992A-A304-00B0-717B-47E642C697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16396" y="1138765"/>
            <a:ext cx="914400" cy="914400"/>
          </a:xfrm>
          <a:prstGeom prst="rect">
            <a:avLst/>
          </a:prstGeom>
        </p:spPr>
      </p:pic>
      <p:pic>
        <p:nvPicPr>
          <p:cNvPr id="1026" name="Picture 2" descr="Diversity Illustration - Hope McConnell">
            <a:extLst>
              <a:ext uri="{FF2B5EF4-FFF2-40B4-BE49-F238E27FC236}">
                <a16:creationId xmlns:a16="http://schemas.microsoft.com/office/drawing/2014/main" id="{A6A4C63C-94C6-E3BD-6B4E-8D169C5CBA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1066" y="599124"/>
            <a:ext cx="3836732" cy="5428982"/>
          </a:xfrm>
          <a:prstGeom prst="rect">
            <a:avLst/>
          </a:prstGeom>
          <a:noFill/>
          <a:ln w="38100">
            <a:solidFill>
              <a:srgbClr val="002060"/>
            </a:solidFill>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Shape 52">
          <a:extLst>
            <a:ext uri="{FF2B5EF4-FFF2-40B4-BE49-F238E27FC236}">
              <a16:creationId xmlns:a16="http://schemas.microsoft.com/office/drawing/2014/main" id="{44415899-BDC0-D47C-3D1F-E9E6BFA38ED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45D865A-6279-3942-795A-3E3AA2F4FB7D}"/>
              </a:ext>
            </a:extLst>
          </p:cNvPr>
          <p:cNvSpPr/>
          <p:nvPr/>
        </p:nvSpPr>
        <p:spPr>
          <a:xfrm>
            <a:off x="99591" y="59017"/>
            <a:ext cx="11992817" cy="769441"/>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ln>
                <a:solidFill>
                  <a:schemeClr val="tx1"/>
                </a:solidFill>
                <a:prstDash val="solid"/>
              </a:ln>
            </a:endParaRPr>
          </a:p>
        </p:txBody>
      </p:sp>
      <p:sp>
        <p:nvSpPr>
          <p:cNvPr id="3" name="Rectangle 2">
            <a:extLst>
              <a:ext uri="{FF2B5EF4-FFF2-40B4-BE49-F238E27FC236}">
                <a16:creationId xmlns:a16="http://schemas.microsoft.com/office/drawing/2014/main" id="{627781D6-44C6-47F4-1968-5E183C15A679}"/>
              </a:ext>
            </a:extLst>
          </p:cNvPr>
          <p:cNvSpPr/>
          <p:nvPr/>
        </p:nvSpPr>
        <p:spPr>
          <a:xfrm>
            <a:off x="4238174" y="140340"/>
            <a:ext cx="4006068" cy="62884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9B1D616B-E907-21AE-E0E9-91A7F05AA65F}"/>
              </a:ext>
            </a:extLst>
          </p:cNvPr>
          <p:cNvSpPr txBox="1"/>
          <p:nvPr/>
        </p:nvSpPr>
        <p:spPr>
          <a:xfrm>
            <a:off x="4055532" y="112427"/>
            <a:ext cx="2777067" cy="769441"/>
          </a:xfrm>
          <a:prstGeom prst="rect">
            <a:avLst/>
          </a:prstGeom>
          <a:noFill/>
        </p:spPr>
        <p:txBody>
          <a:bodyPr wrap="square" rtlCol="0">
            <a:spAutoFit/>
          </a:bodyPr>
          <a:lstStyle/>
          <a:p>
            <a:pPr algn="ctr"/>
            <a:r>
              <a:rPr lang="en-ZA" sz="4400" b="1"/>
              <a:t>ETHICAL</a:t>
            </a:r>
            <a:r>
              <a:rPr lang="en-ZA"/>
              <a:t> </a:t>
            </a:r>
          </a:p>
        </p:txBody>
      </p:sp>
      <p:pic>
        <p:nvPicPr>
          <p:cNvPr id="19" name="Graphic 18" descr="Right Brain with solid fill">
            <a:extLst>
              <a:ext uri="{FF2B5EF4-FFF2-40B4-BE49-F238E27FC236}">
                <a16:creationId xmlns:a16="http://schemas.microsoft.com/office/drawing/2014/main" id="{159DDBEB-DB30-896F-941D-6B9D9E3BEC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69938" y="89280"/>
            <a:ext cx="769441" cy="769441"/>
          </a:xfrm>
          <a:prstGeom prst="rect">
            <a:avLst/>
          </a:prstGeom>
        </p:spPr>
      </p:pic>
      <p:sp>
        <p:nvSpPr>
          <p:cNvPr id="1036" name="Rectangle: Rounded Corners 1035">
            <a:extLst>
              <a:ext uri="{FF2B5EF4-FFF2-40B4-BE49-F238E27FC236}">
                <a16:creationId xmlns:a16="http://schemas.microsoft.com/office/drawing/2014/main" id="{A886DBD0-9A9E-1156-4707-5F086552F024}"/>
              </a:ext>
            </a:extLst>
          </p:cNvPr>
          <p:cNvSpPr/>
          <p:nvPr/>
        </p:nvSpPr>
        <p:spPr>
          <a:xfrm>
            <a:off x="237066" y="3318933"/>
            <a:ext cx="2760134" cy="3462252"/>
          </a:xfrm>
          <a:prstGeom prst="roundRect">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Improved identification and Verification procedures </a:t>
            </a:r>
          </a:p>
          <a:p>
            <a:pPr marL="285750" indent="-285750">
              <a:buFont typeface="Arial" panose="020B0604020202020204" pitchFamily="34" charset="0"/>
              <a:buChar char="•"/>
            </a:pPr>
            <a:r>
              <a:rPr lang="en-ZA">
                <a:solidFill>
                  <a:schemeClr val="tx1"/>
                </a:solidFill>
              </a:rPr>
              <a:t>Aids in fraud detection, safety and greater public security. </a:t>
            </a:r>
          </a:p>
          <a:p>
            <a:pPr marL="285750" indent="-285750">
              <a:buFont typeface="Arial" panose="020B0604020202020204" pitchFamily="34" charset="0"/>
              <a:buChar char="•"/>
            </a:pPr>
            <a:r>
              <a:rPr lang="en-ZA">
                <a:solidFill>
                  <a:schemeClr val="tx1"/>
                </a:solidFill>
              </a:rPr>
              <a:t>Robustness</a:t>
            </a:r>
          </a:p>
          <a:p>
            <a:pPr marL="285750" indent="-285750">
              <a:buFont typeface="Arial" panose="020B0604020202020204" pitchFamily="34" charset="0"/>
              <a:buChar char="•"/>
            </a:pPr>
            <a:r>
              <a:rPr lang="en-ZA">
                <a:solidFill>
                  <a:schemeClr val="tx1"/>
                </a:solidFill>
              </a:rPr>
              <a:t>Increased efficiency</a:t>
            </a:r>
          </a:p>
          <a:p>
            <a:pPr algn="ctr"/>
            <a:r>
              <a:rPr lang="en-ZA" b="1">
                <a:solidFill>
                  <a:schemeClr val="tx1"/>
                </a:solidFill>
              </a:rPr>
              <a:t>“greatest good” </a:t>
            </a:r>
          </a:p>
        </p:txBody>
      </p:sp>
      <p:sp>
        <p:nvSpPr>
          <p:cNvPr id="1041" name="Oval 1040">
            <a:extLst>
              <a:ext uri="{FF2B5EF4-FFF2-40B4-BE49-F238E27FC236}">
                <a16:creationId xmlns:a16="http://schemas.microsoft.com/office/drawing/2014/main" id="{D14DA794-7349-AF8B-3F2C-6BA865758729}"/>
              </a:ext>
            </a:extLst>
          </p:cNvPr>
          <p:cNvSpPr/>
          <p:nvPr/>
        </p:nvSpPr>
        <p:spPr>
          <a:xfrm>
            <a:off x="778155" y="1086031"/>
            <a:ext cx="1703708" cy="1637458"/>
          </a:xfrm>
          <a:prstGeom prst="ellipse">
            <a:avLst/>
          </a:prstGeom>
          <a:solidFill>
            <a:schemeClr val="accent3">
              <a:lumMod val="40000"/>
              <a:lumOff val="6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2" name="Oval 1041">
            <a:extLst>
              <a:ext uri="{FF2B5EF4-FFF2-40B4-BE49-F238E27FC236}">
                <a16:creationId xmlns:a16="http://schemas.microsoft.com/office/drawing/2014/main" id="{3E5FE6F1-2228-A483-0F62-3C5BA6D9A694}"/>
              </a:ext>
            </a:extLst>
          </p:cNvPr>
          <p:cNvSpPr/>
          <p:nvPr/>
        </p:nvSpPr>
        <p:spPr>
          <a:xfrm>
            <a:off x="3749782" y="1110830"/>
            <a:ext cx="1759113" cy="1637458"/>
          </a:xfrm>
          <a:prstGeom prst="ellipse">
            <a:avLst/>
          </a:prstGeom>
          <a:solidFill>
            <a:schemeClr val="bg2">
              <a:lumMod val="9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3" name="Oval 1042">
            <a:extLst>
              <a:ext uri="{FF2B5EF4-FFF2-40B4-BE49-F238E27FC236}">
                <a16:creationId xmlns:a16="http://schemas.microsoft.com/office/drawing/2014/main" id="{DD0927AC-3E16-9D74-AB11-AE10F64A02BF}"/>
              </a:ext>
            </a:extLst>
          </p:cNvPr>
          <p:cNvSpPr/>
          <p:nvPr/>
        </p:nvSpPr>
        <p:spPr>
          <a:xfrm>
            <a:off x="6776814" y="1058621"/>
            <a:ext cx="1759113" cy="1645920"/>
          </a:xfrm>
          <a:prstGeom prst="ellipse">
            <a:avLst/>
          </a:prstGeom>
          <a:solidFill>
            <a:srgbClr val="EA9696"/>
          </a:solidFill>
          <a:ln>
            <a:solidFill>
              <a:srgbClr val="EA96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4" name="Oval 1043">
            <a:extLst>
              <a:ext uri="{FF2B5EF4-FFF2-40B4-BE49-F238E27FC236}">
                <a16:creationId xmlns:a16="http://schemas.microsoft.com/office/drawing/2014/main" id="{C2730A09-DFA4-70C0-F0AD-E3208DC205C4}"/>
              </a:ext>
            </a:extLst>
          </p:cNvPr>
          <p:cNvSpPr/>
          <p:nvPr/>
        </p:nvSpPr>
        <p:spPr>
          <a:xfrm>
            <a:off x="9878539" y="1077569"/>
            <a:ext cx="1759113" cy="1645920"/>
          </a:xfrm>
          <a:prstGeom prst="ellipse">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45" name="Graphic 1044" descr="Online meeting with solid fill">
            <a:extLst>
              <a:ext uri="{FF2B5EF4-FFF2-40B4-BE49-F238E27FC236}">
                <a16:creationId xmlns:a16="http://schemas.microsoft.com/office/drawing/2014/main" id="{E7AFDCE3-938A-D48E-F840-5B6E44E1BC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9845" y="1413691"/>
            <a:ext cx="914400" cy="914400"/>
          </a:xfrm>
          <a:prstGeom prst="rect">
            <a:avLst/>
          </a:prstGeom>
        </p:spPr>
      </p:pic>
      <p:pic>
        <p:nvPicPr>
          <p:cNvPr id="1047" name="Graphic 1046" descr="Judge female with solid fill">
            <a:extLst>
              <a:ext uri="{FF2B5EF4-FFF2-40B4-BE49-F238E27FC236}">
                <a16:creationId xmlns:a16="http://schemas.microsoft.com/office/drawing/2014/main" id="{528E3776-68EF-2AEB-0711-2DF3424BF58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9170" y="1481027"/>
            <a:ext cx="914400" cy="914400"/>
          </a:xfrm>
          <a:prstGeom prst="rect">
            <a:avLst/>
          </a:prstGeom>
        </p:spPr>
      </p:pic>
      <p:pic>
        <p:nvPicPr>
          <p:cNvPr id="1048" name="Graphic 1047" descr="Thumbs up sign with solid fill">
            <a:extLst>
              <a:ext uri="{FF2B5EF4-FFF2-40B4-BE49-F238E27FC236}">
                <a16:creationId xmlns:a16="http://schemas.microsoft.com/office/drawing/2014/main" id="{ED8C9335-DD96-A8AA-098F-19A6C2DAB5A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51642" y="1765946"/>
            <a:ext cx="726230" cy="726230"/>
          </a:xfrm>
          <a:prstGeom prst="rect">
            <a:avLst/>
          </a:prstGeom>
        </p:spPr>
      </p:pic>
      <p:pic>
        <p:nvPicPr>
          <p:cNvPr id="1049" name="Graphic 1048" descr="Thumbs up sign with solid fill">
            <a:extLst>
              <a:ext uri="{FF2B5EF4-FFF2-40B4-BE49-F238E27FC236}">
                <a16:creationId xmlns:a16="http://schemas.microsoft.com/office/drawing/2014/main" id="{3222E325-0DDE-A641-E747-B5995CF559F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4486707" y="1402831"/>
            <a:ext cx="726230" cy="726230"/>
          </a:xfrm>
          <a:prstGeom prst="rect">
            <a:avLst/>
          </a:prstGeom>
        </p:spPr>
      </p:pic>
      <p:sp>
        <p:nvSpPr>
          <p:cNvPr id="1050" name="TextBox 1049">
            <a:extLst>
              <a:ext uri="{FF2B5EF4-FFF2-40B4-BE49-F238E27FC236}">
                <a16:creationId xmlns:a16="http://schemas.microsoft.com/office/drawing/2014/main" id="{6C887512-6D94-5AD9-44FA-A43E2FFEFC46}"/>
              </a:ext>
            </a:extLst>
          </p:cNvPr>
          <p:cNvSpPr txBox="1"/>
          <p:nvPr/>
        </p:nvSpPr>
        <p:spPr>
          <a:xfrm>
            <a:off x="778155" y="2786358"/>
            <a:ext cx="1609725" cy="369332"/>
          </a:xfrm>
          <a:prstGeom prst="rect">
            <a:avLst/>
          </a:prstGeom>
          <a:solidFill>
            <a:srgbClr val="84E291"/>
          </a:solidFill>
          <a:ln w="9525">
            <a:solidFill>
              <a:schemeClr val="tx1"/>
            </a:solidFill>
          </a:ln>
        </p:spPr>
        <p:txBody>
          <a:bodyPr wrap="square" rtlCol="0">
            <a:spAutoFit/>
          </a:bodyPr>
          <a:lstStyle/>
          <a:p>
            <a:pPr algn="ctr"/>
            <a:r>
              <a:rPr lang="en-ZA" b="1"/>
              <a:t>Utilitarian</a:t>
            </a:r>
          </a:p>
        </p:txBody>
      </p:sp>
      <p:sp>
        <p:nvSpPr>
          <p:cNvPr id="1051" name="TextBox 1050">
            <a:extLst>
              <a:ext uri="{FF2B5EF4-FFF2-40B4-BE49-F238E27FC236}">
                <a16:creationId xmlns:a16="http://schemas.microsoft.com/office/drawing/2014/main" id="{0D05003B-4C8F-29D7-C348-13675793CC54}"/>
              </a:ext>
            </a:extLst>
          </p:cNvPr>
          <p:cNvSpPr txBox="1"/>
          <p:nvPr/>
        </p:nvSpPr>
        <p:spPr>
          <a:xfrm>
            <a:off x="3749782" y="2794582"/>
            <a:ext cx="1759113" cy="369332"/>
          </a:xfrm>
          <a:prstGeom prst="rect">
            <a:avLst/>
          </a:prstGeom>
          <a:solidFill>
            <a:schemeClr val="bg2"/>
          </a:solidFill>
          <a:ln>
            <a:solidFill>
              <a:schemeClr val="tx1"/>
            </a:solidFill>
          </a:ln>
        </p:spPr>
        <p:txBody>
          <a:bodyPr wrap="square">
            <a:spAutoFit/>
          </a:bodyPr>
          <a:lstStyle/>
          <a:p>
            <a:pPr algn="ctr"/>
            <a:r>
              <a:rPr lang="en-ZA" b="1"/>
              <a:t>Deontological</a:t>
            </a:r>
            <a:r>
              <a:rPr lang="en-ZA"/>
              <a:t> </a:t>
            </a:r>
          </a:p>
        </p:txBody>
      </p:sp>
      <p:sp>
        <p:nvSpPr>
          <p:cNvPr id="1052" name="TextBox 1051">
            <a:extLst>
              <a:ext uri="{FF2B5EF4-FFF2-40B4-BE49-F238E27FC236}">
                <a16:creationId xmlns:a16="http://schemas.microsoft.com/office/drawing/2014/main" id="{4EE104F8-26F2-901D-3571-CBDDDF5099CA}"/>
              </a:ext>
            </a:extLst>
          </p:cNvPr>
          <p:cNvSpPr txBox="1"/>
          <p:nvPr/>
        </p:nvSpPr>
        <p:spPr>
          <a:xfrm>
            <a:off x="6851507" y="2818171"/>
            <a:ext cx="1609725" cy="369332"/>
          </a:xfrm>
          <a:prstGeom prst="rect">
            <a:avLst/>
          </a:prstGeom>
          <a:solidFill>
            <a:srgbClr val="EA9696"/>
          </a:solidFill>
          <a:ln>
            <a:solidFill>
              <a:schemeClr val="tx1"/>
            </a:solidFill>
          </a:ln>
        </p:spPr>
        <p:txBody>
          <a:bodyPr wrap="square">
            <a:spAutoFit/>
          </a:bodyPr>
          <a:lstStyle/>
          <a:p>
            <a:pPr algn="ctr"/>
            <a:r>
              <a:rPr lang="en-ZA" b="1"/>
              <a:t>Virtue </a:t>
            </a:r>
          </a:p>
        </p:txBody>
      </p:sp>
      <p:sp>
        <p:nvSpPr>
          <p:cNvPr id="1053" name="TextBox 1052">
            <a:extLst>
              <a:ext uri="{FF2B5EF4-FFF2-40B4-BE49-F238E27FC236}">
                <a16:creationId xmlns:a16="http://schemas.microsoft.com/office/drawing/2014/main" id="{E4707670-5B86-EC09-A76A-B0CEA6D1A552}"/>
              </a:ext>
            </a:extLst>
          </p:cNvPr>
          <p:cNvSpPr txBox="1"/>
          <p:nvPr/>
        </p:nvSpPr>
        <p:spPr>
          <a:xfrm>
            <a:off x="9779407" y="2809773"/>
            <a:ext cx="1957375" cy="369332"/>
          </a:xfrm>
          <a:prstGeom prst="rect">
            <a:avLst/>
          </a:prstGeom>
          <a:solidFill>
            <a:schemeClr val="accent2">
              <a:lumMod val="40000"/>
              <a:lumOff val="60000"/>
            </a:schemeClr>
          </a:solidFill>
          <a:ln>
            <a:solidFill>
              <a:schemeClr val="tx1"/>
            </a:solidFill>
          </a:ln>
        </p:spPr>
        <p:txBody>
          <a:bodyPr wrap="square">
            <a:spAutoFit/>
          </a:bodyPr>
          <a:lstStyle/>
          <a:p>
            <a:pPr algn="ctr"/>
            <a:r>
              <a:rPr lang="en-ZA" b="1"/>
              <a:t>Veil of Ignorance </a:t>
            </a:r>
          </a:p>
        </p:txBody>
      </p:sp>
      <p:pic>
        <p:nvPicPr>
          <p:cNvPr id="4" name="Picture 3">
            <a:extLst>
              <a:ext uri="{FF2B5EF4-FFF2-40B4-BE49-F238E27FC236}">
                <a16:creationId xmlns:a16="http://schemas.microsoft.com/office/drawing/2014/main" id="{A3DD94A0-E538-4CB9-0D55-D1B99838E5E2}"/>
              </a:ext>
            </a:extLst>
          </p:cNvPr>
          <p:cNvPicPr>
            <a:picLocks noChangeAspect="1"/>
          </p:cNvPicPr>
          <p:nvPr/>
        </p:nvPicPr>
        <p:blipFill>
          <a:blip r:embed="rId11"/>
          <a:stretch>
            <a:fillRect/>
          </a:stretch>
        </p:blipFill>
        <p:spPr>
          <a:xfrm>
            <a:off x="10296525" y="1543050"/>
            <a:ext cx="914400" cy="771525"/>
          </a:xfrm>
          <a:prstGeom prst="rect">
            <a:avLst/>
          </a:prstGeom>
        </p:spPr>
      </p:pic>
    </p:spTree>
    <p:extLst>
      <p:ext uri="{BB962C8B-B14F-4D97-AF65-F5344CB8AC3E}">
        <p14:creationId xmlns:p14="http://schemas.microsoft.com/office/powerpoint/2010/main" val="4226727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Shape 52">
          <a:extLst>
            <a:ext uri="{FF2B5EF4-FFF2-40B4-BE49-F238E27FC236}">
              <a16:creationId xmlns:a16="http://schemas.microsoft.com/office/drawing/2014/main" id="{9F289F38-A714-70C6-4E83-616DE05B498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9F8C6D0-5419-28DD-7225-BED667968B64}"/>
              </a:ext>
            </a:extLst>
          </p:cNvPr>
          <p:cNvSpPr/>
          <p:nvPr/>
        </p:nvSpPr>
        <p:spPr>
          <a:xfrm>
            <a:off x="99591" y="59017"/>
            <a:ext cx="11992817" cy="769441"/>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ln>
                <a:solidFill>
                  <a:schemeClr val="tx1"/>
                </a:solidFill>
                <a:prstDash val="solid"/>
              </a:ln>
            </a:endParaRPr>
          </a:p>
        </p:txBody>
      </p:sp>
      <p:sp>
        <p:nvSpPr>
          <p:cNvPr id="3" name="Rectangle 2">
            <a:extLst>
              <a:ext uri="{FF2B5EF4-FFF2-40B4-BE49-F238E27FC236}">
                <a16:creationId xmlns:a16="http://schemas.microsoft.com/office/drawing/2014/main" id="{406E9EA8-2EC0-005F-61BE-5417ECE96236}"/>
              </a:ext>
            </a:extLst>
          </p:cNvPr>
          <p:cNvSpPr/>
          <p:nvPr/>
        </p:nvSpPr>
        <p:spPr>
          <a:xfrm>
            <a:off x="4238174" y="140340"/>
            <a:ext cx="4006068" cy="62884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FD7DD502-FE9E-DE71-1A1A-CE60DC782AEF}"/>
              </a:ext>
            </a:extLst>
          </p:cNvPr>
          <p:cNvSpPr txBox="1"/>
          <p:nvPr/>
        </p:nvSpPr>
        <p:spPr>
          <a:xfrm>
            <a:off x="4055532" y="112427"/>
            <a:ext cx="2777067" cy="769441"/>
          </a:xfrm>
          <a:prstGeom prst="rect">
            <a:avLst/>
          </a:prstGeom>
          <a:noFill/>
        </p:spPr>
        <p:txBody>
          <a:bodyPr wrap="square" rtlCol="0">
            <a:spAutoFit/>
          </a:bodyPr>
          <a:lstStyle/>
          <a:p>
            <a:pPr algn="ctr"/>
            <a:r>
              <a:rPr lang="en-ZA" sz="4400" b="1"/>
              <a:t>ETHICAL</a:t>
            </a:r>
            <a:r>
              <a:rPr lang="en-ZA"/>
              <a:t> </a:t>
            </a:r>
          </a:p>
        </p:txBody>
      </p:sp>
      <p:pic>
        <p:nvPicPr>
          <p:cNvPr id="19" name="Graphic 18" descr="Right Brain with solid fill">
            <a:extLst>
              <a:ext uri="{FF2B5EF4-FFF2-40B4-BE49-F238E27FC236}">
                <a16:creationId xmlns:a16="http://schemas.microsoft.com/office/drawing/2014/main" id="{D667F17E-AEB6-C717-9D7D-1A3EB72495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69938" y="89280"/>
            <a:ext cx="769441" cy="769441"/>
          </a:xfrm>
          <a:prstGeom prst="rect">
            <a:avLst/>
          </a:prstGeom>
        </p:spPr>
      </p:pic>
      <p:sp>
        <p:nvSpPr>
          <p:cNvPr id="1036" name="Rectangle: Rounded Corners 1035">
            <a:extLst>
              <a:ext uri="{FF2B5EF4-FFF2-40B4-BE49-F238E27FC236}">
                <a16:creationId xmlns:a16="http://schemas.microsoft.com/office/drawing/2014/main" id="{DFAE9263-F720-2303-3D2F-E7258105538B}"/>
              </a:ext>
            </a:extLst>
          </p:cNvPr>
          <p:cNvSpPr/>
          <p:nvPr/>
        </p:nvSpPr>
        <p:spPr>
          <a:xfrm>
            <a:off x="237066" y="3318933"/>
            <a:ext cx="2760134" cy="3462252"/>
          </a:xfrm>
          <a:prstGeom prst="roundRect">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Improved identification and Verification procedures </a:t>
            </a:r>
          </a:p>
          <a:p>
            <a:pPr marL="285750" indent="-285750">
              <a:buFont typeface="Arial" panose="020B0604020202020204" pitchFamily="34" charset="0"/>
              <a:buChar char="•"/>
            </a:pPr>
            <a:r>
              <a:rPr lang="en-ZA">
                <a:solidFill>
                  <a:schemeClr val="tx1"/>
                </a:solidFill>
              </a:rPr>
              <a:t>Aids in fraud detection, safety and greater public security. </a:t>
            </a:r>
          </a:p>
          <a:p>
            <a:pPr marL="285750" indent="-285750">
              <a:buFont typeface="Arial" panose="020B0604020202020204" pitchFamily="34" charset="0"/>
              <a:buChar char="•"/>
            </a:pPr>
            <a:r>
              <a:rPr lang="en-ZA">
                <a:solidFill>
                  <a:schemeClr val="tx1"/>
                </a:solidFill>
              </a:rPr>
              <a:t>Robustness</a:t>
            </a:r>
          </a:p>
          <a:p>
            <a:pPr marL="285750" indent="-285750">
              <a:buFont typeface="Arial" panose="020B0604020202020204" pitchFamily="34" charset="0"/>
              <a:buChar char="•"/>
            </a:pPr>
            <a:r>
              <a:rPr lang="en-ZA">
                <a:solidFill>
                  <a:schemeClr val="tx1"/>
                </a:solidFill>
              </a:rPr>
              <a:t>Increased efficiency</a:t>
            </a:r>
          </a:p>
          <a:p>
            <a:pPr algn="ctr"/>
            <a:r>
              <a:rPr lang="en-ZA" b="1">
                <a:solidFill>
                  <a:schemeClr val="tx1"/>
                </a:solidFill>
              </a:rPr>
              <a:t>“greatest good” </a:t>
            </a:r>
          </a:p>
        </p:txBody>
      </p:sp>
      <p:sp>
        <p:nvSpPr>
          <p:cNvPr id="1041" name="Oval 1040">
            <a:extLst>
              <a:ext uri="{FF2B5EF4-FFF2-40B4-BE49-F238E27FC236}">
                <a16:creationId xmlns:a16="http://schemas.microsoft.com/office/drawing/2014/main" id="{1137FFCC-1DF8-4FEA-FDB2-5E1F3B66141F}"/>
              </a:ext>
            </a:extLst>
          </p:cNvPr>
          <p:cNvSpPr/>
          <p:nvPr/>
        </p:nvSpPr>
        <p:spPr>
          <a:xfrm>
            <a:off x="778155" y="1086031"/>
            <a:ext cx="1703708" cy="1637458"/>
          </a:xfrm>
          <a:prstGeom prst="ellipse">
            <a:avLst/>
          </a:prstGeom>
          <a:solidFill>
            <a:schemeClr val="accent3">
              <a:lumMod val="40000"/>
              <a:lumOff val="6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2" name="Oval 1041">
            <a:extLst>
              <a:ext uri="{FF2B5EF4-FFF2-40B4-BE49-F238E27FC236}">
                <a16:creationId xmlns:a16="http://schemas.microsoft.com/office/drawing/2014/main" id="{4DEAAC0A-05AD-28C5-BB4C-9648DB171271}"/>
              </a:ext>
            </a:extLst>
          </p:cNvPr>
          <p:cNvSpPr/>
          <p:nvPr/>
        </p:nvSpPr>
        <p:spPr>
          <a:xfrm>
            <a:off x="3749782" y="1110830"/>
            <a:ext cx="1759113" cy="1637458"/>
          </a:xfrm>
          <a:prstGeom prst="ellipse">
            <a:avLst/>
          </a:prstGeom>
          <a:solidFill>
            <a:schemeClr val="bg2">
              <a:lumMod val="9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3" name="Oval 1042">
            <a:extLst>
              <a:ext uri="{FF2B5EF4-FFF2-40B4-BE49-F238E27FC236}">
                <a16:creationId xmlns:a16="http://schemas.microsoft.com/office/drawing/2014/main" id="{48DEF11E-C880-C7DB-00E8-6BA33DDD439F}"/>
              </a:ext>
            </a:extLst>
          </p:cNvPr>
          <p:cNvSpPr/>
          <p:nvPr/>
        </p:nvSpPr>
        <p:spPr>
          <a:xfrm>
            <a:off x="6776814" y="1058621"/>
            <a:ext cx="1759113" cy="1645920"/>
          </a:xfrm>
          <a:prstGeom prst="ellipse">
            <a:avLst/>
          </a:prstGeom>
          <a:solidFill>
            <a:srgbClr val="EA9696"/>
          </a:solidFill>
          <a:ln>
            <a:solidFill>
              <a:srgbClr val="EA96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4" name="Oval 1043">
            <a:extLst>
              <a:ext uri="{FF2B5EF4-FFF2-40B4-BE49-F238E27FC236}">
                <a16:creationId xmlns:a16="http://schemas.microsoft.com/office/drawing/2014/main" id="{9713F98B-F822-55B7-89E6-EC2D63A250FB}"/>
              </a:ext>
            </a:extLst>
          </p:cNvPr>
          <p:cNvSpPr/>
          <p:nvPr/>
        </p:nvSpPr>
        <p:spPr>
          <a:xfrm>
            <a:off x="9878539" y="1077569"/>
            <a:ext cx="1759113" cy="1645920"/>
          </a:xfrm>
          <a:prstGeom prst="ellipse">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45" name="Graphic 1044" descr="Online meeting with solid fill">
            <a:extLst>
              <a:ext uri="{FF2B5EF4-FFF2-40B4-BE49-F238E27FC236}">
                <a16:creationId xmlns:a16="http://schemas.microsoft.com/office/drawing/2014/main" id="{35325A56-F004-5AC5-7880-A192805164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9845" y="1413691"/>
            <a:ext cx="914400" cy="914400"/>
          </a:xfrm>
          <a:prstGeom prst="rect">
            <a:avLst/>
          </a:prstGeom>
        </p:spPr>
      </p:pic>
      <p:pic>
        <p:nvPicPr>
          <p:cNvPr id="1047" name="Graphic 1046" descr="Judge female with solid fill">
            <a:extLst>
              <a:ext uri="{FF2B5EF4-FFF2-40B4-BE49-F238E27FC236}">
                <a16:creationId xmlns:a16="http://schemas.microsoft.com/office/drawing/2014/main" id="{5A31764A-4C5B-18A7-60D8-0209A42062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9170" y="1481027"/>
            <a:ext cx="914400" cy="914400"/>
          </a:xfrm>
          <a:prstGeom prst="rect">
            <a:avLst/>
          </a:prstGeom>
        </p:spPr>
      </p:pic>
      <p:pic>
        <p:nvPicPr>
          <p:cNvPr id="1048" name="Graphic 1047" descr="Thumbs up sign with solid fill">
            <a:extLst>
              <a:ext uri="{FF2B5EF4-FFF2-40B4-BE49-F238E27FC236}">
                <a16:creationId xmlns:a16="http://schemas.microsoft.com/office/drawing/2014/main" id="{79EF7033-13C3-C547-DE8B-113F3BF6EE0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51642" y="1765946"/>
            <a:ext cx="726230" cy="726230"/>
          </a:xfrm>
          <a:prstGeom prst="rect">
            <a:avLst/>
          </a:prstGeom>
        </p:spPr>
      </p:pic>
      <p:pic>
        <p:nvPicPr>
          <p:cNvPr id="1049" name="Graphic 1048" descr="Thumbs up sign with solid fill">
            <a:extLst>
              <a:ext uri="{FF2B5EF4-FFF2-40B4-BE49-F238E27FC236}">
                <a16:creationId xmlns:a16="http://schemas.microsoft.com/office/drawing/2014/main" id="{0CBE28AC-502B-AC02-5B3D-E6981DC177A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4486707" y="1402831"/>
            <a:ext cx="726230" cy="726230"/>
          </a:xfrm>
          <a:prstGeom prst="rect">
            <a:avLst/>
          </a:prstGeom>
        </p:spPr>
      </p:pic>
      <p:sp>
        <p:nvSpPr>
          <p:cNvPr id="1050" name="TextBox 1049">
            <a:extLst>
              <a:ext uri="{FF2B5EF4-FFF2-40B4-BE49-F238E27FC236}">
                <a16:creationId xmlns:a16="http://schemas.microsoft.com/office/drawing/2014/main" id="{1AF9D877-E20B-4B0F-8C01-888D63596187}"/>
              </a:ext>
            </a:extLst>
          </p:cNvPr>
          <p:cNvSpPr txBox="1"/>
          <p:nvPr/>
        </p:nvSpPr>
        <p:spPr>
          <a:xfrm>
            <a:off x="778155" y="2786358"/>
            <a:ext cx="1609725" cy="369332"/>
          </a:xfrm>
          <a:prstGeom prst="rect">
            <a:avLst/>
          </a:prstGeom>
          <a:solidFill>
            <a:srgbClr val="84E291"/>
          </a:solidFill>
          <a:ln w="9525">
            <a:solidFill>
              <a:schemeClr val="tx1"/>
            </a:solidFill>
          </a:ln>
        </p:spPr>
        <p:txBody>
          <a:bodyPr wrap="square" rtlCol="0">
            <a:spAutoFit/>
          </a:bodyPr>
          <a:lstStyle/>
          <a:p>
            <a:pPr algn="ctr"/>
            <a:r>
              <a:rPr lang="en-ZA" b="1"/>
              <a:t>Utilitarian</a:t>
            </a:r>
          </a:p>
        </p:txBody>
      </p:sp>
      <p:sp>
        <p:nvSpPr>
          <p:cNvPr id="1051" name="TextBox 1050">
            <a:extLst>
              <a:ext uri="{FF2B5EF4-FFF2-40B4-BE49-F238E27FC236}">
                <a16:creationId xmlns:a16="http://schemas.microsoft.com/office/drawing/2014/main" id="{4FFC4254-B0F6-AF16-5165-D7820BD14377}"/>
              </a:ext>
            </a:extLst>
          </p:cNvPr>
          <p:cNvSpPr txBox="1"/>
          <p:nvPr/>
        </p:nvSpPr>
        <p:spPr>
          <a:xfrm>
            <a:off x="3749782" y="2794582"/>
            <a:ext cx="1759113" cy="369332"/>
          </a:xfrm>
          <a:prstGeom prst="rect">
            <a:avLst/>
          </a:prstGeom>
          <a:solidFill>
            <a:schemeClr val="bg2"/>
          </a:solidFill>
          <a:ln>
            <a:solidFill>
              <a:schemeClr val="tx1"/>
            </a:solidFill>
          </a:ln>
        </p:spPr>
        <p:txBody>
          <a:bodyPr wrap="square">
            <a:spAutoFit/>
          </a:bodyPr>
          <a:lstStyle/>
          <a:p>
            <a:pPr algn="ctr"/>
            <a:r>
              <a:rPr lang="en-ZA" b="1"/>
              <a:t>Deontological</a:t>
            </a:r>
            <a:r>
              <a:rPr lang="en-ZA"/>
              <a:t> </a:t>
            </a:r>
          </a:p>
        </p:txBody>
      </p:sp>
      <p:sp>
        <p:nvSpPr>
          <p:cNvPr id="1052" name="TextBox 1051">
            <a:extLst>
              <a:ext uri="{FF2B5EF4-FFF2-40B4-BE49-F238E27FC236}">
                <a16:creationId xmlns:a16="http://schemas.microsoft.com/office/drawing/2014/main" id="{22B89C4D-F21B-6204-813C-BA76C57EBDB6}"/>
              </a:ext>
            </a:extLst>
          </p:cNvPr>
          <p:cNvSpPr txBox="1"/>
          <p:nvPr/>
        </p:nvSpPr>
        <p:spPr>
          <a:xfrm>
            <a:off x="6851507" y="2818171"/>
            <a:ext cx="1609725" cy="369332"/>
          </a:xfrm>
          <a:prstGeom prst="rect">
            <a:avLst/>
          </a:prstGeom>
          <a:solidFill>
            <a:srgbClr val="EA9696"/>
          </a:solidFill>
          <a:ln>
            <a:solidFill>
              <a:schemeClr val="tx1"/>
            </a:solidFill>
          </a:ln>
        </p:spPr>
        <p:txBody>
          <a:bodyPr wrap="square">
            <a:spAutoFit/>
          </a:bodyPr>
          <a:lstStyle/>
          <a:p>
            <a:pPr algn="ctr"/>
            <a:r>
              <a:rPr lang="en-ZA" b="1"/>
              <a:t>Virtue </a:t>
            </a:r>
          </a:p>
        </p:txBody>
      </p:sp>
      <p:sp>
        <p:nvSpPr>
          <p:cNvPr id="1053" name="TextBox 1052">
            <a:extLst>
              <a:ext uri="{FF2B5EF4-FFF2-40B4-BE49-F238E27FC236}">
                <a16:creationId xmlns:a16="http://schemas.microsoft.com/office/drawing/2014/main" id="{1EB1B269-045B-2DFC-778C-9FF080A68283}"/>
              </a:ext>
            </a:extLst>
          </p:cNvPr>
          <p:cNvSpPr txBox="1"/>
          <p:nvPr/>
        </p:nvSpPr>
        <p:spPr>
          <a:xfrm>
            <a:off x="9779407" y="2809773"/>
            <a:ext cx="1957375" cy="369332"/>
          </a:xfrm>
          <a:prstGeom prst="rect">
            <a:avLst/>
          </a:prstGeom>
          <a:solidFill>
            <a:schemeClr val="accent2">
              <a:lumMod val="40000"/>
              <a:lumOff val="60000"/>
            </a:schemeClr>
          </a:solidFill>
          <a:ln>
            <a:solidFill>
              <a:schemeClr val="tx1"/>
            </a:solidFill>
          </a:ln>
        </p:spPr>
        <p:txBody>
          <a:bodyPr wrap="square">
            <a:spAutoFit/>
          </a:bodyPr>
          <a:lstStyle/>
          <a:p>
            <a:pPr algn="ctr"/>
            <a:r>
              <a:rPr lang="en-ZA" b="1"/>
              <a:t>Veil of Ignorance </a:t>
            </a:r>
          </a:p>
        </p:txBody>
      </p:sp>
      <p:sp>
        <p:nvSpPr>
          <p:cNvPr id="4" name="Rectangle: Rounded Corners 3">
            <a:extLst>
              <a:ext uri="{FF2B5EF4-FFF2-40B4-BE49-F238E27FC236}">
                <a16:creationId xmlns:a16="http://schemas.microsoft.com/office/drawing/2014/main" id="{5A5C88C7-23B4-82F6-A453-8B9F70804CA4}"/>
              </a:ext>
            </a:extLst>
          </p:cNvPr>
          <p:cNvSpPr/>
          <p:nvPr/>
        </p:nvSpPr>
        <p:spPr>
          <a:xfrm>
            <a:off x="3126223" y="3318933"/>
            <a:ext cx="2777067" cy="346225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Fundamental rights under GDPR such as privacy and consent concerns – use of DPIA</a:t>
            </a:r>
          </a:p>
          <a:p>
            <a:pPr marL="285750" indent="-285750">
              <a:buFont typeface="Arial" panose="020B0604020202020204" pitchFamily="34" charset="0"/>
              <a:buChar char="•"/>
            </a:pPr>
            <a:r>
              <a:rPr lang="en-ZA">
                <a:solidFill>
                  <a:schemeClr val="tx1"/>
                </a:solidFill>
              </a:rPr>
              <a:t>Risks of Misuse</a:t>
            </a:r>
          </a:p>
          <a:p>
            <a:pPr marL="285750" indent="-285750">
              <a:buFont typeface="Arial" panose="020B0604020202020204" pitchFamily="34" charset="0"/>
              <a:buChar char="•"/>
            </a:pPr>
            <a:r>
              <a:rPr lang="en-ZA">
                <a:solidFill>
                  <a:schemeClr val="tx1"/>
                </a:solidFill>
              </a:rPr>
              <a:t>Migrants possible distrust in authoritative figures</a:t>
            </a:r>
          </a:p>
          <a:p>
            <a:pPr marL="285750" indent="-285750">
              <a:buFont typeface="Arial" panose="020B0604020202020204" pitchFamily="34" charset="0"/>
              <a:buChar char="•"/>
            </a:pPr>
            <a:r>
              <a:rPr lang="en-ZA">
                <a:solidFill>
                  <a:schemeClr val="tx1"/>
                </a:solidFill>
              </a:rPr>
              <a:t>Ethical conflict</a:t>
            </a:r>
          </a:p>
          <a:p>
            <a:pPr algn="ctr"/>
            <a:r>
              <a:rPr lang="en-ZA" b="1">
                <a:solidFill>
                  <a:schemeClr val="tx1"/>
                </a:solidFill>
              </a:rPr>
              <a:t>“duties, morals and intrinsic ethics”</a:t>
            </a:r>
          </a:p>
        </p:txBody>
      </p:sp>
      <p:pic>
        <p:nvPicPr>
          <p:cNvPr id="9" name="Picture 8">
            <a:extLst>
              <a:ext uri="{FF2B5EF4-FFF2-40B4-BE49-F238E27FC236}">
                <a16:creationId xmlns:a16="http://schemas.microsoft.com/office/drawing/2014/main" id="{6AED3BD3-A880-44DB-E83F-A7CAA530F03E}"/>
              </a:ext>
            </a:extLst>
          </p:cNvPr>
          <p:cNvPicPr>
            <a:picLocks noChangeAspect="1"/>
          </p:cNvPicPr>
          <p:nvPr/>
        </p:nvPicPr>
        <p:blipFill>
          <a:blip r:embed="rId11"/>
          <a:stretch>
            <a:fillRect/>
          </a:stretch>
        </p:blipFill>
        <p:spPr>
          <a:xfrm>
            <a:off x="10296525" y="1543050"/>
            <a:ext cx="914400" cy="771525"/>
          </a:xfrm>
          <a:prstGeom prst="rect">
            <a:avLst/>
          </a:prstGeom>
        </p:spPr>
      </p:pic>
    </p:spTree>
    <p:extLst>
      <p:ext uri="{BB962C8B-B14F-4D97-AF65-F5344CB8AC3E}">
        <p14:creationId xmlns:p14="http://schemas.microsoft.com/office/powerpoint/2010/main" val="6070157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Shape 52">
          <a:extLst>
            <a:ext uri="{FF2B5EF4-FFF2-40B4-BE49-F238E27FC236}">
              <a16:creationId xmlns:a16="http://schemas.microsoft.com/office/drawing/2014/main" id="{6E37F734-34C0-326B-5DDC-7A4D464C43A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5378893-1F5C-B113-9669-4E720E7DDCA7}"/>
              </a:ext>
            </a:extLst>
          </p:cNvPr>
          <p:cNvSpPr/>
          <p:nvPr/>
        </p:nvSpPr>
        <p:spPr>
          <a:xfrm>
            <a:off x="99591" y="59017"/>
            <a:ext cx="11992817" cy="769441"/>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ln>
                <a:solidFill>
                  <a:schemeClr val="tx1"/>
                </a:solidFill>
                <a:prstDash val="solid"/>
              </a:ln>
            </a:endParaRPr>
          </a:p>
        </p:txBody>
      </p:sp>
      <p:sp>
        <p:nvSpPr>
          <p:cNvPr id="3" name="Rectangle 2">
            <a:extLst>
              <a:ext uri="{FF2B5EF4-FFF2-40B4-BE49-F238E27FC236}">
                <a16:creationId xmlns:a16="http://schemas.microsoft.com/office/drawing/2014/main" id="{2CE955F1-4DDB-CF9C-1167-1E076F2E610B}"/>
              </a:ext>
            </a:extLst>
          </p:cNvPr>
          <p:cNvSpPr/>
          <p:nvPr/>
        </p:nvSpPr>
        <p:spPr>
          <a:xfrm>
            <a:off x="4238174" y="140340"/>
            <a:ext cx="4006068" cy="62884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165CA750-113B-212E-C436-05FD5FD6EEC8}"/>
              </a:ext>
            </a:extLst>
          </p:cNvPr>
          <p:cNvSpPr txBox="1"/>
          <p:nvPr/>
        </p:nvSpPr>
        <p:spPr>
          <a:xfrm>
            <a:off x="4055532" y="112427"/>
            <a:ext cx="2777067" cy="769441"/>
          </a:xfrm>
          <a:prstGeom prst="rect">
            <a:avLst/>
          </a:prstGeom>
          <a:noFill/>
        </p:spPr>
        <p:txBody>
          <a:bodyPr wrap="square" rtlCol="0">
            <a:spAutoFit/>
          </a:bodyPr>
          <a:lstStyle/>
          <a:p>
            <a:pPr algn="ctr"/>
            <a:r>
              <a:rPr lang="en-ZA" sz="4400" b="1"/>
              <a:t>ETHICAL</a:t>
            </a:r>
            <a:r>
              <a:rPr lang="en-ZA"/>
              <a:t> </a:t>
            </a:r>
          </a:p>
        </p:txBody>
      </p:sp>
      <p:pic>
        <p:nvPicPr>
          <p:cNvPr id="19" name="Graphic 18" descr="Right Brain with solid fill">
            <a:extLst>
              <a:ext uri="{FF2B5EF4-FFF2-40B4-BE49-F238E27FC236}">
                <a16:creationId xmlns:a16="http://schemas.microsoft.com/office/drawing/2014/main" id="{51BB87BE-5807-C23D-7DEA-DF9B0C7122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69938" y="89280"/>
            <a:ext cx="769441" cy="769441"/>
          </a:xfrm>
          <a:prstGeom prst="rect">
            <a:avLst/>
          </a:prstGeom>
        </p:spPr>
      </p:pic>
      <p:sp>
        <p:nvSpPr>
          <p:cNvPr id="1036" name="Rectangle: Rounded Corners 1035">
            <a:extLst>
              <a:ext uri="{FF2B5EF4-FFF2-40B4-BE49-F238E27FC236}">
                <a16:creationId xmlns:a16="http://schemas.microsoft.com/office/drawing/2014/main" id="{BD98B7A3-F298-F195-105E-C9D39CB688E3}"/>
              </a:ext>
            </a:extLst>
          </p:cNvPr>
          <p:cNvSpPr/>
          <p:nvPr/>
        </p:nvSpPr>
        <p:spPr>
          <a:xfrm>
            <a:off x="237066" y="3318933"/>
            <a:ext cx="2760134" cy="3462252"/>
          </a:xfrm>
          <a:prstGeom prst="roundRect">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Improved identification and Verification procedures </a:t>
            </a:r>
          </a:p>
          <a:p>
            <a:pPr marL="285750" indent="-285750">
              <a:buFont typeface="Arial" panose="020B0604020202020204" pitchFamily="34" charset="0"/>
              <a:buChar char="•"/>
            </a:pPr>
            <a:r>
              <a:rPr lang="en-ZA">
                <a:solidFill>
                  <a:schemeClr val="tx1"/>
                </a:solidFill>
              </a:rPr>
              <a:t>Aids in fraud detection, safety and greater public security. </a:t>
            </a:r>
          </a:p>
          <a:p>
            <a:pPr marL="285750" indent="-285750">
              <a:buFont typeface="Arial" panose="020B0604020202020204" pitchFamily="34" charset="0"/>
              <a:buChar char="•"/>
            </a:pPr>
            <a:r>
              <a:rPr lang="en-ZA">
                <a:solidFill>
                  <a:schemeClr val="tx1"/>
                </a:solidFill>
              </a:rPr>
              <a:t>Robustness</a:t>
            </a:r>
          </a:p>
          <a:p>
            <a:pPr marL="285750" indent="-285750">
              <a:buFont typeface="Arial" panose="020B0604020202020204" pitchFamily="34" charset="0"/>
              <a:buChar char="•"/>
            </a:pPr>
            <a:r>
              <a:rPr lang="en-ZA">
                <a:solidFill>
                  <a:schemeClr val="tx1"/>
                </a:solidFill>
              </a:rPr>
              <a:t>Increased efficiency</a:t>
            </a:r>
          </a:p>
          <a:p>
            <a:pPr algn="ctr"/>
            <a:r>
              <a:rPr lang="en-ZA" b="1">
                <a:solidFill>
                  <a:schemeClr val="tx1"/>
                </a:solidFill>
              </a:rPr>
              <a:t>“greatest good” </a:t>
            </a:r>
          </a:p>
        </p:txBody>
      </p:sp>
      <p:sp>
        <p:nvSpPr>
          <p:cNvPr id="1041" name="Oval 1040">
            <a:extLst>
              <a:ext uri="{FF2B5EF4-FFF2-40B4-BE49-F238E27FC236}">
                <a16:creationId xmlns:a16="http://schemas.microsoft.com/office/drawing/2014/main" id="{2CE78F62-CE33-5DF6-17FD-C77A95517C74}"/>
              </a:ext>
            </a:extLst>
          </p:cNvPr>
          <p:cNvSpPr/>
          <p:nvPr/>
        </p:nvSpPr>
        <p:spPr>
          <a:xfrm>
            <a:off x="778155" y="1086031"/>
            <a:ext cx="1703708" cy="1637458"/>
          </a:xfrm>
          <a:prstGeom prst="ellipse">
            <a:avLst/>
          </a:prstGeom>
          <a:solidFill>
            <a:schemeClr val="accent3">
              <a:lumMod val="40000"/>
              <a:lumOff val="6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2" name="Oval 1041">
            <a:extLst>
              <a:ext uri="{FF2B5EF4-FFF2-40B4-BE49-F238E27FC236}">
                <a16:creationId xmlns:a16="http://schemas.microsoft.com/office/drawing/2014/main" id="{1EE1A7AD-8C01-25F7-34E1-857015D0F02E}"/>
              </a:ext>
            </a:extLst>
          </p:cNvPr>
          <p:cNvSpPr/>
          <p:nvPr/>
        </p:nvSpPr>
        <p:spPr>
          <a:xfrm>
            <a:off x="3749782" y="1110830"/>
            <a:ext cx="1759113" cy="1637458"/>
          </a:xfrm>
          <a:prstGeom prst="ellipse">
            <a:avLst/>
          </a:prstGeom>
          <a:solidFill>
            <a:schemeClr val="bg2">
              <a:lumMod val="9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3" name="Oval 1042">
            <a:extLst>
              <a:ext uri="{FF2B5EF4-FFF2-40B4-BE49-F238E27FC236}">
                <a16:creationId xmlns:a16="http://schemas.microsoft.com/office/drawing/2014/main" id="{A1E74774-C807-DDB5-CE17-7910968F7369}"/>
              </a:ext>
            </a:extLst>
          </p:cNvPr>
          <p:cNvSpPr/>
          <p:nvPr/>
        </p:nvSpPr>
        <p:spPr>
          <a:xfrm>
            <a:off x="6776814" y="1058621"/>
            <a:ext cx="1759113" cy="1645920"/>
          </a:xfrm>
          <a:prstGeom prst="ellipse">
            <a:avLst/>
          </a:prstGeom>
          <a:solidFill>
            <a:srgbClr val="EA9696"/>
          </a:solidFill>
          <a:ln>
            <a:solidFill>
              <a:srgbClr val="EA96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4" name="Oval 1043">
            <a:extLst>
              <a:ext uri="{FF2B5EF4-FFF2-40B4-BE49-F238E27FC236}">
                <a16:creationId xmlns:a16="http://schemas.microsoft.com/office/drawing/2014/main" id="{561B618B-918D-DBD3-EB79-4699AEB53858}"/>
              </a:ext>
            </a:extLst>
          </p:cNvPr>
          <p:cNvSpPr/>
          <p:nvPr/>
        </p:nvSpPr>
        <p:spPr>
          <a:xfrm>
            <a:off x="9878539" y="1077569"/>
            <a:ext cx="1759113" cy="1645920"/>
          </a:xfrm>
          <a:prstGeom prst="ellipse">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45" name="Graphic 1044" descr="Online meeting with solid fill">
            <a:extLst>
              <a:ext uri="{FF2B5EF4-FFF2-40B4-BE49-F238E27FC236}">
                <a16:creationId xmlns:a16="http://schemas.microsoft.com/office/drawing/2014/main" id="{065306D9-3DF5-014C-24CF-F8A71EEE38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9845" y="1413691"/>
            <a:ext cx="914400" cy="914400"/>
          </a:xfrm>
          <a:prstGeom prst="rect">
            <a:avLst/>
          </a:prstGeom>
        </p:spPr>
      </p:pic>
      <p:pic>
        <p:nvPicPr>
          <p:cNvPr id="1047" name="Graphic 1046" descr="Judge female with solid fill">
            <a:extLst>
              <a:ext uri="{FF2B5EF4-FFF2-40B4-BE49-F238E27FC236}">
                <a16:creationId xmlns:a16="http://schemas.microsoft.com/office/drawing/2014/main" id="{7FBA4E25-B859-D473-4C1C-0C7B6929AC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9170" y="1481027"/>
            <a:ext cx="914400" cy="914400"/>
          </a:xfrm>
          <a:prstGeom prst="rect">
            <a:avLst/>
          </a:prstGeom>
        </p:spPr>
      </p:pic>
      <p:pic>
        <p:nvPicPr>
          <p:cNvPr id="1048" name="Graphic 1047" descr="Thumbs up sign with solid fill">
            <a:extLst>
              <a:ext uri="{FF2B5EF4-FFF2-40B4-BE49-F238E27FC236}">
                <a16:creationId xmlns:a16="http://schemas.microsoft.com/office/drawing/2014/main" id="{C482954A-5BE8-9741-84F6-08B7D0186A4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51642" y="1765946"/>
            <a:ext cx="726230" cy="726230"/>
          </a:xfrm>
          <a:prstGeom prst="rect">
            <a:avLst/>
          </a:prstGeom>
        </p:spPr>
      </p:pic>
      <p:pic>
        <p:nvPicPr>
          <p:cNvPr id="1049" name="Graphic 1048" descr="Thumbs up sign with solid fill">
            <a:extLst>
              <a:ext uri="{FF2B5EF4-FFF2-40B4-BE49-F238E27FC236}">
                <a16:creationId xmlns:a16="http://schemas.microsoft.com/office/drawing/2014/main" id="{9D3C4E3E-622E-981C-475B-84F444BF51F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4486707" y="1402831"/>
            <a:ext cx="726230" cy="726230"/>
          </a:xfrm>
          <a:prstGeom prst="rect">
            <a:avLst/>
          </a:prstGeom>
        </p:spPr>
      </p:pic>
      <p:sp>
        <p:nvSpPr>
          <p:cNvPr id="1050" name="TextBox 1049">
            <a:extLst>
              <a:ext uri="{FF2B5EF4-FFF2-40B4-BE49-F238E27FC236}">
                <a16:creationId xmlns:a16="http://schemas.microsoft.com/office/drawing/2014/main" id="{8D344B58-91E6-7FF8-8F4F-030A9C6A7CE4}"/>
              </a:ext>
            </a:extLst>
          </p:cNvPr>
          <p:cNvSpPr txBox="1"/>
          <p:nvPr/>
        </p:nvSpPr>
        <p:spPr>
          <a:xfrm>
            <a:off x="778155" y="2786358"/>
            <a:ext cx="1609725" cy="369332"/>
          </a:xfrm>
          <a:prstGeom prst="rect">
            <a:avLst/>
          </a:prstGeom>
          <a:solidFill>
            <a:srgbClr val="84E291"/>
          </a:solidFill>
          <a:ln w="9525">
            <a:solidFill>
              <a:schemeClr val="tx1"/>
            </a:solidFill>
          </a:ln>
        </p:spPr>
        <p:txBody>
          <a:bodyPr wrap="square" rtlCol="0">
            <a:spAutoFit/>
          </a:bodyPr>
          <a:lstStyle/>
          <a:p>
            <a:pPr algn="ctr"/>
            <a:r>
              <a:rPr lang="en-ZA" b="1"/>
              <a:t>Utilitarian</a:t>
            </a:r>
          </a:p>
        </p:txBody>
      </p:sp>
      <p:sp>
        <p:nvSpPr>
          <p:cNvPr id="1051" name="TextBox 1050">
            <a:extLst>
              <a:ext uri="{FF2B5EF4-FFF2-40B4-BE49-F238E27FC236}">
                <a16:creationId xmlns:a16="http://schemas.microsoft.com/office/drawing/2014/main" id="{8AECD01A-CFB9-CEEC-9253-E54D76146E53}"/>
              </a:ext>
            </a:extLst>
          </p:cNvPr>
          <p:cNvSpPr txBox="1"/>
          <p:nvPr/>
        </p:nvSpPr>
        <p:spPr>
          <a:xfrm>
            <a:off x="3749782" y="2794582"/>
            <a:ext cx="1759113" cy="369332"/>
          </a:xfrm>
          <a:prstGeom prst="rect">
            <a:avLst/>
          </a:prstGeom>
          <a:solidFill>
            <a:schemeClr val="bg2"/>
          </a:solidFill>
          <a:ln>
            <a:solidFill>
              <a:schemeClr val="tx1"/>
            </a:solidFill>
          </a:ln>
        </p:spPr>
        <p:txBody>
          <a:bodyPr wrap="square">
            <a:spAutoFit/>
          </a:bodyPr>
          <a:lstStyle/>
          <a:p>
            <a:pPr algn="ctr"/>
            <a:r>
              <a:rPr lang="en-ZA" b="1"/>
              <a:t>Deontological</a:t>
            </a:r>
            <a:r>
              <a:rPr lang="en-ZA"/>
              <a:t> </a:t>
            </a:r>
          </a:p>
        </p:txBody>
      </p:sp>
      <p:sp>
        <p:nvSpPr>
          <p:cNvPr id="1052" name="TextBox 1051">
            <a:extLst>
              <a:ext uri="{FF2B5EF4-FFF2-40B4-BE49-F238E27FC236}">
                <a16:creationId xmlns:a16="http://schemas.microsoft.com/office/drawing/2014/main" id="{4511CCCC-2786-0EF9-9350-452B7407540D}"/>
              </a:ext>
            </a:extLst>
          </p:cNvPr>
          <p:cNvSpPr txBox="1"/>
          <p:nvPr/>
        </p:nvSpPr>
        <p:spPr>
          <a:xfrm>
            <a:off x="6851507" y="2818171"/>
            <a:ext cx="1609725" cy="369332"/>
          </a:xfrm>
          <a:prstGeom prst="rect">
            <a:avLst/>
          </a:prstGeom>
          <a:solidFill>
            <a:srgbClr val="EA9696"/>
          </a:solidFill>
          <a:ln>
            <a:solidFill>
              <a:schemeClr val="tx1"/>
            </a:solidFill>
          </a:ln>
        </p:spPr>
        <p:txBody>
          <a:bodyPr wrap="square">
            <a:spAutoFit/>
          </a:bodyPr>
          <a:lstStyle/>
          <a:p>
            <a:pPr algn="ctr"/>
            <a:r>
              <a:rPr lang="en-ZA" b="1"/>
              <a:t>Virtue </a:t>
            </a:r>
          </a:p>
        </p:txBody>
      </p:sp>
      <p:sp>
        <p:nvSpPr>
          <p:cNvPr id="1053" name="TextBox 1052">
            <a:extLst>
              <a:ext uri="{FF2B5EF4-FFF2-40B4-BE49-F238E27FC236}">
                <a16:creationId xmlns:a16="http://schemas.microsoft.com/office/drawing/2014/main" id="{6A2D0E66-A392-586F-E4EC-8FE50C92123A}"/>
              </a:ext>
            </a:extLst>
          </p:cNvPr>
          <p:cNvSpPr txBox="1"/>
          <p:nvPr/>
        </p:nvSpPr>
        <p:spPr>
          <a:xfrm>
            <a:off x="9779407" y="2809773"/>
            <a:ext cx="1957375" cy="369332"/>
          </a:xfrm>
          <a:prstGeom prst="rect">
            <a:avLst/>
          </a:prstGeom>
          <a:solidFill>
            <a:schemeClr val="accent2">
              <a:lumMod val="40000"/>
              <a:lumOff val="60000"/>
            </a:schemeClr>
          </a:solidFill>
          <a:ln>
            <a:solidFill>
              <a:schemeClr val="tx1"/>
            </a:solidFill>
          </a:ln>
        </p:spPr>
        <p:txBody>
          <a:bodyPr wrap="square">
            <a:spAutoFit/>
          </a:bodyPr>
          <a:lstStyle/>
          <a:p>
            <a:pPr algn="ctr"/>
            <a:r>
              <a:rPr lang="en-ZA" b="1"/>
              <a:t>Veil of Ignorance </a:t>
            </a:r>
          </a:p>
        </p:txBody>
      </p:sp>
      <p:sp>
        <p:nvSpPr>
          <p:cNvPr id="4" name="Rectangle: Rounded Corners 3">
            <a:extLst>
              <a:ext uri="{FF2B5EF4-FFF2-40B4-BE49-F238E27FC236}">
                <a16:creationId xmlns:a16="http://schemas.microsoft.com/office/drawing/2014/main" id="{F81026F0-0D0E-6ED6-63FA-A0A33F0FCE68}"/>
              </a:ext>
            </a:extLst>
          </p:cNvPr>
          <p:cNvSpPr/>
          <p:nvPr/>
        </p:nvSpPr>
        <p:spPr>
          <a:xfrm>
            <a:off x="3126223" y="3318933"/>
            <a:ext cx="2777067" cy="346225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Fundamental rights under GDPR such as privacy and consent concerns – use of DPIA</a:t>
            </a:r>
          </a:p>
          <a:p>
            <a:pPr marL="285750" indent="-285750">
              <a:buFont typeface="Arial" panose="020B0604020202020204" pitchFamily="34" charset="0"/>
              <a:buChar char="•"/>
            </a:pPr>
            <a:r>
              <a:rPr lang="en-ZA">
                <a:solidFill>
                  <a:schemeClr val="tx1"/>
                </a:solidFill>
              </a:rPr>
              <a:t>Risks of Misuse</a:t>
            </a:r>
          </a:p>
          <a:p>
            <a:pPr marL="285750" indent="-285750">
              <a:buFont typeface="Arial" panose="020B0604020202020204" pitchFamily="34" charset="0"/>
              <a:buChar char="•"/>
            </a:pPr>
            <a:r>
              <a:rPr lang="en-ZA">
                <a:solidFill>
                  <a:schemeClr val="tx1"/>
                </a:solidFill>
              </a:rPr>
              <a:t>Migrants possible distrust in authoritative figures</a:t>
            </a:r>
          </a:p>
          <a:p>
            <a:pPr marL="285750" indent="-285750">
              <a:buFont typeface="Arial" panose="020B0604020202020204" pitchFamily="34" charset="0"/>
              <a:buChar char="•"/>
            </a:pPr>
            <a:r>
              <a:rPr lang="en-ZA">
                <a:solidFill>
                  <a:schemeClr val="tx1"/>
                </a:solidFill>
              </a:rPr>
              <a:t>Ethical conflict</a:t>
            </a:r>
          </a:p>
          <a:p>
            <a:pPr algn="ctr"/>
            <a:r>
              <a:rPr lang="en-ZA" b="1">
                <a:solidFill>
                  <a:schemeClr val="tx1"/>
                </a:solidFill>
              </a:rPr>
              <a:t>“duties, morals and intrinsic ethics”</a:t>
            </a:r>
          </a:p>
        </p:txBody>
      </p:sp>
      <p:sp>
        <p:nvSpPr>
          <p:cNvPr id="5" name="Rectangle: Rounded Corners 4">
            <a:extLst>
              <a:ext uri="{FF2B5EF4-FFF2-40B4-BE49-F238E27FC236}">
                <a16:creationId xmlns:a16="http://schemas.microsoft.com/office/drawing/2014/main" id="{0E257D23-E716-AF60-F48A-DB1560ED6476}"/>
              </a:ext>
            </a:extLst>
          </p:cNvPr>
          <p:cNvSpPr/>
          <p:nvPr/>
        </p:nvSpPr>
        <p:spPr>
          <a:xfrm>
            <a:off x="5993231" y="3301133"/>
            <a:ext cx="3326276" cy="3480052"/>
          </a:xfrm>
          <a:prstGeom prst="roundRect">
            <a:avLst/>
          </a:prstGeom>
          <a:solidFill>
            <a:srgbClr val="EA969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Institutional Virtues : Fairness, trust, respect, empathy, transparency</a:t>
            </a:r>
          </a:p>
          <a:p>
            <a:pPr marL="285750" indent="-285750">
              <a:buFont typeface="Arial" panose="020B0604020202020204" pitchFamily="34" charset="0"/>
              <a:buChar char="•"/>
            </a:pPr>
            <a:r>
              <a:rPr lang="en-ZA">
                <a:solidFill>
                  <a:schemeClr val="tx1"/>
                </a:solidFill>
              </a:rPr>
              <a:t>Bias and Discrimination Risks – AFR technologies</a:t>
            </a:r>
          </a:p>
          <a:p>
            <a:pPr marL="285750" indent="-285750">
              <a:buFont typeface="Arial" panose="020B0604020202020204" pitchFamily="34" charset="0"/>
              <a:buChar char="•"/>
            </a:pPr>
            <a:r>
              <a:rPr lang="en-ZA">
                <a:solidFill>
                  <a:schemeClr val="tx1"/>
                </a:solidFill>
              </a:rPr>
              <a:t>Lack of respect and dignity – erodes public trust</a:t>
            </a:r>
          </a:p>
          <a:p>
            <a:pPr marL="285750" indent="-285750">
              <a:buFont typeface="Arial" panose="020B0604020202020204" pitchFamily="34" charset="0"/>
              <a:buChar char="•"/>
            </a:pPr>
            <a:r>
              <a:rPr lang="en-ZA">
                <a:solidFill>
                  <a:schemeClr val="tx1"/>
                </a:solidFill>
              </a:rPr>
              <a:t>Importance of Moral Evaluation</a:t>
            </a:r>
          </a:p>
          <a:p>
            <a:pPr algn="ctr"/>
            <a:r>
              <a:rPr lang="en-ZA" b="1">
                <a:solidFill>
                  <a:schemeClr val="tx1"/>
                </a:solidFill>
              </a:rPr>
              <a:t>“character and moral virtues of actors”</a:t>
            </a:r>
          </a:p>
        </p:txBody>
      </p:sp>
      <p:pic>
        <p:nvPicPr>
          <p:cNvPr id="8" name="Picture 7">
            <a:extLst>
              <a:ext uri="{FF2B5EF4-FFF2-40B4-BE49-F238E27FC236}">
                <a16:creationId xmlns:a16="http://schemas.microsoft.com/office/drawing/2014/main" id="{9244F08A-0431-8DD3-34D9-E84D003B75E4}"/>
              </a:ext>
            </a:extLst>
          </p:cNvPr>
          <p:cNvPicPr>
            <a:picLocks noChangeAspect="1"/>
          </p:cNvPicPr>
          <p:nvPr/>
        </p:nvPicPr>
        <p:blipFill>
          <a:blip r:embed="rId11"/>
          <a:stretch>
            <a:fillRect/>
          </a:stretch>
        </p:blipFill>
        <p:spPr>
          <a:xfrm>
            <a:off x="10296525" y="1543050"/>
            <a:ext cx="914400" cy="771525"/>
          </a:xfrm>
          <a:prstGeom prst="rect">
            <a:avLst/>
          </a:prstGeom>
        </p:spPr>
      </p:pic>
    </p:spTree>
    <p:extLst>
      <p:ext uri="{BB962C8B-B14F-4D97-AF65-F5344CB8AC3E}">
        <p14:creationId xmlns:p14="http://schemas.microsoft.com/office/powerpoint/2010/main" val="21308996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Shape 52">
          <a:extLst>
            <a:ext uri="{FF2B5EF4-FFF2-40B4-BE49-F238E27FC236}">
              <a16:creationId xmlns:a16="http://schemas.microsoft.com/office/drawing/2014/main" id="{470FE322-62AB-1411-5C36-D9AA3FB9E9E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23A2B91-9C17-9530-2202-C4E11591FDC4}"/>
              </a:ext>
            </a:extLst>
          </p:cNvPr>
          <p:cNvSpPr/>
          <p:nvPr/>
        </p:nvSpPr>
        <p:spPr>
          <a:xfrm>
            <a:off x="99591" y="59017"/>
            <a:ext cx="11992817" cy="769441"/>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ln>
                <a:solidFill>
                  <a:schemeClr val="tx1"/>
                </a:solidFill>
                <a:prstDash val="solid"/>
              </a:ln>
            </a:endParaRPr>
          </a:p>
        </p:txBody>
      </p:sp>
      <p:sp>
        <p:nvSpPr>
          <p:cNvPr id="3" name="Rectangle 2">
            <a:extLst>
              <a:ext uri="{FF2B5EF4-FFF2-40B4-BE49-F238E27FC236}">
                <a16:creationId xmlns:a16="http://schemas.microsoft.com/office/drawing/2014/main" id="{66F61CF3-8284-3549-5AA0-2653537A76A4}"/>
              </a:ext>
            </a:extLst>
          </p:cNvPr>
          <p:cNvSpPr/>
          <p:nvPr/>
        </p:nvSpPr>
        <p:spPr>
          <a:xfrm>
            <a:off x="4238174" y="140340"/>
            <a:ext cx="4006068" cy="62884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C1C874D1-50B4-E10B-55A4-EF727A72DA07}"/>
              </a:ext>
            </a:extLst>
          </p:cNvPr>
          <p:cNvSpPr txBox="1"/>
          <p:nvPr/>
        </p:nvSpPr>
        <p:spPr>
          <a:xfrm>
            <a:off x="4055532" y="112427"/>
            <a:ext cx="2777067" cy="769441"/>
          </a:xfrm>
          <a:prstGeom prst="rect">
            <a:avLst/>
          </a:prstGeom>
          <a:noFill/>
        </p:spPr>
        <p:txBody>
          <a:bodyPr wrap="square" rtlCol="0">
            <a:spAutoFit/>
          </a:bodyPr>
          <a:lstStyle/>
          <a:p>
            <a:pPr algn="ctr"/>
            <a:r>
              <a:rPr lang="en-ZA" sz="4400" b="1"/>
              <a:t>ETHICAL</a:t>
            </a:r>
            <a:r>
              <a:rPr lang="en-ZA"/>
              <a:t> </a:t>
            </a:r>
          </a:p>
        </p:txBody>
      </p:sp>
      <p:pic>
        <p:nvPicPr>
          <p:cNvPr id="19" name="Graphic 18" descr="Right Brain with solid fill">
            <a:extLst>
              <a:ext uri="{FF2B5EF4-FFF2-40B4-BE49-F238E27FC236}">
                <a16:creationId xmlns:a16="http://schemas.microsoft.com/office/drawing/2014/main" id="{EBFD4A96-4E49-1F8A-0228-3A038A9F81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69938" y="89280"/>
            <a:ext cx="769441" cy="769441"/>
          </a:xfrm>
          <a:prstGeom prst="rect">
            <a:avLst/>
          </a:prstGeom>
        </p:spPr>
      </p:pic>
      <p:sp>
        <p:nvSpPr>
          <p:cNvPr id="1036" name="Rectangle: Rounded Corners 1035">
            <a:extLst>
              <a:ext uri="{FF2B5EF4-FFF2-40B4-BE49-F238E27FC236}">
                <a16:creationId xmlns:a16="http://schemas.microsoft.com/office/drawing/2014/main" id="{DB70F82E-C1B5-5716-AF2A-4809FA367642}"/>
              </a:ext>
            </a:extLst>
          </p:cNvPr>
          <p:cNvSpPr/>
          <p:nvPr/>
        </p:nvSpPr>
        <p:spPr>
          <a:xfrm>
            <a:off x="237066" y="3318933"/>
            <a:ext cx="2760134" cy="3462252"/>
          </a:xfrm>
          <a:prstGeom prst="roundRect">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Improved identification and Verification procedures </a:t>
            </a:r>
          </a:p>
          <a:p>
            <a:pPr marL="285750" indent="-285750">
              <a:buFont typeface="Arial" panose="020B0604020202020204" pitchFamily="34" charset="0"/>
              <a:buChar char="•"/>
            </a:pPr>
            <a:r>
              <a:rPr lang="en-ZA">
                <a:solidFill>
                  <a:schemeClr val="tx1"/>
                </a:solidFill>
              </a:rPr>
              <a:t>Aids in fraud detection, safety and greater public security. </a:t>
            </a:r>
          </a:p>
          <a:p>
            <a:pPr marL="285750" indent="-285750">
              <a:buFont typeface="Arial" panose="020B0604020202020204" pitchFamily="34" charset="0"/>
              <a:buChar char="•"/>
            </a:pPr>
            <a:r>
              <a:rPr lang="en-ZA">
                <a:solidFill>
                  <a:schemeClr val="tx1"/>
                </a:solidFill>
              </a:rPr>
              <a:t>Robustness</a:t>
            </a:r>
          </a:p>
          <a:p>
            <a:pPr marL="285750" indent="-285750">
              <a:buFont typeface="Arial" panose="020B0604020202020204" pitchFamily="34" charset="0"/>
              <a:buChar char="•"/>
            </a:pPr>
            <a:r>
              <a:rPr lang="en-ZA">
                <a:solidFill>
                  <a:schemeClr val="tx1"/>
                </a:solidFill>
              </a:rPr>
              <a:t>Increased efficiency</a:t>
            </a:r>
          </a:p>
          <a:p>
            <a:pPr algn="ctr"/>
            <a:r>
              <a:rPr lang="en-ZA" b="1">
                <a:solidFill>
                  <a:schemeClr val="tx1"/>
                </a:solidFill>
              </a:rPr>
              <a:t>“greatest good” </a:t>
            </a:r>
          </a:p>
        </p:txBody>
      </p:sp>
      <p:sp>
        <p:nvSpPr>
          <p:cNvPr id="1041" name="Oval 1040">
            <a:extLst>
              <a:ext uri="{FF2B5EF4-FFF2-40B4-BE49-F238E27FC236}">
                <a16:creationId xmlns:a16="http://schemas.microsoft.com/office/drawing/2014/main" id="{1856BA10-2639-CF6A-7BC2-E770A51880DC}"/>
              </a:ext>
            </a:extLst>
          </p:cNvPr>
          <p:cNvSpPr/>
          <p:nvPr/>
        </p:nvSpPr>
        <p:spPr>
          <a:xfrm>
            <a:off x="778155" y="1086031"/>
            <a:ext cx="1703708" cy="1637458"/>
          </a:xfrm>
          <a:prstGeom prst="ellipse">
            <a:avLst/>
          </a:prstGeom>
          <a:solidFill>
            <a:schemeClr val="accent3">
              <a:lumMod val="40000"/>
              <a:lumOff val="6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2" name="Oval 1041">
            <a:extLst>
              <a:ext uri="{FF2B5EF4-FFF2-40B4-BE49-F238E27FC236}">
                <a16:creationId xmlns:a16="http://schemas.microsoft.com/office/drawing/2014/main" id="{B55EE99F-E6D9-CD19-8245-36A4B939AFBB}"/>
              </a:ext>
            </a:extLst>
          </p:cNvPr>
          <p:cNvSpPr/>
          <p:nvPr/>
        </p:nvSpPr>
        <p:spPr>
          <a:xfrm>
            <a:off x="3749782" y="1110830"/>
            <a:ext cx="1759113" cy="1637458"/>
          </a:xfrm>
          <a:prstGeom prst="ellipse">
            <a:avLst/>
          </a:prstGeom>
          <a:solidFill>
            <a:schemeClr val="bg2">
              <a:lumMod val="9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3" name="Oval 1042">
            <a:extLst>
              <a:ext uri="{FF2B5EF4-FFF2-40B4-BE49-F238E27FC236}">
                <a16:creationId xmlns:a16="http://schemas.microsoft.com/office/drawing/2014/main" id="{FAD3620A-05A0-6C25-2369-8CCCA76F5725}"/>
              </a:ext>
            </a:extLst>
          </p:cNvPr>
          <p:cNvSpPr/>
          <p:nvPr/>
        </p:nvSpPr>
        <p:spPr>
          <a:xfrm>
            <a:off x="6776814" y="1058621"/>
            <a:ext cx="1759113" cy="1645920"/>
          </a:xfrm>
          <a:prstGeom prst="ellipse">
            <a:avLst/>
          </a:prstGeom>
          <a:solidFill>
            <a:srgbClr val="EA9696"/>
          </a:solidFill>
          <a:ln>
            <a:solidFill>
              <a:srgbClr val="EA96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44" name="Oval 1043">
            <a:extLst>
              <a:ext uri="{FF2B5EF4-FFF2-40B4-BE49-F238E27FC236}">
                <a16:creationId xmlns:a16="http://schemas.microsoft.com/office/drawing/2014/main" id="{EE8431A5-9DF6-A874-2D11-3508BD39DADA}"/>
              </a:ext>
            </a:extLst>
          </p:cNvPr>
          <p:cNvSpPr/>
          <p:nvPr/>
        </p:nvSpPr>
        <p:spPr>
          <a:xfrm>
            <a:off x="9878539" y="1077569"/>
            <a:ext cx="1759113" cy="1645920"/>
          </a:xfrm>
          <a:prstGeom prst="ellipse">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45" name="Graphic 1044" descr="Online meeting with solid fill">
            <a:extLst>
              <a:ext uri="{FF2B5EF4-FFF2-40B4-BE49-F238E27FC236}">
                <a16:creationId xmlns:a16="http://schemas.microsoft.com/office/drawing/2014/main" id="{7DF37B64-7669-39E1-2825-52DF4A39E2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9845" y="1413691"/>
            <a:ext cx="914400" cy="914400"/>
          </a:xfrm>
          <a:prstGeom prst="rect">
            <a:avLst/>
          </a:prstGeom>
        </p:spPr>
      </p:pic>
      <p:pic>
        <p:nvPicPr>
          <p:cNvPr id="1047" name="Graphic 1046" descr="Judge female with solid fill">
            <a:extLst>
              <a:ext uri="{FF2B5EF4-FFF2-40B4-BE49-F238E27FC236}">
                <a16:creationId xmlns:a16="http://schemas.microsoft.com/office/drawing/2014/main" id="{E597A59D-50FB-BAAE-E297-D01E3802EAB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9170" y="1481027"/>
            <a:ext cx="914400" cy="914400"/>
          </a:xfrm>
          <a:prstGeom prst="rect">
            <a:avLst/>
          </a:prstGeom>
        </p:spPr>
      </p:pic>
      <p:pic>
        <p:nvPicPr>
          <p:cNvPr id="1048" name="Graphic 1047" descr="Thumbs up sign with solid fill">
            <a:extLst>
              <a:ext uri="{FF2B5EF4-FFF2-40B4-BE49-F238E27FC236}">
                <a16:creationId xmlns:a16="http://schemas.microsoft.com/office/drawing/2014/main" id="{C30254F1-FBFA-0A07-8595-86DD7DE4123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51642" y="1765946"/>
            <a:ext cx="726230" cy="726230"/>
          </a:xfrm>
          <a:prstGeom prst="rect">
            <a:avLst/>
          </a:prstGeom>
        </p:spPr>
      </p:pic>
      <p:pic>
        <p:nvPicPr>
          <p:cNvPr id="1049" name="Graphic 1048" descr="Thumbs up sign with solid fill">
            <a:extLst>
              <a:ext uri="{FF2B5EF4-FFF2-40B4-BE49-F238E27FC236}">
                <a16:creationId xmlns:a16="http://schemas.microsoft.com/office/drawing/2014/main" id="{DA41C741-7C6C-4819-35F8-56C0E529E5D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4486707" y="1402831"/>
            <a:ext cx="726230" cy="726230"/>
          </a:xfrm>
          <a:prstGeom prst="rect">
            <a:avLst/>
          </a:prstGeom>
        </p:spPr>
      </p:pic>
      <p:sp>
        <p:nvSpPr>
          <p:cNvPr id="1050" name="TextBox 1049">
            <a:extLst>
              <a:ext uri="{FF2B5EF4-FFF2-40B4-BE49-F238E27FC236}">
                <a16:creationId xmlns:a16="http://schemas.microsoft.com/office/drawing/2014/main" id="{3C3968F4-440C-7F11-91B5-50B78E22FF86}"/>
              </a:ext>
            </a:extLst>
          </p:cNvPr>
          <p:cNvSpPr txBox="1"/>
          <p:nvPr/>
        </p:nvSpPr>
        <p:spPr>
          <a:xfrm>
            <a:off x="778155" y="2786358"/>
            <a:ext cx="1609725" cy="369332"/>
          </a:xfrm>
          <a:prstGeom prst="rect">
            <a:avLst/>
          </a:prstGeom>
          <a:solidFill>
            <a:srgbClr val="84E291"/>
          </a:solidFill>
          <a:ln w="9525">
            <a:solidFill>
              <a:schemeClr val="tx1"/>
            </a:solidFill>
          </a:ln>
        </p:spPr>
        <p:txBody>
          <a:bodyPr wrap="square" rtlCol="0">
            <a:spAutoFit/>
          </a:bodyPr>
          <a:lstStyle/>
          <a:p>
            <a:pPr algn="ctr"/>
            <a:r>
              <a:rPr lang="en-ZA" b="1"/>
              <a:t>Utilitarian</a:t>
            </a:r>
          </a:p>
        </p:txBody>
      </p:sp>
      <p:sp>
        <p:nvSpPr>
          <p:cNvPr id="1051" name="TextBox 1050">
            <a:extLst>
              <a:ext uri="{FF2B5EF4-FFF2-40B4-BE49-F238E27FC236}">
                <a16:creationId xmlns:a16="http://schemas.microsoft.com/office/drawing/2014/main" id="{88FB6ADB-66AD-9FEB-7F50-79DFC665C92E}"/>
              </a:ext>
            </a:extLst>
          </p:cNvPr>
          <p:cNvSpPr txBox="1"/>
          <p:nvPr/>
        </p:nvSpPr>
        <p:spPr>
          <a:xfrm>
            <a:off x="3749782" y="2794582"/>
            <a:ext cx="1759113" cy="369332"/>
          </a:xfrm>
          <a:prstGeom prst="rect">
            <a:avLst/>
          </a:prstGeom>
          <a:solidFill>
            <a:schemeClr val="bg2"/>
          </a:solidFill>
          <a:ln>
            <a:solidFill>
              <a:schemeClr val="tx1"/>
            </a:solidFill>
          </a:ln>
        </p:spPr>
        <p:txBody>
          <a:bodyPr wrap="square">
            <a:spAutoFit/>
          </a:bodyPr>
          <a:lstStyle/>
          <a:p>
            <a:pPr algn="ctr"/>
            <a:r>
              <a:rPr lang="en-ZA" b="1"/>
              <a:t>Deontological</a:t>
            </a:r>
            <a:r>
              <a:rPr lang="en-ZA"/>
              <a:t> </a:t>
            </a:r>
          </a:p>
        </p:txBody>
      </p:sp>
      <p:sp>
        <p:nvSpPr>
          <p:cNvPr id="1052" name="TextBox 1051">
            <a:extLst>
              <a:ext uri="{FF2B5EF4-FFF2-40B4-BE49-F238E27FC236}">
                <a16:creationId xmlns:a16="http://schemas.microsoft.com/office/drawing/2014/main" id="{3DD372CB-73FC-FDBE-51B1-912CEFA7F4E4}"/>
              </a:ext>
            </a:extLst>
          </p:cNvPr>
          <p:cNvSpPr txBox="1"/>
          <p:nvPr/>
        </p:nvSpPr>
        <p:spPr>
          <a:xfrm>
            <a:off x="6851507" y="2818171"/>
            <a:ext cx="1609725" cy="369332"/>
          </a:xfrm>
          <a:prstGeom prst="rect">
            <a:avLst/>
          </a:prstGeom>
          <a:solidFill>
            <a:srgbClr val="EA9696"/>
          </a:solidFill>
          <a:ln>
            <a:solidFill>
              <a:schemeClr val="tx1"/>
            </a:solidFill>
          </a:ln>
        </p:spPr>
        <p:txBody>
          <a:bodyPr wrap="square">
            <a:spAutoFit/>
          </a:bodyPr>
          <a:lstStyle/>
          <a:p>
            <a:pPr algn="ctr"/>
            <a:r>
              <a:rPr lang="en-ZA" b="1"/>
              <a:t>Virtue </a:t>
            </a:r>
          </a:p>
        </p:txBody>
      </p:sp>
      <p:sp>
        <p:nvSpPr>
          <p:cNvPr id="1053" name="TextBox 1052">
            <a:extLst>
              <a:ext uri="{FF2B5EF4-FFF2-40B4-BE49-F238E27FC236}">
                <a16:creationId xmlns:a16="http://schemas.microsoft.com/office/drawing/2014/main" id="{FB995EA1-A786-8B3B-86A0-F58E6E41EDB3}"/>
              </a:ext>
            </a:extLst>
          </p:cNvPr>
          <p:cNvSpPr txBox="1"/>
          <p:nvPr/>
        </p:nvSpPr>
        <p:spPr>
          <a:xfrm>
            <a:off x="9779407" y="2809773"/>
            <a:ext cx="1957375" cy="369332"/>
          </a:xfrm>
          <a:prstGeom prst="rect">
            <a:avLst/>
          </a:prstGeom>
          <a:solidFill>
            <a:schemeClr val="accent2">
              <a:lumMod val="40000"/>
              <a:lumOff val="60000"/>
            </a:schemeClr>
          </a:solidFill>
          <a:ln>
            <a:solidFill>
              <a:schemeClr val="tx1"/>
            </a:solidFill>
          </a:ln>
        </p:spPr>
        <p:txBody>
          <a:bodyPr wrap="square">
            <a:spAutoFit/>
          </a:bodyPr>
          <a:lstStyle/>
          <a:p>
            <a:pPr algn="ctr"/>
            <a:r>
              <a:rPr lang="en-ZA" b="1"/>
              <a:t>Veil of Ignorance </a:t>
            </a:r>
          </a:p>
        </p:txBody>
      </p:sp>
      <p:sp>
        <p:nvSpPr>
          <p:cNvPr id="4" name="Rectangle: Rounded Corners 3">
            <a:extLst>
              <a:ext uri="{FF2B5EF4-FFF2-40B4-BE49-F238E27FC236}">
                <a16:creationId xmlns:a16="http://schemas.microsoft.com/office/drawing/2014/main" id="{EDA1783D-D4B1-D46F-EC52-1BE9B9CFA38E}"/>
              </a:ext>
            </a:extLst>
          </p:cNvPr>
          <p:cNvSpPr/>
          <p:nvPr/>
        </p:nvSpPr>
        <p:spPr>
          <a:xfrm>
            <a:off x="3126223" y="3318933"/>
            <a:ext cx="2777067" cy="3462252"/>
          </a:xfrm>
          <a:prstGeom prst="roundRect">
            <a:avLst/>
          </a:prstGeom>
          <a:solidFill>
            <a:srgbClr val="D1D1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Fundamental rights under GDPR such as privacy and consent concerns – use of DPIA</a:t>
            </a:r>
          </a:p>
          <a:p>
            <a:pPr marL="285750" indent="-285750">
              <a:buFont typeface="Arial" panose="020B0604020202020204" pitchFamily="34" charset="0"/>
              <a:buChar char="•"/>
            </a:pPr>
            <a:r>
              <a:rPr lang="en-ZA">
                <a:solidFill>
                  <a:schemeClr val="tx1"/>
                </a:solidFill>
              </a:rPr>
              <a:t>Risks of Misuse</a:t>
            </a:r>
          </a:p>
          <a:p>
            <a:pPr marL="285750" indent="-285750">
              <a:buFont typeface="Arial" panose="020B0604020202020204" pitchFamily="34" charset="0"/>
              <a:buChar char="•"/>
            </a:pPr>
            <a:r>
              <a:rPr lang="en-ZA">
                <a:solidFill>
                  <a:schemeClr val="tx1"/>
                </a:solidFill>
              </a:rPr>
              <a:t>Migrants possible distrust in authoritative figures</a:t>
            </a:r>
          </a:p>
          <a:p>
            <a:pPr marL="285750" indent="-285750">
              <a:buFont typeface="Arial" panose="020B0604020202020204" pitchFamily="34" charset="0"/>
              <a:buChar char="•"/>
            </a:pPr>
            <a:r>
              <a:rPr lang="en-ZA">
                <a:solidFill>
                  <a:schemeClr val="tx1"/>
                </a:solidFill>
              </a:rPr>
              <a:t>Ethical conflict</a:t>
            </a:r>
          </a:p>
          <a:p>
            <a:pPr algn="ctr"/>
            <a:r>
              <a:rPr lang="en-ZA" b="1">
                <a:solidFill>
                  <a:schemeClr val="tx1"/>
                </a:solidFill>
              </a:rPr>
              <a:t>“duties, morals and intrinsic ethics”</a:t>
            </a:r>
          </a:p>
        </p:txBody>
      </p:sp>
      <p:sp>
        <p:nvSpPr>
          <p:cNvPr id="5" name="Rectangle: Rounded Corners 4">
            <a:extLst>
              <a:ext uri="{FF2B5EF4-FFF2-40B4-BE49-F238E27FC236}">
                <a16:creationId xmlns:a16="http://schemas.microsoft.com/office/drawing/2014/main" id="{6F94E295-99E3-D861-7708-9AB6BE60F599}"/>
              </a:ext>
            </a:extLst>
          </p:cNvPr>
          <p:cNvSpPr/>
          <p:nvPr/>
        </p:nvSpPr>
        <p:spPr>
          <a:xfrm>
            <a:off x="5993231" y="3301133"/>
            <a:ext cx="3326276" cy="3480052"/>
          </a:xfrm>
          <a:prstGeom prst="roundRect">
            <a:avLst/>
          </a:prstGeom>
          <a:solidFill>
            <a:srgbClr val="EA969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Institutional Virtues : Fairness, trust, respect, empathy, transparency</a:t>
            </a:r>
          </a:p>
          <a:p>
            <a:pPr marL="285750" indent="-285750">
              <a:buFont typeface="Arial" panose="020B0604020202020204" pitchFamily="34" charset="0"/>
              <a:buChar char="•"/>
            </a:pPr>
            <a:r>
              <a:rPr lang="en-ZA">
                <a:solidFill>
                  <a:schemeClr val="tx1"/>
                </a:solidFill>
              </a:rPr>
              <a:t>Bias and Discrimination Risks – AFR technologies</a:t>
            </a:r>
          </a:p>
          <a:p>
            <a:pPr marL="285750" indent="-285750">
              <a:buFont typeface="Arial" panose="020B0604020202020204" pitchFamily="34" charset="0"/>
              <a:buChar char="•"/>
            </a:pPr>
            <a:r>
              <a:rPr lang="en-ZA">
                <a:solidFill>
                  <a:schemeClr val="tx1"/>
                </a:solidFill>
              </a:rPr>
              <a:t>Lack of respect and dignity – erodes public trust</a:t>
            </a:r>
          </a:p>
          <a:p>
            <a:pPr marL="285750" indent="-285750">
              <a:buFont typeface="Arial" panose="020B0604020202020204" pitchFamily="34" charset="0"/>
              <a:buChar char="•"/>
            </a:pPr>
            <a:r>
              <a:rPr lang="en-ZA">
                <a:solidFill>
                  <a:schemeClr val="tx1"/>
                </a:solidFill>
              </a:rPr>
              <a:t>Importance of Moral Evaluation</a:t>
            </a:r>
          </a:p>
          <a:p>
            <a:pPr algn="ctr"/>
            <a:r>
              <a:rPr lang="en-ZA" b="1">
                <a:solidFill>
                  <a:schemeClr val="tx1"/>
                </a:solidFill>
              </a:rPr>
              <a:t>“character and moral virtues of actors”</a:t>
            </a:r>
          </a:p>
        </p:txBody>
      </p:sp>
      <p:sp>
        <p:nvSpPr>
          <p:cNvPr id="7" name="Rectangle: Rounded Corners 6">
            <a:extLst>
              <a:ext uri="{FF2B5EF4-FFF2-40B4-BE49-F238E27FC236}">
                <a16:creationId xmlns:a16="http://schemas.microsoft.com/office/drawing/2014/main" id="{8930101F-4F22-947D-7DAA-B2F4A25F7F86}"/>
              </a:ext>
            </a:extLst>
          </p:cNvPr>
          <p:cNvSpPr/>
          <p:nvPr/>
        </p:nvSpPr>
        <p:spPr>
          <a:xfrm>
            <a:off x="9409448" y="3318931"/>
            <a:ext cx="2782552" cy="3480052"/>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ZA">
                <a:solidFill>
                  <a:schemeClr val="tx1"/>
                </a:solidFill>
              </a:rPr>
              <a:t>Systematic disadvantages/bias aimed at certain individuals</a:t>
            </a:r>
          </a:p>
          <a:p>
            <a:pPr marL="285750" indent="-285750">
              <a:buFont typeface="Arial" panose="020B0604020202020204" pitchFamily="34" charset="0"/>
              <a:buChar char="•"/>
            </a:pPr>
            <a:r>
              <a:rPr lang="en-ZA">
                <a:solidFill>
                  <a:schemeClr val="tx1"/>
                </a:solidFill>
              </a:rPr>
              <a:t>Protection of vulnerable groups</a:t>
            </a:r>
          </a:p>
          <a:p>
            <a:r>
              <a:rPr lang="en-ZA">
                <a:solidFill>
                  <a:schemeClr val="tx1"/>
                </a:solidFill>
              </a:rPr>
              <a:t>      considering each   </a:t>
            </a:r>
          </a:p>
          <a:p>
            <a:r>
              <a:rPr lang="en-ZA">
                <a:solidFill>
                  <a:schemeClr val="tx1"/>
                </a:solidFill>
              </a:rPr>
              <a:t>      group and factors.</a:t>
            </a:r>
          </a:p>
          <a:p>
            <a:pPr marL="285750" indent="-285750">
              <a:buFont typeface="Arial" panose="020B0604020202020204" pitchFamily="34" charset="0"/>
              <a:buChar char="•"/>
            </a:pPr>
            <a:r>
              <a:rPr lang="en-ZA">
                <a:solidFill>
                  <a:schemeClr val="tx1"/>
                </a:solidFill>
              </a:rPr>
              <a:t>Focus from institutions by embedding fairness</a:t>
            </a:r>
          </a:p>
          <a:p>
            <a:pPr algn="ctr"/>
            <a:r>
              <a:rPr lang="en-ZA" b="1">
                <a:solidFill>
                  <a:schemeClr val="tx1"/>
                </a:solidFill>
              </a:rPr>
              <a:t>“impartial choices”</a:t>
            </a:r>
          </a:p>
        </p:txBody>
      </p:sp>
      <p:pic>
        <p:nvPicPr>
          <p:cNvPr id="9" name="Picture 8">
            <a:extLst>
              <a:ext uri="{FF2B5EF4-FFF2-40B4-BE49-F238E27FC236}">
                <a16:creationId xmlns:a16="http://schemas.microsoft.com/office/drawing/2014/main" id="{C3F01BA3-8E56-E27F-75BA-FB524FCCA36D}"/>
              </a:ext>
            </a:extLst>
          </p:cNvPr>
          <p:cNvPicPr>
            <a:picLocks noChangeAspect="1"/>
          </p:cNvPicPr>
          <p:nvPr/>
        </p:nvPicPr>
        <p:blipFill>
          <a:blip r:embed="rId11"/>
          <a:stretch>
            <a:fillRect/>
          </a:stretch>
        </p:blipFill>
        <p:spPr>
          <a:xfrm>
            <a:off x="10296525" y="1543050"/>
            <a:ext cx="914400" cy="771525"/>
          </a:xfrm>
          <a:prstGeom prst="rect">
            <a:avLst/>
          </a:prstGeom>
        </p:spPr>
      </p:pic>
    </p:spTree>
    <p:extLst>
      <p:ext uri="{BB962C8B-B14F-4D97-AF65-F5344CB8AC3E}">
        <p14:creationId xmlns:p14="http://schemas.microsoft.com/office/powerpoint/2010/main" val="32292235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Shape 52">
          <a:extLst>
            <a:ext uri="{FF2B5EF4-FFF2-40B4-BE49-F238E27FC236}">
              <a16:creationId xmlns:a16="http://schemas.microsoft.com/office/drawing/2014/main" id="{A7649CA4-8294-3F29-2435-3252630C11D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2199692-88EF-E2BD-7BB5-F6425BA183AA}"/>
              </a:ext>
            </a:extLst>
          </p:cNvPr>
          <p:cNvSpPr/>
          <p:nvPr/>
        </p:nvSpPr>
        <p:spPr>
          <a:xfrm>
            <a:off x="338667" y="243111"/>
            <a:ext cx="3716866" cy="1179289"/>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E6577187-A7E4-88A1-2667-8695ACCC7DE3}"/>
              </a:ext>
            </a:extLst>
          </p:cNvPr>
          <p:cNvSpPr/>
          <p:nvPr/>
        </p:nvSpPr>
        <p:spPr>
          <a:xfrm>
            <a:off x="599724" y="557565"/>
            <a:ext cx="3071060" cy="61855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a:extLst>
              <a:ext uri="{FF2B5EF4-FFF2-40B4-BE49-F238E27FC236}">
                <a16:creationId xmlns:a16="http://schemas.microsoft.com/office/drawing/2014/main" id="{5F73CC3E-3632-D1D5-03AA-BCBA6F13F719}"/>
              </a:ext>
            </a:extLst>
          </p:cNvPr>
          <p:cNvSpPr txBox="1"/>
          <p:nvPr/>
        </p:nvSpPr>
        <p:spPr>
          <a:xfrm>
            <a:off x="1005218" y="479478"/>
            <a:ext cx="2147778" cy="769441"/>
          </a:xfrm>
          <a:prstGeom prst="rect">
            <a:avLst/>
          </a:prstGeom>
          <a:noFill/>
        </p:spPr>
        <p:txBody>
          <a:bodyPr wrap="square" rtlCol="0">
            <a:spAutoFit/>
          </a:bodyPr>
          <a:lstStyle/>
          <a:p>
            <a:pPr algn="ctr"/>
            <a:r>
              <a:rPr lang="en-ZA" sz="4400" b="1"/>
              <a:t>LEGAL</a:t>
            </a:r>
            <a:endParaRPr lang="en-ZA" b="1"/>
          </a:p>
        </p:txBody>
      </p:sp>
      <p:sp>
        <p:nvSpPr>
          <p:cNvPr id="9" name="TextBox 8">
            <a:extLst>
              <a:ext uri="{FF2B5EF4-FFF2-40B4-BE49-F238E27FC236}">
                <a16:creationId xmlns:a16="http://schemas.microsoft.com/office/drawing/2014/main" id="{AA747151-3AA6-0B1B-EA79-53C899C0642F}"/>
              </a:ext>
            </a:extLst>
          </p:cNvPr>
          <p:cNvSpPr txBox="1"/>
          <p:nvPr/>
        </p:nvSpPr>
        <p:spPr>
          <a:xfrm>
            <a:off x="1004470" y="3890939"/>
            <a:ext cx="2476989" cy="769441"/>
          </a:xfrm>
          <a:prstGeom prst="rect">
            <a:avLst/>
          </a:prstGeom>
          <a:noFill/>
        </p:spPr>
        <p:txBody>
          <a:bodyPr wrap="square" rtlCol="0">
            <a:spAutoFit/>
          </a:bodyPr>
          <a:lstStyle/>
          <a:p>
            <a:pPr algn="ctr"/>
            <a:r>
              <a:rPr lang="en-ZA" sz="4400" b="1"/>
              <a:t>SOCIAL</a:t>
            </a:r>
            <a:endParaRPr lang="en-ZA" b="1"/>
          </a:p>
        </p:txBody>
      </p:sp>
      <p:sp>
        <p:nvSpPr>
          <p:cNvPr id="10" name="Rectangle 9">
            <a:extLst>
              <a:ext uri="{FF2B5EF4-FFF2-40B4-BE49-F238E27FC236}">
                <a16:creationId xmlns:a16="http://schemas.microsoft.com/office/drawing/2014/main" id="{7FFA2908-DAC6-3432-F55B-5B4AE068F551}"/>
              </a:ext>
            </a:extLst>
          </p:cNvPr>
          <p:cNvSpPr/>
          <p:nvPr/>
        </p:nvSpPr>
        <p:spPr>
          <a:xfrm>
            <a:off x="661570" y="3946066"/>
            <a:ext cx="3071060" cy="61855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Rounded Corners 4">
            <a:extLst>
              <a:ext uri="{FF2B5EF4-FFF2-40B4-BE49-F238E27FC236}">
                <a16:creationId xmlns:a16="http://schemas.microsoft.com/office/drawing/2014/main" id="{3A8C9001-6A32-B9EB-081B-2EAA6B672B6B}"/>
              </a:ext>
            </a:extLst>
          </p:cNvPr>
          <p:cNvSpPr/>
          <p:nvPr/>
        </p:nvSpPr>
        <p:spPr>
          <a:xfrm>
            <a:off x="338667" y="3692066"/>
            <a:ext cx="3716866" cy="1179289"/>
          </a:xfrm>
          <a:prstGeom prst="roundRect">
            <a:avLst/>
          </a:pr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Rounded Corners 5">
            <a:extLst>
              <a:ext uri="{FF2B5EF4-FFF2-40B4-BE49-F238E27FC236}">
                <a16:creationId xmlns:a16="http://schemas.microsoft.com/office/drawing/2014/main" id="{24C6C6F0-2627-A576-749B-AFA70950898A}"/>
              </a:ext>
            </a:extLst>
          </p:cNvPr>
          <p:cNvSpPr/>
          <p:nvPr/>
        </p:nvSpPr>
        <p:spPr>
          <a:xfrm>
            <a:off x="4216398" y="243111"/>
            <a:ext cx="7848601" cy="3025023"/>
          </a:xfrm>
          <a:prstGeom prst="roundRect">
            <a:avLst/>
          </a:prstGeom>
          <a:solidFill>
            <a:srgbClr val="84E29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ZA">
                <a:solidFill>
                  <a:schemeClr val="tx1"/>
                </a:solidFill>
              </a:rPr>
              <a:t>Data collection and processing should comply with data regulations to protect individual rights.</a:t>
            </a:r>
          </a:p>
          <a:p>
            <a:pPr marL="285750" indent="-285750">
              <a:buFont typeface="Arial" panose="020B0604020202020204" pitchFamily="34" charset="0"/>
              <a:buChar char="•"/>
            </a:pPr>
            <a:r>
              <a:rPr lang="en-ZA">
                <a:solidFill>
                  <a:schemeClr val="tx1"/>
                </a:solidFill>
              </a:rPr>
              <a:t>GDPR requires biometric data to be processed with explicit consent with measure to prevent misuse - Article 32(2)</a:t>
            </a:r>
          </a:p>
          <a:p>
            <a:pPr marL="285750" indent="-285750">
              <a:buFont typeface="Arial" panose="020B0604020202020204" pitchFamily="34" charset="0"/>
              <a:buChar char="•"/>
            </a:pPr>
            <a:r>
              <a:rPr lang="en-ZA">
                <a:solidFill>
                  <a:schemeClr val="tx1"/>
                </a:solidFill>
              </a:rPr>
              <a:t>Use of alternative approaches to protect privacy - synthetic data</a:t>
            </a:r>
          </a:p>
          <a:p>
            <a:pPr marL="285750" indent="-285750">
              <a:buFont typeface="Arial" panose="020B0604020202020204" pitchFamily="34" charset="0"/>
              <a:buChar char="•"/>
            </a:pPr>
            <a:r>
              <a:rPr lang="en-ZA">
                <a:solidFill>
                  <a:schemeClr val="tx1"/>
                </a:solidFill>
              </a:rPr>
              <a:t>Non-compliance can result in sanctions or heavy penalties  - Greece</a:t>
            </a:r>
          </a:p>
          <a:p>
            <a:pPr marL="285750" indent="-285750">
              <a:buFont typeface="Arial" panose="020B0604020202020204" pitchFamily="34" charset="0"/>
              <a:buChar char="•"/>
            </a:pPr>
            <a:r>
              <a:rPr lang="en-ZA">
                <a:solidFill>
                  <a:schemeClr val="tx1"/>
                </a:solidFill>
              </a:rPr>
              <a:t>Internation transfer requires sustainable legal frameworks and global cooperation – complications with differing national laws.</a:t>
            </a:r>
          </a:p>
          <a:p>
            <a:pPr marL="285750" indent="-285750">
              <a:buFont typeface="Arial" panose="020B0604020202020204" pitchFamily="34" charset="0"/>
              <a:buChar char="•"/>
            </a:pPr>
            <a:r>
              <a:rPr lang="en-ZA">
                <a:solidFill>
                  <a:schemeClr val="tx1"/>
                </a:solidFill>
              </a:rPr>
              <a:t>Proposed EU-US border agreement risks violating EU privacy laws such as the EU-US Umbrella Agreement.</a:t>
            </a:r>
          </a:p>
        </p:txBody>
      </p:sp>
      <p:sp>
        <p:nvSpPr>
          <p:cNvPr id="12" name="Rectangle: Rounded Corners 11">
            <a:extLst>
              <a:ext uri="{FF2B5EF4-FFF2-40B4-BE49-F238E27FC236}">
                <a16:creationId xmlns:a16="http://schemas.microsoft.com/office/drawing/2014/main" id="{93D90B9B-9D64-7C43-AF73-E93FC4442103}"/>
              </a:ext>
            </a:extLst>
          </p:cNvPr>
          <p:cNvSpPr/>
          <p:nvPr/>
        </p:nvSpPr>
        <p:spPr>
          <a:xfrm>
            <a:off x="4216398" y="3589866"/>
            <a:ext cx="7848601" cy="3025023"/>
          </a:xfrm>
          <a:prstGeom prst="roundRect">
            <a:avLst/>
          </a:prstGeom>
          <a:solidFill>
            <a:srgbClr val="D1D1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ZA">
                <a:solidFill>
                  <a:schemeClr val="tx1"/>
                </a:solidFill>
              </a:rPr>
              <a:t>Biometric technologies can aid in undermining or promotion of social inclusion.</a:t>
            </a:r>
          </a:p>
          <a:p>
            <a:pPr marL="285750" indent="-285750">
              <a:buFont typeface="Arial" panose="020B0604020202020204" pitchFamily="34" charset="0"/>
              <a:buChar char="•"/>
            </a:pPr>
            <a:r>
              <a:rPr lang="en-ZA">
                <a:solidFill>
                  <a:schemeClr val="tx1"/>
                </a:solidFill>
              </a:rPr>
              <a:t>There are risks of social profiling which can reinforce social inequalities.</a:t>
            </a:r>
          </a:p>
          <a:p>
            <a:pPr marL="285750" indent="-285750">
              <a:buFont typeface="Arial" panose="020B0604020202020204" pitchFamily="34" charset="0"/>
              <a:buChar char="•"/>
            </a:pPr>
            <a:r>
              <a:rPr lang="en-ZA">
                <a:solidFill>
                  <a:schemeClr val="tx1"/>
                </a:solidFill>
              </a:rPr>
              <a:t>Sociocultural, religious ( such as ethnic or religious attire) and personal considerations (reluctance to use biometric capturing. systems) should be respected to avoid embarrassment or exclusion.</a:t>
            </a:r>
          </a:p>
          <a:p>
            <a:pPr marL="285750" indent="-285750">
              <a:buFont typeface="Arial" panose="020B0604020202020204" pitchFamily="34" charset="0"/>
              <a:buChar char="•"/>
            </a:pPr>
            <a:r>
              <a:rPr lang="en-ZA">
                <a:solidFill>
                  <a:schemeClr val="tx1"/>
                </a:solidFill>
              </a:rPr>
              <a:t>High scrutiny on vulnerable groups can result in public distrust  harming national cohesion.</a:t>
            </a:r>
          </a:p>
          <a:p>
            <a:pPr marL="285750" indent="-285750">
              <a:buFont typeface="Arial" panose="020B0604020202020204" pitchFamily="34" charset="0"/>
              <a:buChar char="•"/>
            </a:pPr>
            <a:r>
              <a:rPr lang="en-ZA">
                <a:solidFill>
                  <a:schemeClr val="tx1"/>
                </a:solidFill>
              </a:rPr>
              <a:t>Exposure of sensitive information can lead to emotional distress or financial harm.</a:t>
            </a:r>
          </a:p>
        </p:txBody>
      </p:sp>
      <p:pic>
        <p:nvPicPr>
          <p:cNvPr id="3" name="Picture 2" descr="A cartoon of a person holding a bag and a map&#10;&#10;AI-generated content may be incorrect.">
            <a:extLst>
              <a:ext uri="{FF2B5EF4-FFF2-40B4-BE49-F238E27FC236}">
                <a16:creationId xmlns:a16="http://schemas.microsoft.com/office/drawing/2014/main" id="{6FF37A27-A352-4B17-1F6D-5411E0D5B683}"/>
              </a:ext>
            </a:extLst>
          </p:cNvPr>
          <p:cNvPicPr>
            <a:picLocks noChangeAspect="1"/>
          </p:cNvPicPr>
          <p:nvPr/>
        </p:nvPicPr>
        <p:blipFill>
          <a:blip r:embed="rId3"/>
          <a:stretch>
            <a:fillRect/>
          </a:stretch>
        </p:blipFill>
        <p:spPr>
          <a:xfrm>
            <a:off x="1262063" y="5095875"/>
            <a:ext cx="1743075" cy="1495425"/>
          </a:xfrm>
          <a:prstGeom prst="rect">
            <a:avLst/>
          </a:prstGeom>
        </p:spPr>
      </p:pic>
      <p:pic>
        <p:nvPicPr>
          <p:cNvPr id="7" name="Picture 6" descr="A yellow scale with a heart and brain inside&#10;&#10;AI-generated content may be incorrect.">
            <a:extLst>
              <a:ext uri="{FF2B5EF4-FFF2-40B4-BE49-F238E27FC236}">
                <a16:creationId xmlns:a16="http://schemas.microsoft.com/office/drawing/2014/main" id="{BE0F4E7D-6465-0DA9-C080-0C739D4FD946}"/>
              </a:ext>
            </a:extLst>
          </p:cNvPr>
          <p:cNvPicPr>
            <a:picLocks noChangeAspect="1"/>
          </p:cNvPicPr>
          <p:nvPr/>
        </p:nvPicPr>
        <p:blipFill>
          <a:blip r:embed="rId4"/>
          <a:stretch>
            <a:fillRect/>
          </a:stretch>
        </p:blipFill>
        <p:spPr>
          <a:xfrm>
            <a:off x="1500188" y="1619250"/>
            <a:ext cx="1400175" cy="1428750"/>
          </a:xfrm>
          <a:prstGeom prst="rect">
            <a:avLst/>
          </a:prstGeom>
        </p:spPr>
      </p:pic>
    </p:spTree>
    <p:extLst>
      <p:ext uri="{BB962C8B-B14F-4D97-AF65-F5344CB8AC3E}">
        <p14:creationId xmlns:p14="http://schemas.microsoft.com/office/powerpoint/2010/main" val="591663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D388C192-1AA1-5FBB-2D6E-FB0D66E3BBC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A37A791-D9BC-8919-9658-9705A1F6D94E}"/>
              </a:ext>
            </a:extLst>
          </p:cNvPr>
          <p:cNvSpPr/>
          <p:nvPr/>
        </p:nvSpPr>
        <p:spPr>
          <a:xfrm>
            <a:off x="3187910" y="213772"/>
            <a:ext cx="5328009" cy="123241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28F448C7-15E4-8FB6-18C0-560E1507B262}"/>
              </a:ext>
            </a:extLst>
          </p:cNvPr>
          <p:cNvSpPr txBox="1"/>
          <p:nvPr/>
        </p:nvSpPr>
        <p:spPr>
          <a:xfrm>
            <a:off x="2846035" y="363292"/>
            <a:ext cx="619366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b="1">
                <a:solidFill>
                  <a:srgbClr val="002060"/>
                </a:solidFill>
              </a:rPr>
              <a:t> REMEDIES  </a:t>
            </a:r>
            <a:endParaRPr lang="en-US" sz="5400" err="1"/>
          </a:p>
        </p:txBody>
      </p:sp>
      <p:pic>
        <p:nvPicPr>
          <p:cNvPr id="2" name="Picture 1" descr="A light bulb with a check mark&#10;&#10;AI-generated content may be incorrect.">
            <a:extLst>
              <a:ext uri="{FF2B5EF4-FFF2-40B4-BE49-F238E27FC236}">
                <a16:creationId xmlns:a16="http://schemas.microsoft.com/office/drawing/2014/main" id="{145F67D9-630A-0477-97C9-378057A2758E}"/>
              </a:ext>
            </a:extLst>
          </p:cNvPr>
          <p:cNvPicPr>
            <a:picLocks noChangeAspect="1"/>
          </p:cNvPicPr>
          <p:nvPr/>
        </p:nvPicPr>
        <p:blipFill>
          <a:blip r:embed="rId2"/>
          <a:stretch>
            <a:fillRect/>
          </a:stretch>
        </p:blipFill>
        <p:spPr>
          <a:xfrm>
            <a:off x="8744170" y="74462"/>
            <a:ext cx="1305932" cy="1305932"/>
          </a:xfrm>
          <a:prstGeom prst="rect">
            <a:avLst/>
          </a:prstGeom>
        </p:spPr>
      </p:pic>
      <p:pic>
        <p:nvPicPr>
          <p:cNvPr id="53" name="Picture 52" descr="Handshake and text on a black background&#10;&#10;AI-generated content may be incorrect.">
            <a:extLst>
              <a:ext uri="{FF2B5EF4-FFF2-40B4-BE49-F238E27FC236}">
                <a16:creationId xmlns:a16="http://schemas.microsoft.com/office/drawing/2014/main" id="{4D7A79FA-6BF7-7652-49D9-70EBC4407099}"/>
              </a:ext>
            </a:extLst>
          </p:cNvPr>
          <p:cNvPicPr>
            <a:picLocks noChangeAspect="1"/>
          </p:cNvPicPr>
          <p:nvPr/>
        </p:nvPicPr>
        <p:blipFill>
          <a:blip r:embed="rId3"/>
          <a:stretch>
            <a:fillRect/>
          </a:stretch>
        </p:blipFill>
        <p:spPr>
          <a:xfrm>
            <a:off x="2421783" y="3591408"/>
            <a:ext cx="7555630" cy="1443051"/>
          </a:xfrm>
          <a:prstGeom prst="rect">
            <a:avLst/>
          </a:prstGeom>
        </p:spPr>
      </p:pic>
      <p:sp>
        <p:nvSpPr>
          <p:cNvPr id="57" name="TextBox 56">
            <a:extLst>
              <a:ext uri="{FF2B5EF4-FFF2-40B4-BE49-F238E27FC236}">
                <a16:creationId xmlns:a16="http://schemas.microsoft.com/office/drawing/2014/main" id="{EC44F324-17B3-8430-40DB-838667311BAB}"/>
              </a:ext>
            </a:extLst>
          </p:cNvPr>
          <p:cNvSpPr txBox="1"/>
          <p:nvPr/>
        </p:nvSpPr>
        <p:spPr>
          <a:xfrm>
            <a:off x="1952037" y="1469093"/>
            <a:ext cx="358062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Aptos"/>
              </a:rPr>
              <a:t>Context &amp; Challenge</a:t>
            </a:r>
            <a:endParaRPr lang="en-US"/>
          </a:p>
          <a:p>
            <a:pPr marL="285750" indent="-285750">
              <a:buFont typeface="Arial"/>
              <a:buChar char="•"/>
            </a:pPr>
            <a:r>
              <a:rPr lang="en-US" sz="1600">
                <a:latin typeface="Aptos"/>
                <a:cs typeface="Helvetica"/>
              </a:rPr>
              <a:t>EU uses fingerprints &amp; facial scans to improve border security this raises ethical &amp; social issues for vulnerable groups</a:t>
            </a:r>
            <a:endParaRPr lang="en-US" sz="1600">
              <a:latin typeface="Aptos"/>
            </a:endParaRPr>
          </a:p>
          <a:p>
            <a:pPr marL="285750" indent="-285750">
              <a:buFont typeface="Arial"/>
              <a:buChar char="•"/>
            </a:pPr>
            <a:endParaRPr lang="en-US" sz="1600">
              <a:latin typeface="Aptos"/>
              <a:cs typeface="Helvetica"/>
            </a:endParaRPr>
          </a:p>
          <a:p>
            <a:pPr marL="285750" indent="-285750">
              <a:buFont typeface="Arial"/>
              <a:buChar char="•"/>
            </a:pPr>
            <a:r>
              <a:rPr lang="en-US" sz="1600">
                <a:latin typeface="Aptos"/>
                <a:cs typeface="Helvetica"/>
              </a:rPr>
              <a:t>Key risks are unclear rules, lack of consent, technical mistakes</a:t>
            </a:r>
          </a:p>
          <a:p>
            <a:pPr marL="285750" indent="-285750">
              <a:buFont typeface="Arial"/>
              <a:buChar char="•"/>
            </a:pPr>
            <a:endParaRPr lang="en-US" sz="1200">
              <a:latin typeface="Aptos"/>
              <a:cs typeface="Helvetica"/>
            </a:endParaRPr>
          </a:p>
          <a:p>
            <a:pPr marL="285750" indent="-285750">
              <a:buFont typeface="Arial"/>
              <a:buChar char="•"/>
            </a:pPr>
            <a:endParaRPr lang="en-US"/>
          </a:p>
        </p:txBody>
      </p:sp>
      <p:pic>
        <p:nvPicPr>
          <p:cNvPr id="58" name="Picture 57" descr="A person sitting in front of a fingerprint scan&#10;&#10;AI-generated content may be incorrect.">
            <a:extLst>
              <a:ext uri="{FF2B5EF4-FFF2-40B4-BE49-F238E27FC236}">
                <a16:creationId xmlns:a16="http://schemas.microsoft.com/office/drawing/2014/main" id="{4F10E6DD-E28C-2E29-09C5-0AC21F549304}"/>
              </a:ext>
            </a:extLst>
          </p:cNvPr>
          <p:cNvPicPr>
            <a:picLocks noChangeAspect="1"/>
          </p:cNvPicPr>
          <p:nvPr/>
        </p:nvPicPr>
        <p:blipFill>
          <a:blip r:embed="rId4"/>
          <a:stretch>
            <a:fillRect/>
          </a:stretch>
        </p:blipFill>
        <p:spPr>
          <a:xfrm>
            <a:off x="946615" y="278195"/>
            <a:ext cx="2162370" cy="1109177"/>
          </a:xfrm>
          <a:prstGeom prst="rect">
            <a:avLst/>
          </a:prstGeom>
        </p:spPr>
      </p:pic>
      <p:cxnSp>
        <p:nvCxnSpPr>
          <p:cNvPr id="59" name="Straight Arrow Connector 58">
            <a:extLst>
              <a:ext uri="{FF2B5EF4-FFF2-40B4-BE49-F238E27FC236}">
                <a16:creationId xmlns:a16="http://schemas.microsoft.com/office/drawing/2014/main" id="{642711FA-EBA8-28DC-FF54-ADFBA4CC098B}"/>
              </a:ext>
            </a:extLst>
          </p:cNvPr>
          <p:cNvCxnSpPr/>
          <p:nvPr/>
        </p:nvCxnSpPr>
        <p:spPr>
          <a:xfrm flipH="1">
            <a:off x="5572309" y="1523571"/>
            <a:ext cx="983" cy="2123433"/>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45DB006E-6FA6-F673-0986-3F3B3519CA73}"/>
              </a:ext>
            </a:extLst>
          </p:cNvPr>
          <p:cNvSpPr txBox="1"/>
          <p:nvPr/>
        </p:nvSpPr>
        <p:spPr>
          <a:xfrm>
            <a:off x="5626412" y="1465294"/>
            <a:ext cx="631759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ea typeface="+mn-lt"/>
                <a:cs typeface="+mn-lt"/>
              </a:rPr>
              <a:t>Principles for Ethical Governance</a:t>
            </a:r>
            <a:endParaRPr lang="en-US" sz="2000" b="1"/>
          </a:p>
          <a:p>
            <a:pPr marL="285750" indent="-285750">
              <a:buFont typeface="Arial"/>
              <a:buChar char="•"/>
            </a:pPr>
            <a:r>
              <a:rPr lang="en-US" sz="1600">
                <a:latin typeface="Aptos"/>
                <a:cs typeface="Helvetica"/>
              </a:rPr>
              <a:t>Strong Leadership &amp; Accountability: Dedicated teams oversee data handling from start to finish</a:t>
            </a:r>
          </a:p>
          <a:p>
            <a:pPr marL="285750" indent="-285750">
              <a:buFont typeface="Arial"/>
              <a:buChar char="•"/>
            </a:pPr>
            <a:endParaRPr lang="en-US" sz="1600">
              <a:latin typeface="Aptos"/>
              <a:cs typeface="Helvetica"/>
            </a:endParaRPr>
          </a:p>
          <a:p>
            <a:pPr marL="285750" indent="-285750">
              <a:buFont typeface="Arial"/>
              <a:buChar char="•"/>
            </a:pPr>
            <a:r>
              <a:rPr lang="en-US" sz="1600">
                <a:latin typeface="Aptos"/>
                <a:cs typeface="Helvetica"/>
              </a:rPr>
              <a:t>Stakeholder Input: EDPS, EU-LISA, NGOs, UNHCR, migrant groups</a:t>
            </a:r>
            <a:endParaRPr lang="en-US" sz="1600">
              <a:latin typeface="Aptos"/>
            </a:endParaRPr>
          </a:p>
          <a:p>
            <a:pPr marL="285750" indent="-285750">
              <a:buFont typeface="Arial"/>
              <a:buChar char="•"/>
            </a:pPr>
            <a:endParaRPr lang="en-US" sz="1600">
              <a:latin typeface="Aptos"/>
              <a:cs typeface="Helvetica"/>
            </a:endParaRPr>
          </a:p>
          <a:p>
            <a:pPr marL="285750" indent="-285750">
              <a:buFont typeface="Arial"/>
              <a:buChar char="•"/>
            </a:pPr>
            <a:r>
              <a:rPr lang="en-US" sz="1600">
                <a:latin typeface="Aptos"/>
                <a:cs typeface="Helvetica"/>
              </a:rPr>
              <a:t>Regular Privacy &amp; Ethics Reviews: Ensure ongoing compliance &amp; risk mitigation</a:t>
            </a:r>
          </a:p>
          <a:p>
            <a:pPr marL="285750" indent="-285750">
              <a:buFont typeface="Arial"/>
              <a:buChar char="•"/>
            </a:pPr>
            <a:endParaRPr lang="en-US" sz="1200">
              <a:latin typeface="Aptos"/>
              <a:cs typeface="Helvetica"/>
            </a:endParaRPr>
          </a:p>
        </p:txBody>
      </p:sp>
      <p:cxnSp>
        <p:nvCxnSpPr>
          <p:cNvPr id="61" name="Straight Arrow Connector 60">
            <a:extLst>
              <a:ext uri="{FF2B5EF4-FFF2-40B4-BE49-F238E27FC236}">
                <a16:creationId xmlns:a16="http://schemas.microsoft.com/office/drawing/2014/main" id="{4D4CB6CF-2192-6081-10B0-FD804B05225C}"/>
              </a:ext>
            </a:extLst>
          </p:cNvPr>
          <p:cNvCxnSpPr>
            <a:cxnSpLocks/>
          </p:cNvCxnSpPr>
          <p:nvPr/>
        </p:nvCxnSpPr>
        <p:spPr>
          <a:xfrm>
            <a:off x="1829293" y="3643017"/>
            <a:ext cx="8037062" cy="3939"/>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D67BA36C-2C1F-A077-4FF8-91B1A30A5729}"/>
              </a:ext>
            </a:extLst>
          </p:cNvPr>
          <p:cNvSpPr txBox="1"/>
          <p:nvPr/>
        </p:nvSpPr>
        <p:spPr>
          <a:xfrm>
            <a:off x="391014" y="4862012"/>
            <a:ext cx="386554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latin typeface="Aptos"/>
                <a:cs typeface="Helvetica"/>
              </a:rPr>
              <a:t>Clear Consent: Migrants understand data collection &amp; usage</a:t>
            </a:r>
          </a:p>
          <a:p>
            <a:pPr marL="285750" indent="-285750">
              <a:buFont typeface="Arial"/>
              <a:buChar char="•"/>
            </a:pPr>
            <a:endParaRPr lang="en-US" sz="700">
              <a:latin typeface="Aptos"/>
              <a:cs typeface="Helvetica"/>
            </a:endParaRPr>
          </a:p>
          <a:p>
            <a:pPr marL="285750" indent="-285750">
              <a:buFont typeface="Arial"/>
              <a:buChar char="•"/>
            </a:pPr>
            <a:r>
              <a:rPr lang="en-US" sz="1400">
                <a:latin typeface="Aptos"/>
                <a:cs typeface="Helvetica"/>
              </a:rPr>
              <a:t>Data Minimization: Collect only necessary info &amp; encrypt/anonymize</a:t>
            </a:r>
          </a:p>
          <a:p>
            <a:pPr marL="285750" indent="-285750">
              <a:buFont typeface="Arial"/>
              <a:buChar char="•"/>
            </a:pPr>
            <a:endParaRPr lang="en-US" sz="1050">
              <a:latin typeface="Aptos"/>
              <a:cs typeface="Helvetica"/>
            </a:endParaRPr>
          </a:p>
          <a:p>
            <a:pPr marL="285750" indent="-285750">
              <a:buFont typeface="Arial"/>
              <a:buChar char="•"/>
            </a:pPr>
            <a:r>
              <a:rPr lang="en-US" sz="1400">
                <a:latin typeface="Aptos"/>
                <a:cs typeface="Helvetica"/>
              </a:rPr>
              <a:t>No Discrimination: </a:t>
            </a:r>
            <a:r>
              <a:rPr lang="en-US" sz="1400">
                <a:latin typeface="Aptos"/>
                <a:ea typeface="+mn-lt"/>
                <a:cs typeface="Helvetica"/>
              </a:rPr>
              <a:t>Rawls’ philosophy ensures fairness by testing of AI models and the use of diverse datasets for training</a:t>
            </a:r>
          </a:p>
        </p:txBody>
      </p:sp>
      <p:sp>
        <p:nvSpPr>
          <p:cNvPr id="63" name="TextBox 62">
            <a:extLst>
              <a:ext uri="{FF2B5EF4-FFF2-40B4-BE49-F238E27FC236}">
                <a16:creationId xmlns:a16="http://schemas.microsoft.com/office/drawing/2014/main" id="{963823E9-A8D5-E1B1-C9EB-FF996E5D638C}"/>
              </a:ext>
            </a:extLst>
          </p:cNvPr>
          <p:cNvSpPr txBox="1"/>
          <p:nvPr/>
        </p:nvSpPr>
        <p:spPr>
          <a:xfrm>
            <a:off x="4346915" y="4862013"/>
            <a:ext cx="369913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latin typeface="Aptos"/>
                <a:cs typeface="Helvetica"/>
              </a:rPr>
              <a:t>Transparency &amp; Accountability: Public reports, easy access to correction/deletion of data</a:t>
            </a:r>
          </a:p>
          <a:p>
            <a:pPr marL="285750" indent="-285750">
              <a:buFont typeface="Arial"/>
              <a:buChar char="•"/>
            </a:pPr>
            <a:endParaRPr lang="en-US" sz="600" dirty="0">
              <a:latin typeface="Aptos"/>
              <a:cs typeface="Helvetica"/>
            </a:endParaRPr>
          </a:p>
          <a:p>
            <a:pPr marL="285750" indent="-285750">
              <a:buFont typeface="Arial"/>
              <a:buChar char="•"/>
            </a:pPr>
            <a:r>
              <a:rPr lang="en-US" sz="1400" dirty="0">
                <a:latin typeface="Aptos"/>
                <a:cs typeface="Helvetica"/>
              </a:rPr>
              <a:t>Staff Training &amp; Technical </a:t>
            </a:r>
            <a:r>
              <a:rPr lang="en-US" sz="1400" err="1">
                <a:latin typeface="Aptos"/>
                <a:cs typeface="Helvetica"/>
              </a:rPr>
              <a:t>safety</a:t>
            </a:r>
            <a:r>
              <a:rPr lang="en-US" sz="1400">
                <a:latin typeface="Aptos"/>
                <a:cs typeface="Helvetica"/>
              </a:rPr>
              <a:t>: Encryption </a:t>
            </a:r>
            <a:r>
              <a:rPr lang="en-US" sz="1400" dirty="0">
                <a:latin typeface="Aptos"/>
                <a:cs typeface="Helvetica"/>
              </a:rPr>
              <a:t>and strict access control </a:t>
            </a:r>
            <a:r>
              <a:rPr lang="en-US" sz="1400" dirty="0" err="1">
                <a:latin typeface="Aptos"/>
                <a:cs typeface="Helvetica"/>
              </a:rPr>
              <a:t>sreduce</a:t>
            </a:r>
            <a:r>
              <a:rPr lang="en-US" sz="1400" dirty="0">
                <a:latin typeface="Aptos"/>
                <a:cs typeface="Helvetica"/>
              </a:rPr>
              <a:t> risks</a:t>
            </a:r>
          </a:p>
          <a:p>
            <a:pPr marL="285750" indent="-285750">
              <a:buFont typeface="Arial"/>
              <a:buChar char="•"/>
            </a:pPr>
            <a:endParaRPr lang="en-US" sz="600" dirty="0">
              <a:latin typeface="Aptos"/>
              <a:cs typeface="Helvetica"/>
            </a:endParaRPr>
          </a:p>
          <a:p>
            <a:pPr marL="285750" indent="-285750">
              <a:buFont typeface="Arial"/>
              <a:buChar char="•"/>
            </a:pPr>
            <a:r>
              <a:rPr lang="en-US" sz="1400" dirty="0">
                <a:latin typeface="Aptos"/>
                <a:cs typeface="Helvetica"/>
              </a:rPr>
              <a:t>Incident Response &amp; Audit: Early detection  of risk and external audits</a:t>
            </a:r>
          </a:p>
          <a:p>
            <a:pPr marL="285750" indent="-285750">
              <a:buFont typeface="Arial"/>
              <a:buChar char="•"/>
            </a:pPr>
            <a:endParaRPr lang="en-US" sz="1400" dirty="0">
              <a:latin typeface="Aptos"/>
              <a:cs typeface="Helvetica"/>
            </a:endParaRPr>
          </a:p>
        </p:txBody>
      </p:sp>
      <p:sp>
        <p:nvSpPr>
          <p:cNvPr id="64" name="TextBox 63">
            <a:extLst>
              <a:ext uri="{FF2B5EF4-FFF2-40B4-BE49-F238E27FC236}">
                <a16:creationId xmlns:a16="http://schemas.microsoft.com/office/drawing/2014/main" id="{8DE5106D-6542-6E0B-BCCB-950C6BCE3497}"/>
              </a:ext>
            </a:extLst>
          </p:cNvPr>
          <p:cNvSpPr txBox="1"/>
          <p:nvPr/>
        </p:nvSpPr>
        <p:spPr>
          <a:xfrm>
            <a:off x="8000109" y="4862012"/>
            <a:ext cx="4292215"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latin typeface="Aptos"/>
                <a:cs typeface="Helvetica"/>
              </a:rPr>
              <a:t>Reduces inequality (SDG 10): </a:t>
            </a:r>
            <a:r>
              <a:rPr lang="en-US" sz="1400">
                <a:latin typeface="Aptos"/>
                <a:ea typeface="+mn-lt"/>
                <a:cs typeface="Helvetica"/>
              </a:rPr>
              <a:t>Promotes fair treatment of migrants and refugees</a:t>
            </a:r>
          </a:p>
          <a:p>
            <a:pPr marL="285750" indent="-285750">
              <a:buFont typeface="Arial"/>
              <a:buChar char="•"/>
            </a:pPr>
            <a:endParaRPr lang="en-US" sz="600">
              <a:latin typeface="Aptos"/>
              <a:cs typeface="Helvetica"/>
            </a:endParaRPr>
          </a:p>
          <a:p>
            <a:pPr marL="285750" indent="-285750">
              <a:buFont typeface="Arial"/>
              <a:buChar char="•"/>
            </a:pPr>
            <a:r>
              <a:rPr lang="en-US" sz="1400">
                <a:latin typeface="Aptos"/>
                <a:cs typeface="Helvetica"/>
              </a:rPr>
              <a:t>Builds fair, trustworthy institutions (SDG 16): </a:t>
            </a:r>
            <a:r>
              <a:rPr lang="en-US" sz="1400">
                <a:latin typeface="Aptos"/>
                <a:ea typeface="+mn-lt"/>
                <a:cs typeface="Helvetica"/>
              </a:rPr>
              <a:t>Builds trustworthy digital institutions through transparent and accountable data handling</a:t>
            </a:r>
            <a:endParaRPr lang="en-US" sz="1400">
              <a:latin typeface="Aptos"/>
              <a:cs typeface="Helvetica"/>
            </a:endParaRPr>
          </a:p>
          <a:p>
            <a:pPr marL="285750" indent="-285750">
              <a:buFont typeface="Arial"/>
              <a:buChar char="•"/>
            </a:pPr>
            <a:endParaRPr lang="en-US" sz="600">
              <a:latin typeface="Aptos"/>
              <a:cs typeface="Helvetica"/>
            </a:endParaRPr>
          </a:p>
          <a:p>
            <a:pPr marL="285750" indent="-285750">
              <a:buFont typeface="Arial"/>
              <a:buChar char="•"/>
            </a:pPr>
            <a:r>
              <a:rPr lang="en-US" sz="1400">
                <a:latin typeface="Aptos"/>
                <a:ea typeface="+mn-lt"/>
                <a:cs typeface="Helvetica"/>
              </a:rPr>
              <a:t>Contributes to social cohesion by promoting fairness and accountability.</a:t>
            </a:r>
            <a:endParaRPr lang="en-US" sz="1400">
              <a:latin typeface="Aptos"/>
              <a:cs typeface="Helvetica"/>
            </a:endParaRPr>
          </a:p>
          <a:p>
            <a:pPr marL="285750" indent="-285750">
              <a:buFont typeface="Arial"/>
              <a:buChar char="•"/>
            </a:pPr>
            <a:endParaRPr lang="en-US" sz="1400">
              <a:latin typeface="Aptos"/>
              <a:cs typeface="Helvetica"/>
            </a:endParaRPr>
          </a:p>
        </p:txBody>
      </p:sp>
    </p:spTree>
    <p:extLst>
      <p:ext uri="{BB962C8B-B14F-4D97-AF65-F5344CB8AC3E}">
        <p14:creationId xmlns:p14="http://schemas.microsoft.com/office/powerpoint/2010/main" val="1872299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899AD84A-B193-CB27-E697-9807F812EA7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D715E39-1C88-B6D6-0668-B1DD35E2AF7F}"/>
              </a:ext>
            </a:extLst>
          </p:cNvPr>
          <p:cNvSpPr/>
          <p:nvPr/>
        </p:nvSpPr>
        <p:spPr>
          <a:xfrm>
            <a:off x="3187910" y="213772"/>
            <a:ext cx="5328009" cy="123241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B8335474-58AB-0561-2F59-D4D912548AB7}"/>
              </a:ext>
            </a:extLst>
          </p:cNvPr>
          <p:cNvSpPr txBox="1"/>
          <p:nvPr/>
        </p:nvSpPr>
        <p:spPr>
          <a:xfrm>
            <a:off x="2846035" y="363292"/>
            <a:ext cx="619366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b="1">
                <a:solidFill>
                  <a:srgbClr val="002060"/>
                </a:solidFill>
              </a:rPr>
              <a:t> CONCLUSION  </a:t>
            </a:r>
            <a:endParaRPr lang="en-US" sz="5400" err="1"/>
          </a:p>
        </p:txBody>
      </p:sp>
      <p:sp>
        <p:nvSpPr>
          <p:cNvPr id="4" name="TextBox 3">
            <a:extLst>
              <a:ext uri="{FF2B5EF4-FFF2-40B4-BE49-F238E27FC236}">
                <a16:creationId xmlns:a16="http://schemas.microsoft.com/office/drawing/2014/main" id="{B980B054-7E68-29C4-E5A4-DABD0D0EAF63}"/>
              </a:ext>
            </a:extLst>
          </p:cNvPr>
          <p:cNvSpPr txBox="1"/>
          <p:nvPr/>
        </p:nvSpPr>
        <p:spPr>
          <a:xfrm>
            <a:off x="708462" y="1717784"/>
            <a:ext cx="11059838"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The EU has strong data protection frameworks like the </a:t>
            </a:r>
            <a:r>
              <a:rPr lang="en-US" b="1">
                <a:ea typeface="+mn-lt"/>
                <a:cs typeface="+mn-lt"/>
              </a:rPr>
              <a:t>GDPR</a:t>
            </a:r>
            <a:r>
              <a:rPr lang="en-US">
                <a:ea typeface="+mn-lt"/>
                <a:cs typeface="+mn-lt"/>
              </a:rPr>
              <a:t>, </a:t>
            </a:r>
            <a:r>
              <a:rPr lang="en-US" b="1">
                <a:ea typeface="+mn-lt"/>
                <a:cs typeface="+mn-lt"/>
              </a:rPr>
              <a:t>EU Charter of Fundamental Rights</a:t>
            </a:r>
            <a:r>
              <a:rPr lang="en-US">
                <a:ea typeface="+mn-lt"/>
                <a:cs typeface="+mn-lt"/>
              </a:rPr>
              <a:t>, and </a:t>
            </a:r>
            <a:r>
              <a:rPr lang="en-US" b="1">
                <a:ea typeface="+mn-lt"/>
                <a:cs typeface="+mn-lt"/>
              </a:rPr>
              <a:t>AI Act</a:t>
            </a:r>
            <a:r>
              <a:rPr lang="en-US">
                <a:ea typeface="+mn-lt"/>
                <a:cs typeface="+mn-lt"/>
              </a:rPr>
              <a:t>, but major gaps remain in migration data governance.</a:t>
            </a:r>
            <a:endParaRPr lang="en-US"/>
          </a:p>
          <a:p>
            <a:endParaRPr lang="en-US">
              <a:ea typeface="+mn-lt"/>
              <a:cs typeface="+mn-lt"/>
            </a:endParaRPr>
          </a:p>
          <a:p>
            <a:pPr marL="285750" indent="-285750">
              <a:buFont typeface="Arial"/>
              <a:buChar char="•"/>
            </a:pPr>
            <a:r>
              <a:rPr lang="en-US">
                <a:ea typeface="+mn-lt"/>
                <a:cs typeface="+mn-lt"/>
              </a:rPr>
              <a:t>Biometric and personal data are widely collected yet often mismanaged, leading to privacy risks and ethical concerns.</a:t>
            </a:r>
            <a:endParaRPr lang="en-US"/>
          </a:p>
          <a:p>
            <a:endParaRPr lang="en-US">
              <a:ea typeface="+mn-lt"/>
              <a:cs typeface="+mn-lt"/>
            </a:endParaRPr>
          </a:p>
          <a:p>
            <a:pPr marL="285750" indent="-285750">
              <a:buFont typeface="Arial"/>
              <a:buChar char="•"/>
            </a:pPr>
            <a:r>
              <a:rPr lang="en-US">
                <a:ea typeface="+mn-lt"/>
                <a:cs typeface="+mn-lt"/>
              </a:rPr>
              <a:t>Key issues include </a:t>
            </a:r>
            <a:r>
              <a:rPr lang="en-US" b="1">
                <a:ea typeface="+mn-lt"/>
                <a:cs typeface="+mn-lt"/>
              </a:rPr>
              <a:t>weak enforcement</a:t>
            </a:r>
            <a:r>
              <a:rPr lang="en-US">
                <a:ea typeface="+mn-lt"/>
                <a:cs typeface="+mn-lt"/>
              </a:rPr>
              <a:t>, </a:t>
            </a:r>
            <a:r>
              <a:rPr lang="en-US" b="1">
                <a:ea typeface="+mn-lt"/>
                <a:cs typeface="+mn-lt"/>
              </a:rPr>
              <a:t>fragmented accountability</a:t>
            </a:r>
            <a:r>
              <a:rPr lang="en-US">
                <a:ea typeface="+mn-lt"/>
                <a:cs typeface="+mn-lt"/>
              </a:rPr>
              <a:t>, and </a:t>
            </a:r>
            <a:r>
              <a:rPr lang="en-US" b="1">
                <a:ea typeface="+mn-lt"/>
                <a:cs typeface="+mn-lt"/>
              </a:rPr>
              <a:t>poor ethical oversight</a:t>
            </a:r>
            <a:r>
              <a:rPr lang="en-US">
                <a:ea typeface="+mn-lt"/>
                <a:cs typeface="+mn-lt"/>
              </a:rPr>
              <a:t>.</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To achieve </a:t>
            </a:r>
            <a:r>
              <a:rPr lang="en-US" b="1">
                <a:ea typeface="+mn-lt"/>
                <a:cs typeface="+mn-lt"/>
              </a:rPr>
              <a:t>SDG 10 (Reduced Inequalities)</a:t>
            </a:r>
            <a:r>
              <a:rPr lang="en-US">
                <a:ea typeface="+mn-lt"/>
                <a:cs typeface="+mn-lt"/>
              </a:rPr>
              <a:t> and </a:t>
            </a:r>
            <a:r>
              <a:rPr lang="en-US" b="1">
                <a:ea typeface="+mn-lt"/>
                <a:cs typeface="+mn-lt"/>
              </a:rPr>
              <a:t>SDG 16 (Peace, Justice, and Strong Institutions)</a:t>
            </a:r>
            <a:r>
              <a:rPr lang="en-US">
                <a:ea typeface="+mn-lt"/>
                <a:cs typeface="+mn-lt"/>
              </a:rPr>
              <a:t>, governance must become </a:t>
            </a:r>
            <a:r>
              <a:rPr lang="en-US" b="1">
                <a:ea typeface="+mn-lt"/>
                <a:cs typeface="+mn-lt"/>
              </a:rPr>
              <a:t>ethical, transparent, and rights-based</a:t>
            </a:r>
            <a:r>
              <a:rPr lang="en-US">
                <a:ea typeface="+mn-lt"/>
                <a:cs typeface="+mn-lt"/>
              </a:rPr>
              <a:t>.</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Regular audits, training programs, and stakeholder participation can build accountability and trust.</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Migration systems must be guided by ethical integrity, social responsibility, and human rights, ensuring equality, transparency, and sustainable development.</a:t>
            </a:r>
            <a:endParaRPr lang="en-US"/>
          </a:p>
          <a:p>
            <a:endParaRPr lang="en-US">
              <a:ea typeface="+mn-lt"/>
              <a:cs typeface="+mn-lt"/>
            </a:endParaRPr>
          </a:p>
          <a:p>
            <a:pPr>
              <a:buFont typeface="Arial"/>
              <a:buChar char="•"/>
            </a:pPr>
            <a:endParaRPr lang="en-US"/>
          </a:p>
          <a:p>
            <a:endParaRPr lang="en-US"/>
          </a:p>
        </p:txBody>
      </p:sp>
      <p:pic>
        <p:nvPicPr>
          <p:cNvPr id="2" name="Picture 1">
            <a:extLst>
              <a:ext uri="{FF2B5EF4-FFF2-40B4-BE49-F238E27FC236}">
                <a16:creationId xmlns:a16="http://schemas.microsoft.com/office/drawing/2014/main" id="{42DFFCD2-30F1-9EFF-2AC3-020BEEF1DB71}"/>
              </a:ext>
            </a:extLst>
          </p:cNvPr>
          <p:cNvPicPr>
            <a:picLocks noChangeAspect="1"/>
          </p:cNvPicPr>
          <p:nvPr/>
        </p:nvPicPr>
        <p:blipFill>
          <a:blip r:embed="rId2"/>
          <a:stretch>
            <a:fillRect/>
          </a:stretch>
        </p:blipFill>
        <p:spPr>
          <a:xfrm>
            <a:off x="8692765" y="214002"/>
            <a:ext cx="1213235" cy="1318164"/>
          </a:xfrm>
          <a:prstGeom prst="rect">
            <a:avLst/>
          </a:prstGeom>
        </p:spPr>
      </p:pic>
    </p:spTree>
    <p:extLst>
      <p:ext uri="{BB962C8B-B14F-4D97-AF65-F5344CB8AC3E}">
        <p14:creationId xmlns:p14="http://schemas.microsoft.com/office/powerpoint/2010/main" val="1832255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1C94F18-90FF-D4B5-C29C-A9028372F15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2C67C32-ED6C-B819-23C3-44F6E72F90AD}"/>
              </a:ext>
            </a:extLst>
          </p:cNvPr>
          <p:cNvSpPr/>
          <p:nvPr/>
        </p:nvSpPr>
        <p:spPr>
          <a:xfrm>
            <a:off x="2949785" y="213772"/>
            <a:ext cx="6766284" cy="123241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BD2EE5BD-50FA-EBD8-1FD6-338BC69EBAFC}"/>
              </a:ext>
            </a:extLst>
          </p:cNvPr>
          <p:cNvSpPr txBox="1"/>
          <p:nvPr/>
        </p:nvSpPr>
        <p:spPr>
          <a:xfrm>
            <a:off x="2331685" y="372817"/>
            <a:ext cx="800341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b="1">
                <a:solidFill>
                  <a:srgbClr val="002060"/>
                </a:solidFill>
              </a:rPr>
              <a:t> MOVING FORWARD  </a:t>
            </a:r>
            <a:endParaRPr lang="en-US" sz="5400" err="1"/>
          </a:p>
        </p:txBody>
      </p:sp>
      <p:sp>
        <p:nvSpPr>
          <p:cNvPr id="4" name="TextBox 3">
            <a:extLst>
              <a:ext uri="{FF2B5EF4-FFF2-40B4-BE49-F238E27FC236}">
                <a16:creationId xmlns:a16="http://schemas.microsoft.com/office/drawing/2014/main" id="{DCFCE183-2320-3014-DF8A-745FC51B5809}"/>
              </a:ext>
            </a:extLst>
          </p:cNvPr>
          <p:cNvSpPr txBox="1"/>
          <p:nvPr/>
        </p:nvSpPr>
        <p:spPr>
          <a:xfrm>
            <a:off x="708462" y="1717784"/>
            <a:ext cx="1105983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a:ea typeface="+mn-lt"/>
              <a:cs typeface="+mn-lt"/>
            </a:endParaRPr>
          </a:p>
          <a:p>
            <a:pPr>
              <a:buFont typeface="Arial"/>
              <a:buChar char="•"/>
            </a:pPr>
            <a:endParaRPr lang="en-US"/>
          </a:p>
          <a:p>
            <a:endParaRPr lang="en-US"/>
          </a:p>
        </p:txBody>
      </p:sp>
      <p:sp>
        <p:nvSpPr>
          <p:cNvPr id="6" name="TextBox 5">
            <a:extLst>
              <a:ext uri="{FF2B5EF4-FFF2-40B4-BE49-F238E27FC236}">
                <a16:creationId xmlns:a16="http://schemas.microsoft.com/office/drawing/2014/main" id="{1713F794-2CCB-D168-5B00-BDDED7B6C430}"/>
              </a:ext>
            </a:extLst>
          </p:cNvPr>
          <p:cNvSpPr txBox="1"/>
          <p:nvPr/>
        </p:nvSpPr>
        <p:spPr>
          <a:xfrm>
            <a:off x="2152650" y="1809750"/>
            <a:ext cx="8362950" cy="4392692"/>
          </a:xfrm>
          <a:prstGeom prst="roundRect">
            <a:avLst/>
          </a:prstGeom>
          <a:noFill/>
          <a:ln w="28575">
            <a:solidFill>
              <a:srgbClr val="00206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rtl="0">
              <a:buFont typeface="Arial,Sans-Serif"/>
              <a:buChar char="•"/>
            </a:pPr>
            <a:r>
              <a:rPr lang="en-US" sz="1800" baseline="0">
                <a:latin typeface="Aptos"/>
                <a:ea typeface="Arial"/>
                <a:cs typeface="Arial"/>
              </a:rPr>
              <a:t>Focus on advancing ethical, legal, and technical aspects of EU migration data governance.</a:t>
            </a:r>
            <a:r>
              <a:rPr lang="en-US" sz="1800">
                <a:latin typeface="Aptos"/>
                <a:ea typeface="Arial"/>
                <a:cs typeface="Arial"/>
              </a:rPr>
              <a:t>​</a:t>
            </a:r>
          </a:p>
          <a:p>
            <a:pPr marL="228600" indent="-228600">
              <a:buFont typeface="Arial,Sans-Serif"/>
              <a:buChar char="•"/>
            </a:pPr>
            <a:endParaRPr lang="en-US">
              <a:latin typeface="Aptos"/>
              <a:ea typeface="Arial"/>
              <a:cs typeface="Arial"/>
            </a:endParaRPr>
          </a:p>
          <a:p>
            <a:pPr marL="228600" lvl="0" indent="-228600" rtl="0">
              <a:buFont typeface="Arial,Sans-Serif"/>
              <a:buChar char="•"/>
            </a:pPr>
            <a:r>
              <a:rPr lang="en-US" sz="1800" baseline="0">
                <a:latin typeface="Aptos"/>
                <a:ea typeface="Arial"/>
                <a:cs typeface="Arial"/>
              </a:rPr>
              <a:t>Integrate </a:t>
            </a:r>
            <a:r>
              <a:rPr lang="en-US" sz="1800" b="1" baseline="0">
                <a:latin typeface="Aptos"/>
                <a:ea typeface="Arial"/>
                <a:cs typeface="Arial"/>
              </a:rPr>
              <a:t>Ethical Impact Assessments (EIAs)</a:t>
            </a:r>
            <a:r>
              <a:rPr lang="en-US" sz="1800" baseline="0">
                <a:latin typeface="Aptos"/>
                <a:ea typeface="Arial"/>
                <a:cs typeface="Arial"/>
              </a:rPr>
              <a:t> with existing data protection frameworks.</a:t>
            </a:r>
            <a:r>
              <a:rPr lang="en-US" sz="1800">
                <a:latin typeface="Aptos"/>
                <a:ea typeface="Arial"/>
                <a:cs typeface="Arial"/>
              </a:rPr>
              <a:t>​</a:t>
            </a:r>
          </a:p>
          <a:p>
            <a:pPr marL="228600" indent="-228600">
              <a:buFont typeface="Arial,Sans-Serif"/>
              <a:buChar char="•"/>
            </a:pPr>
            <a:endParaRPr lang="en-US">
              <a:latin typeface="Aptos"/>
              <a:ea typeface="Arial"/>
              <a:cs typeface="Arial"/>
            </a:endParaRPr>
          </a:p>
          <a:p>
            <a:pPr marL="228600" indent="-228600">
              <a:buFont typeface="Arial,Sans-Serif"/>
              <a:buChar char="•"/>
            </a:pPr>
            <a:r>
              <a:rPr lang="en-US" sz="1800" baseline="0">
                <a:latin typeface="Aptos"/>
                <a:ea typeface="Arial"/>
                <a:cs typeface="Arial"/>
              </a:rPr>
              <a:t>Study </a:t>
            </a:r>
            <a:r>
              <a:rPr lang="en-US" sz="1800" b="1" baseline="0">
                <a:latin typeface="Aptos"/>
                <a:ea typeface="Arial"/>
                <a:cs typeface="Arial"/>
              </a:rPr>
              <a:t>cross-border legal harmonization</a:t>
            </a:r>
            <a:r>
              <a:rPr lang="en-US" sz="1800" baseline="0">
                <a:latin typeface="Aptos"/>
                <a:ea typeface="Arial"/>
                <a:cs typeface="Arial"/>
              </a:rPr>
              <a:t> to improve accountability and compliance.</a:t>
            </a:r>
            <a:r>
              <a:rPr lang="en-US" sz="1800">
                <a:latin typeface="Aptos"/>
                <a:ea typeface="Arial"/>
                <a:cs typeface="Arial"/>
              </a:rPr>
              <a:t>​</a:t>
            </a:r>
            <a:endParaRPr lang="en-US">
              <a:latin typeface="Aptos"/>
              <a:ea typeface="Arial"/>
              <a:cs typeface="Arial"/>
            </a:endParaRPr>
          </a:p>
          <a:p>
            <a:pPr marL="228600" lvl="0" indent="-228600">
              <a:buFont typeface="Arial,Sans-Serif"/>
              <a:buChar char="•"/>
            </a:pPr>
            <a:endParaRPr lang="en-US" sz="1800">
              <a:latin typeface="Aptos"/>
              <a:ea typeface="Arial"/>
              <a:cs typeface="Arial"/>
            </a:endParaRPr>
          </a:p>
          <a:p>
            <a:pPr marL="228600" lvl="0" indent="-228600" rtl="0">
              <a:buFont typeface="Arial,Sans-Serif"/>
              <a:buChar char="•"/>
            </a:pPr>
            <a:r>
              <a:rPr lang="en-US" sz="1800" baseline="0">
                <a:latin typeface="Aptos"/>
                <a:ea typeface="Arial"/>
                <a:cs typeface="Arial"/>
              </a:rPr>
              <a:t>Explore </a:t>
            </a:r>
            <a:r>
              <a:rPr lang="en-US" sz="1800" b="1" baseline="0">
                <a:latin typeface="Aptos"/>
                <a:ea typeface="Arial"/>
                <a:cs typeface="Arial"/>
              </a:rPr>
              <a:t>privacy-preserving technologies</a:t>
            </a:r>
            <a:r>
              <a:rPr lang="en-US" sz="1800" baseline="0">
                <a:latin typeface="Aptos"/>
                <a:ea typeface="Arial"/>
                <a:cs typeface="Arial"/>
              </a:rPr>
              <a:t> like encryption, anonymization, and synthetic data.</a:t>
            </a:r>
            <a:r>
              <a:rPr lang="en-US" sz="1800">
                <a:latin typeface="Aptos"/>
                <a:ea typeface="Arial"/>
                <a:cs typeface="Arial"/>
              </a:rPr>
              <a:t>​</a:t>
            </a:r>
          </a:p>
          <a:p>
            <a:pPr marL="228600" indent="-228600">
              <a:buFont typeface="Arial,Sans-Serif"/>
              <a:buChar char="•"/>
            </a:pPr>
            <a:endParaRPr lang="en-US">
              <a:latin typeface="Aptos"/>
              <a:ea typeface="Arial"/>
              <a:cs typeface="Arial"/>
            </a:endParaRPr>
          </a:p>
          <a:p>
            <a:pPr marL="228600" lvl="0" indent="-228600" rtl="0">
              <a:buFont typeface="Arial,Sans-Serif"/>
              <a:buChar char="•"/>
            </a:pPr>
            <a:r>
              <a:rPr lang="en-US" sz="1800" baseline="0">
                <a:latin typeface="Aptos"/>
                <a:ea typeface="Arial"/>
                <a:cs typeface="Arial"/>
              </a:rPr>
              <a:t>Assess the </a:t>
            </a:r>
            <a:r>
              <a:rPr lang="en-US" sz="1800" b="1" baseline="0">
                <a:latin typeface="Aptos"/>
                <a:ea typeface="Arial"/>
                <a:cs typeface="Arial"/>
              </a:rPr>
              <a:t>long-term social and institutional impacts</a:t>
            </a:r>
            <a:r>
              <a:rPr lang="en-US" sz="1800" baseline="0">
                <a:latin typeface="Aptos"/>
                <a:ea typeface="Arial"/>
                <a:cs typeface="Arial"/>
              </a:rPr>
              <a:t> on equality, justice, and public trust.</a:t>
            </a:r>
          </a:p>
        </p:txBody>
      </p:sp>
      <p:pic>
        <p:nvPicPr>
          <p:cNvPr id="8" name="Picture 7" descr="A group of people on ladders with puzzle pieces&#10;&#10;AI-generated content may be incorrect.">
            <a:extLst>
              <a:ext uri="{FF2B5EF4-FFF2-40B4-BE49-F238E27FC236}">
                <a16:creationId xmlns:a16="http://schemas.microsoft.com/office/drawing/2014/main" id="{A04EE9FC-E493-07EF-DDB6-2A6EE09513A7}"/>
              </a:ext>
            </a:extLst>
          </p:cNvPr>
          <p:cNvPicPr>
            <a:picLocks noChangeAspect="1"/>
          </p:cNvPicPr>
          <p:nvPr/>
        </p:nvPicPr>
        <p:blipFill>
          <a:blip r:embed="rId2"/>
          <a:stretch>
            <a:fillRect/>
          </a:stretch>
        </p:blipFill>
        <p:spPr>
          <a:xfrm>
            <a:off x="0" y="4814888"/>
            <a:ext cx="2143125" cy="2038350"/>
          </a:xfrm>
          <a:prstGeom prst="rect">
            <a:avLst/>
          </a:prstGeom>
        </p:spPr>
      </p:pic>
    </p:spTree>
    <p:extLst>
      <p:ext uri="{BB962C8B-B14F-4D97-AF65-F5344CB8AC3E}">
        <p14:creationId xmlns:p14="http://schemas.microsoft.com/office/powerpoint/2010/main" val="4069541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8038242E-79BA-A80E-109B-CBD835532840}"/>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FEBCCC7-7EC2-0D27-0CFC-4D1FF2E8A31C}"/>
              </a:ext>
            </a:extLst>
          </p:cNvPr>
          <p:cNvSpPr/>
          <p:nvPr/>
        </p:nvSpPr>
        <p:spPr>
          <a:xfrm>
            <a:off x="3619281" y="1398310"/>
            <a:ext cx="4798303" cy="1129539"/>
          </a:xfrm>
          <a:prstGeom prst="roundRect">
            <a:avLst/>
          </a:prstGeom>
          <a:noFill/>
          <a:ln w="28575">
            <a:solidFill>
              <a:srgbClr val="15608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FAA99A72-5CD3-F69A-86CE-EFA15E377C64}"/>
              </a:ext>
            </a:extLst>
          </p:cNvPr>
          <p:cNvSpPr txBox="1"/>
          <p:nvPr/>
        </p:nvSpPr>
        <p:spPr>
          <a:xfrm>
            <a:off x="3991166" y="1509136"/>
            <a:ext cx="387667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000" b="1">
                <a:solidFill>
                  <a:srgbClr val="002060"/>
                </a:solidFill>
              </a:rPr>
              <a:t> Thank You</a:t>
            </a:r>
            <a:endParaRPr lang="en-US"/>
          </a:p>
        </p:txBody>
      </p:sp>
      <p:pic>
        <p:nvPicPr>
          <p:cNvPr id="4" name="Picture 3" descr="A map of the world&#10;&#10;AI-generated content may be incorrect.">
            <a:extLst>
              <a:ext uri="{FF2B5EF4-FFF2-40B4-BE49-F238E27FC236}">
                <a16:creationId xmlns:a16="http://schemas.microsoft.com/office/drawing/2014/main" id="{8D0DCE82-3C7F-3974-A1AC-0FCB5DCD6FAF}"/>
              </a:ext>
            </a:extLst>
          </p:cNvPr>
          <p:cNvPicPr>
            <a:picLocks noChangeAspect="1"/>
          </p:cNvPicPr>
          <p:nvPr/>
        </p:nvPicPr>
        <p:blipFill>
          <a:blip r:embed="rId2"/>
          <a:stretch>
            <a:fillRect/>
          </a:stretch>
        </p:blipFill>
        <p:spPr>
          <a:xfrm rot="1320000">
            <a:off x="4573891" y="3333403"/>
            <a:ext cx="2752725" cy="1828800"/>
          </a:xfrm>
          <a:prstGeom prst="rect">
            <a:avLst/>
          </a:prstGeom>
        </p:spPr>
      </p:pic>
      <p:pic>
        <p:nvPicPr>
          <p:cNvPr id="2" name="Picture 1" descr="A blue circle with a map in it&#10;&#10;AI-generated content may be incorrect.">
            <a:extLst>
              <a:ext uri="{FF2B5EF4-FFF2-40B4-BE49-F238E27FC236}">
                <a16:creationId xmlns:a16="http://schemas.microsoft.com/office/drawing/2014/main" id="{B10CF9F6-6A10-68BF-109B-3FFD79B91575}"/>
              </a:ext>
            </a:extLst>
          </p:cNvPr>
          <p:cNvPicPr>
            <a:picLocks noChangeAspect="1"/>
          </p:cNvPicPr>
          <p:nvPr/>
        </p:nvPicPr>
        <p:blipFill>
          <a:blip r:embed="rId3"/>
          <a:stretch>
            <a:fillRect/>
          </a:stretch>
        </p:blipFill>
        <p:spPr>
          <a:xfrm>
            <a:off x="7572375" y="3357563"/>
            <a:ext cx="2143125" cy="1781175"/>
          </a:xfrm>
          <a:prstGeom prst="rect">
            <a:avLst/>
          </a:prstGeom>
        </p:spPr>
      </p:pic>
      <p:pic>
        <p:nvPicPr>
          <p:cNvPr id="5" name="Picture 4" descr="A circle of yellow stars&#10;&#10;AI-generated content may be incorrect.">
            <a:extLst>
              <a:ext uri="{FF2B5EF4-FFF2-40B4-BE49-F238E27FC236}">
                <a16:creationId xmlns:a16="http://schemas.microsoft.com/office/drawing/2014/main" id="{FD38DA1A-8066-A163-ED58-C4F963B30740}"/>
              </a:ext>
            </a:extLst>
          </p:cNvPr>
          <p:cNvPicPr>
            <a:picLocks noChangeAspect="1"/>
          </p:cNvPicPr>
          <p:nvPr/>
        </p:nvPicPr>
        <p:blipFill>
          <a:blip r:embed="rId4"/>
          <a:stretch>
            <a:fillRect/>
          </a:stretch>
        </p:blipFill>
        <p:spPr>
          <a:xfrm>
            <a:off x="2595563" y="3357563"/>
            <a:ext cx="1552575" cy="1543050"/>
          </a:xfrm>
          <a:prstGeom prst="rect">
            <a:avLst/>
          </a:prstGeom>
        </p:spPr>
      </p:pic>
      <p:sp>
        <p:nvSpPr>
          <p:cNvPr id="10" name="Rectangle 9">
            <a:extLst>
              <a:ext uri="{FF2B5EF4-FFF2-40B4-BE49-F238E27FC236}">
                <a16:creationId xmlns:a16="http://schemas.microsoft.com/office/drawing/2014/main" id="{DA5A8F84-D15D-43F8-FEE7-DC9175159E99}"/>
              </a:ext>
            </a:extLst>
          </p:cNvPr>
          <p:cNvSpPr/>
          <p:nvPr/>
        </p:nvSpPr>
        <p:spPr>
          <a:xfrm>
            <a:off x="0" y="0"/>
            <a:ext cx="12192000" cy="6858000"/>
          </a:xfrm>
          <a:prstGeom prst="rect">
            <a:avLst/>
          </a:prstGeom>
          <a:noFill/>
          <a:ln w="1079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753352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474</TotalTime>
  <Words>1913</Words>
  <Application>Microsoft Office PowerPoint</Application>
  <PresentationFormat>Widescreen</PresentationFormat>
  <Paragraphs>262</Paragraphs>
  <Slides>18</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맑은 고딕</vt:lpstr>
      <vt:lpstr>Aptos</vt:lpstr>
      <vt:lpstr>Aptos Display</vt:lpstr>
      <vt:lpstr>Arial</vt:lpstr>
      <vt:lpstr>Arial,Sans-Serif</vt:lpstr>
      <vt:lpstr>Inter Bold</vt:lpstr>
      <vt:lpstr>Times New Roman</vt:lpstr>
      <vt:lpstr>Wingdings</vt:lpstr>
      <vt:lpstr>Office Theme</vt:lpstr>
      <vt:lpstr>PowerPoint Presentation</vt:lpstr>
      <vt:lpstr>PowerPoint Presentation</vt:lpstr>
      <vt:lpstr>PowerPoint Presentation</vt:lpstr>
      <vt:lpstr>Regulatory Frameworks Vs Implementation Failures</vt:lpstr>
      <vt:lpstr>Strengthening Governance &amp; Sustainability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Chanlin Naicker</dc:creator>
  <cp:lastModifiedBy>ThoneLayy</cp:lastModifiedBy>
  <cp:revision>26</cp:revision>
  <dcterms:created xsi:type="dcterms:W3CDTF">2025-10-28T16:42:13Z</dcterms:created>
  <dcterms:modified xsi:type="dcterms:W3CDTF">2025-11-11T22:08:38Z</dcterms:modified>
</cp:coreProperties>
</file>